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0:45; cumulative 0:45.</a:t>
            </a:r>
          </a:p>
          <a:p>
            <a:r>
              <a:t>Opening: “I benchmarked GLM, DeepSeek, and Qwen on eight H100s. The main result is that throughput, latency, and memory capacity lead to different serving choices.”</a:t>
            </a:r>
          </a:p>
          <a:p>
            <a:r>
              <a:t>Pacing: 12 main slides = 18 minutes, followed by 2 minutes for questions. Backup slides are not part of the timed talk. Speaker notes are hidden in rendered slides; rehearse from this Markdown. If questions are outside the 20-minute slot, spend the extra two minutes on slides 5 and 9.</a:t>
            </a:r>
          </a:p>
          <a:p>
            <a:r>
              <a:t>Detailed evidence and exact paths: report.md. All runtime tables are measured; ratios/costs are calculated; proposed mechanisms are hypotheses.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1:15; cumulative 2:00.</a:t>
            </a:r>
          </a:p>
          <a:p>
            <a:r>
              <a:t>Explain scope before claiming results. These are systems measurements, not quality benchmarks. Kimi is included because task.md asks for that family; do not invent a performance ranking for it.</a:t>
            </a:r>
          </a:p>
          <a:p>
            <a:r>
              <a:t>Transition: “First, what differs inside these models?”</a:t>
            </a:r>
          </a:p>
          <a:p>
            <a:r>
              <a:t>Source: task.md; report.md sections 1–2.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2:00; cumulative 4:00.</a:t>
            </a:r>
          </a:p>
          <a:p>
            <a:r>
              <a:t>Define MoE simply: each token selects a few expert networks, but the deployment still holds the other weights. KDA and GDN are recurrent attention mechanisms; MLA means multi-head latent attention. Do not spend time expanding every acronym on screen.</a:t>
            </a:r>
          </a:p>
          <a:p>
            <a:r>
              <a:t>Sparse lookup and compressed storage are distinct: reading fewer positions does not necessarily remove stored history. Mixed layers create different memory requirements within one model.</a:t>
            </a:r>
          </a:p>
          <a:p>
            <a:r>
              <a:t>All architecture entries are configuration facts, not measured speed explanations. Qwen also has a large n-gram lookup table, discussed in backup B4.</a:t>
            </a:r>
          </a:p>
          <a:p>
            <a:r>
              <a:t>Sources: report.md section 2 and official config links there; Kimi https://huggingface.co/moonshotai/Kimi-K3/raw/main/config.json.</a:t>
            </a:r>
          </a:p>
          <a:p>
            <a:r>
              <a:t>Transition: “I held the GPU budget fixed and varied the workload.”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1:30; cumulative 5:30.</a:t>
            </a:r>
          </a:p>
          <a:p>
            <a:r>
              <a:t>Define TTFT: time to first token. TPOT: per-request average time between output tokens. Define concurrency as the client request cap, not the instantaneous server token batch.</a:t>
            </a:r>
          </a:p>
          <a:p>
            <a:r>
              <a:t>Main comparisons use MTP off. GLM/DeepSeek main use dev20051; Qwen dev20073. The DeepSeek bridge measured less than 1% difference on its batch grid, but does not prove all model/backend combinations equivalent.</a:t>
            </a:r>
          </a:p>
          <a:p>
            <a:r>
              <a:t>We have the same GPU class/count, not a documented same-physical-node comparison. Batch sample counts are 8/8/32/128; context has 16 requests. No repeat-based error bars. Keep these limitations brief here and use backup B1 for questions.</a:t>
            </a:r>
          </a:p>
          <a:p>
            <a:r>
              <a:t>Source: report.md section 1; bench.sh and arm manifests.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2:00; cumulative 7:30.</a:t>
            </a:r>
          </a:p>
          <a:p>
            <a:r>
              <a:t>Do not read every cell. Point to the consistent ordering and the diminishing gains. Increasing concurrency 64 times produces less than five times output throughput.</a:t>
            </a:r>
          </a:p>
          <a:p>
            <a:r>
              <a:t>Use the corrected Qwen base-util082 arm. Its earlier c4 number, 162.2, was superseded after the startup/cache investigation. Do not use that original number for the headline comparison.</a:t>
            </a:r>
          </a:p>
          <a:p>
            <a:r>
              <a:t>Different quantization, backends, tokenizers, and active-model sizes prevent claiming that one architecture alone caused the ranking.</a:t>
            </a:r>
          </a:p>
          <a:p>
            <a:r>
              <a:t>Source: report.md section 3; Qwen results/base-util082, GLM results/bf16kv, DeepSeek results/mtp-off-image; batch_isl16k_c*.json.</a:t>
            </a:r>
          </a:p>
          <a:p>
            <a:r>
              <a:t>Transition: “But the higher throughput has a latency price.”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1:30; cumulative 9:00.</a:t>
            </a:r>
          </a:p>
          <a:p>
            <a:r>
              <a:t>Explain the operator decision: after c8, the remaining throughput gain can cost much more token latency. This is not a universal optimal concurrency; Qwen lacks the finer sweep and we did not evaluate a production latency SLO.</a:t>
            </a:r>
          </a:p>
          <a:p>
            <a:r>
              <a:t>Do not call the shared curve shape proof of communication overhead. An operator trace and a TP/EP sweep are needed to distinguish computation, communication, and scheduling.</a:t>
            </a:r>
          </a:p>
          <a:p>
            <a:r>
              <a:t>Source: report.md section 3; GLM bf16kv and DeepSeek util085-dev20073 eight-point grids.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1:30; cumulative 10:30.</a:t>
            </a:r>
          </a:p>
          <a:p>
            <a:r>
              <a:t>Long input adds prefill work, attention/indexing work, and scheduling interactions. Output throughput is over the entire request workload, so falling tok/s does not directly measure slower decode kernels.</a:t>
            </a:r>
          </a:p>
          <a:p>
            <a:r>
              <a:t>At 260K input, recorded Qwen/GLM cache occupancy is 97.3%/89.5%, but occupancy alone proves neither a preemption nor the cause of slowdown. Qwen's pool confound makes architectural claims especially weak.</a:t>
            </a:r>
          </a:p>
          <a:p>
            <a:r>
              <a:t>Also disclose if asked: DeepSeek's 16K context anchor differs substantially from a later c8 batch point. It needs a same-session rerun and is not used here to explain a bottleneck.</a:t>
            </a:r>
          </a:p>
          <a:p>
            <a:r>
              <a:t>Source: report.md section 3; ctx_isl131072_c8.json in the named context arms.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1:30; cumulative 12:00.</a:t>
            </a:r>
          </a:p>
          <a:p>
            <a:r>
              <a:t>Same setup: 64 requests, c8, 64K shared prefix plus 2K unique suffix, 256 output. Explain the hypothesis: fill ordering and scheduling may make four prefixes faster than one, but we did not trace the cause.</a:t>
            </a:r>
          </a:p>
          <a:p>
            <a:r>
              <a:t>Prefix JSONs lack the cold-run/cache-hit fields used by batch/context tests. Never say all results have zero cache hits; prefix hits are intentional.</a:t>
            </a:r>
          </a:p>
          <a:p>
            <a:r>
              <a:t>Recurrent state can be checkpointed; it cannot simply be sliced backward to an arbitrary earlier prefix. Branching, eviction, copying, and rollback require consistent state across all layer types.</a:t>
            </a:r>
          </a:p>
          <a:p>
            <a:r>
              <a:t>Source: report.md section 4; prefix_p64k_n*.json. Further Qwen data and ratios are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1:30; cumulative 13:30.</a:t>
            </a:r>
          </a:p>
          <a:p>
            <a:r>
              <a:t>Explain speculation: draft a candidate, verify with the target, retain accepted progress. More candidates do not guarantee more useful output. At GLM c1, n1 TPOT improves from 7.06 to 5.05 ms. At c64 n5, cache occupancy reaches 99.2% and TTFT worsens substantially.</a:t>
            </a:r>
          </a:p>
          <a:p>
            <a:r>
              <a:t>At 131K, TTFT is 12.89→10.73 seconds while throughput is 47.2→45.3. The scheduling explanation is a hypothesis, not proof that drafting accelerates prefill itself.</a:t>
            </a:r>
          </a:p>
          <a:p>
            <a:r>
              <a:t>Why GLM only on screen? It supplies the strongest controls. Qwen has pool/startup confounds and DeepSeek's historical MTP pair has older instrumentation. Their results remain in report.md section 5, not hidden.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1:30; cumulative 15:00.</a:t>
            </a:r>
          </a:p>
          <a:p>
            <a:r>
              <a:t>The price is an illustrative assumption, not a current quote. Eight GPUs cost $20/hour. Divide that time cost by measured output production and normalize to one million outputs. GLM's example request costs about $0.00318 with 16K input and 256 outputs.</a:t>
            </a:r>
          </a:p>
          <a:p>
            <a:r>
              <a:t>This is not an API price or decode-only cost. Lower concurrency costs more per token but gives lower latency. Different tokenizers and response quality mean cost per token is not cost per solved task.</a:t>
            </a:r>
          </a:p>
          <a:p>
            <a:r>
              <a:t>For a serving decision, request goodput under TTFT/TPOT objectives. No fewer-GPU sweep establishes the optimal deployment.</a:t>
            </a:r>
          </a:p>
          <a:p>
            <a:r>
              <a:t>Source: report.md section 6, calculated from unrounded raw throughput.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1:30; cumulative 16:30.</a:t>
            </a:r>
          </a:p>
          <a:p>
            <a:r>
              <a:t>Connect three incidents instead of listing fixes. Bug 1: recurrent layers require per-sequence state; pinning a feasible sequence cap gets past that constraint. Bug 6: overlapping warmup creates 16,000 cache-hit tokens; remove that overlap while separately warming kernels. Bug 12: Qwen's startup records 17.07 versus 0.99 GiB activation, a different pool, and 162.2→256.8 c4 tok/s. That overturns the earlier architectural story but does not prove preemptions caused the difference.</a:t>
            </a:r>
          </a:p>
          <a:p>
            <a:r>
              <a:t>Learning guide: fix_bug.md, especially the architecture map and Bugs 1, 6, and 12. Alternative FP8 paths and remaining telemetry gaps are in backups B7–B8. Do not claim that every old guard is fully enforced.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1:30; cumulative 18:00, then 2:00 questions.</a:t>
            </a:r>
          </a:p>
          <a:p>
            <a:r>
              <a:t>Closing script: “Qwen leads the corrected short-input throughput grid, but GLM can have lower first-token latency at longer input. Speculation and lower-precision cache each involve tradeoffs. The next research step is to validate and profile these regimes, then use the evidence to improve goodput.”</a:t>
            </a:r>
          </a:p>
          <a:p>
            <a:r>
              <a:t>Do not claim a new scheduler or universal failure of existing systems. The current contribution is the measured tradeoff map and the audit discipline.</a:t>
            </a:r>
          </a:p>
          <a:p>
            <a:r>
              <a:t>Invite feedback on which workload and latency target would matter most for the lab's next experiment.</a:t>
            </a:r>
          </a:p>
          <a:p>
            <a:r>
              <a:t>Stop advancing here. Use the following backup slides only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“It is a deployment comparison under a fixed GPU budget, not an isolated architecture experiment.”</a:t>
            </a:r>
          </a:p>
          <a:p>
            <a:r>
              <a:t>No repeat-based confidence intervals. Tail percentiles from 8 requests should not be treated as stable population tails.</a:t>
            </a:r>
          </a:p>
          <a:p>
            <a:r>
              <a:t>Exact paths: report.md section 1. Do not call all models engine-matched.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 observed diminishing throughput returns and increasing latency. Those identify regimes, not the dominant kernel.”</a:t>
            </a:r>
          </a:p>
          <a:p>
            <a:r>
              <a:t>Engine estimates are partial and average over mixed prefill/decode work. Low average modeled bytes/s cannot disprove a bandwidth-bound operator. The earlier active-bytes × output-throughput / concurrency calculation is invalid for this purpose.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issue is checkpoint placement, consistent state, and memory overhead—not a mathematical impossibility of caching.”</a:t>
            </a:r>
          </a:p>
          <a:p>
            <a:r>
              <a:t>The sharing sweep did not measure actual cache-on/off speedup. The largest best/worst pattern ratio is DeepSeek 391.65/114.61 = 3.42×.</a:t>
            </a:r>
          </a:p>
          <a:p>
            <a:r>
              <a:t>Source: report.md section 4; https://docs.vllm.ai/en/latest/design/hybrid_kv_cache_manager/.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are prior tensor analyses/configuration facts, not new runtime measurements. Qwen served total 176.94B, active GEMM path 7.27B; its 51.23B lookup table is roughly 29% of the served count.</a:t>
            </a:r>
          </a:p>
          <a:p>
            <a:r>
              <a:t>Kimi: official 2.8T parameters × 0.5 bytes / 2^30 ≈ 1304 GiB before overhead. Hence architecture-only coverage, with no throughput extrapolation. Weight-only lower bounds also do not prove valid three- or five-GPU deployments for smaller models.</a:t>
            </a:r>
          </a:p>
          <a:p>
            <a:r>
              <a:t>Sources: report.md section 2; https://huggingface.co/moonshotai/Kimi-K3.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reported capacity ratio 1.805× spans the documented startup comparison, not necessarily the main baseline's later pool. Do not mix capacity sessions. MTP acceptance on synthetic prompts does not establish acceptance on real coding/reasoning text.</a:t>
            </a:r>
          </a:p>
          <a:p>
            <a:r>
              <a:t>For GLM 131K context, n1 gives TTFT −16.7% and output rate −4.2%; at 260K both degrade. Cross-model MTP limitations are in report.md section 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directly, state the evidence boundary, and name the experiment that resolves it. Avoid defending an unsupported causal story. Rehearsal priority: fair comparison, exact bottleneck, recurrent-state reuse, MTP controls, and cost formula.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fix_bug.md Bugs 2–3. Read the earliest relevant exception, not the most repeated worker error. The GPU failure followed an unsuccessful compiler-cache write. The logs do not establish every internal transition or a general CUDA behavior.</a:t>
            </a:r>
          </a:p>
          <a:p>
            <a:r>
              <a:t>Follow-up: quotas differ from volume free space; test a small real write before loading weights. Several backends resolve their own caches, including in 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fix_bug.md Bug 8; report.md section 7. The overlay bypasses a package version check and routes MoE through DeepGEMM. Do not present it as a production recipe. Compare original BF16 to alternate BF16 for the combined backend/software change; alternate BF16 to alternate FP8 for the dtype-associated effect.</a:t>
            </a:r>
          </a:p>
          <a:p>
            <a:r>
              <a:t>If asked about validity gates: fix_bug.md section 6 documents pending harness gaps. Missing scrapes may default to zero, cache contamination prints FAIL without rejecting that point in the branch, and completed&gt;0 does not ensure full completion. These were audited, not repaired during the document revision.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1554480"/>
          </a:xfrm>
          <a:prstGeom prst="rect">
            <a:avLst/>
          </a:prstGeom>
          <a:noFill/>
        </p:spPr>
        <p:txBody>
          <a:bodyPr wrap="square" lIns="0" rIns="0" tIns="0" bIns="0">
            <a:spAutoFit/>
          </a:bodyPr>
          <a:lstStyle/>
          <a:p>
            <a:pPr>
              <a:spcAft>
                <a:spcPts val="1200"/>
              </a:spcAft>
              <a:defRPr sz="3100" b="1">
                <a:solidFill>
                  <a:srgbClr val="18283B"/>
                </a:solidFill>
                <a:latin typeface="Aptos"/>
              </a:defRPr>
            </a:pPr>
            <a:r>
              <a:t>Serving frontier MoE models</a:t>
            </a:r>
          </a:p>
          <a:p>
            <a:pPr>
              <a:spcAft>
                <a:spcPts val="1200"/>
              </a:spcAft>
              <a:defRPr sz="3100" b="1">
                <a:solidFill>
                  <a:srgbClr val="18283B"/>
                </a:solidFill>
                <a:latin typeface="Aptos"/>
              </a:defRPr>
            </a:pPr>
            <a:r>
              <a:t>on 8 H100 GPUs</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Tan Ngo · 5 September 2026</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1</a:t>
            </a:r>
          </a:p>
        </p:txBody>
      </p:sp>
      <p:sp>
        <p:nvSpPr>
          <p:cNvPr id="6" name="TextBox 5"/>
          <p:cNvSpPr txBox="1"/>
          <p:nvPr/>
        </p:nvSpPr>
        <p:spPr>
          <a:xfrm>
            <a:off x="594360" y="2743200"/>
            <a:ext cx="10972800" cy="594360"/>
          </a:xfrm>
          <a:prstGeom prst="rect">
            <a:avLst/>
          </a:prstGeom>
          <a:noFill/>
        </p:spPr>
        <p:txBody>
          <a:bodyPr wrap="square" lIns="0" rIns="0" tIns="0" bIns="0">
            <a:spAutoFit/>
          </a:bodyPr>
          <a:lstStyle/>
          <a:p>
            <a:pPr>
              <a:spcAft>
                <a:spcPts val="1200"/>
              </a:spcAft>
              <a:defRPr sz="2700" b="0">
                <a:solidFill>
                  <a:srgbClr val="596777"/>
                </a:solidFill>
                <a:latin typeface="Aptos"/>
              </a:defRPr>
            </a:pPr>
            <a:r>
              <a:t>Concurrency · Context · Prefix caching · Speculation</a:t>
            </a:r>
          </a:p>
        </p:txBody>
      </p:sp>
      <p:sp>
        <p:nvSpPr>
          <p:cNvPr id="7" name="TextBox 6"/>
          <p:cNvSpPr txBox="1"/>
          <p:nvPr/>
        </p:nvSpPr>
        <p:spPr>
          <a:xfrm>
            <a:off x="594360" y="3886200"/>
            <a:ext cx="9144000" cy="548640"/>
          </a:xfrm>
          <a:prstGeom prst="rect">
            <a:avLst/>
          </a:prstGeom>
          <a:noFill/>
        </p:spPr>
        <p:txBody>
          <a:bodyPr wrap="square" lIns="0" rIns="0" tIns="0" bIns="0">
            <a:spAutoFit/>
          </a:bodyPr>
          <a:lstStyle/>
          <a:p>
            <a:pPr>
              <a:spcAft>
                <a:spcPts val="1200"/>
              </a:spcAft>
              <a:defRPr sz="2700" b="1">
                <a:solidFill>
                  <a:srgbClr val="18283B"/>
                </a:solidFill>
                <a:latin typeface="Aptos"/>
              </a:defRPr>
            </a:pPr>
            <a:r>
              <a:t>Tan Ngo</a:t>
            </a:r>
          </a:p>
        </p:txBody>
      </p:sp>
      <p:sp>
        <p:nvSpPr>
          <p:cNvPr id="8" name="TextBox 7"/>
          <p:cNvSpPr txBox="1"/>
          <p:nvPr/>
        </p:nvSpPr>
        <p:spPr>
          <a:xfrm>
            <a:off x="594360" y="4526280"/>
            <a:ext cx="10058400" cy="822960"/>
          </a:xfrm>
          <a:prstGeom prst="rect">
            <a:avLst/>
          </a:prstGeom>
          <a:noFill/>
        </p:spPr>
        <p:txBody>
          <a:bodyPr wrap="square" lIns="0" rIns="0" tIns="0" bIns="0">
            <a:spAutoFit/>
          </a:bodyPr>
          <a:lstStyle/>
          <a:p>
            <a:pPr>
              <a:spcAft>
                <a:spcPts val="1200"/>
              </a:spcAft>
              <a:defRPr sz="2100" b="0">
                <a:solidFill>
                  <a:srgbClr val="596777"/>
                </a:solidFill>
                <a:latin typeface="Aptos"/>
              </a:defRPr>
            </a:pPr>
            <a:r>
              <a:t>Professor Kan Zhu and UW SyFI</a:t>
            </a:r>
          </a:p>
          <a:p>
            <a:pPr>
              <a:spcAft>
                <a:spcPts val="1200"/>
              </a:spcAft>
              <a:defRPr sz="2100" b="0">
                <a:solidFill>
                  <a:srgbClr val="596777"/>
                </a:solidFill>
                <a:latin typeface="Aptos"/>
              </a:defRPr>
            </a:pPr>
            <a:r>
              <a:t>5 September 2026</a:t>
            </a:r>
          </a:p>
        </p:txBody>
      </p:sp>
      <p:sp>
        <p:nvSpPr>
          <p:cNvPr id="9" name="Rectangle 8"/>
          <p:cNvSpPr/>
          <p:nvPr/>
        </p:nvSpPr>
        <p:spPr>
          <a:xfrm>
            <a:off x="548640" y="55046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56327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Three measured models. Four systems questions.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Four questions guide the study</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task.md; report.md §§1–2</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2</a:t>
            </a:r>
          </a:p>
        </p:txBody>
      </p:sp>
      <p:sp>
        <p:nvSpPr>
          <p:cNvPr id="6" name="TextBox 5"/>
          <p:cNvSpPr txBox="1"/>
          <p:nvPr/>
        </p:nvSpPr>
        <p:spPr>
          <a:xfrm>
            <a:off x="640080" y="1874519"/>
            <a:ext cx="228600" cy="457200"/>
          </a:xfrm>
          <a:prstGeom prst="rect">
            <a:avLst/>
          </a:prstGeom>
          <a:noFill/>
        </p:spPr>
        <p:txBody>
          <a:bodyPr wrap="square" lIns="0" rIns="0" tIns="0" bIns="0">
            <a:spAutoFit/>
          </a:bodyPr>
          <a:lstStyle/>
          <a:p>
            <a:pPr>
              <a:spcAft>
                <a:spcPts val="1200"/>
              </a:spcAft>
              <a:defRPr sz="2600" b="1">
                <a:solidFill>
                  <a:srgbClr val="2463A6"/>
                </a:solidFill>
                <a:latin typeface="Aptos"/>
              </a:defRPr>
            </a:pPr>
            <a:r>
              <a:t>•</a:t>
            </a:r>
          </a:p>
        </p:txBody>
      </p:sp>
      <p:sp>
        <p:nvSpPr>
          <p:cNvPr id="7" name="TextBox 6"/>
          <p:cNvSpPr txBox="1"/>
          <p:nvPr/>
        </p:nvSpPr>
        <p:spPr>
          <a:xfrm>
            <a:off x="1005840" y="1874519"/>
            <a:ext cx="10241280" cy="694944"/>
          </a:xfrm>
          <a:prstGeom prst="rect">
            <a:avLst/>
          </a:prstGeom>
          <a:noFill/>
        </p:spPr>
        <p:txBody>
          <a:bodyPr wrap="square" lIns="0" rIns="0" tIns="0" bIns="0">
            <a:spAutoFit/>
          </a:bodyPr>
          <a:lstStyle/>
          <a:p>
            <a:pPr>
              <a:spcAft>
                <a:spcPts val="1200"/>
              </a:spcAft>
              <a:defRPr sz="2600" b="0">
                <a:solidFill>
                  <a:srgbClr val="18283B"/>
                </a:solidFill>
                <a:latin typeface="Aptos"/>
              </a:defRPr>
            </a:pPr>
            <a:r>
              <a:t>What limits performance as the workload changes?</a:t>
            </a:r>
          </a:p>
        </p:txBody>
      </p:sp>
      <p:sp>
        <p:nvSpPr>
          <p:cNvPr id="8" name="TextBox 7"/>
          <p:cNvSpPr txBox="1"/>
          <p:nvPr/>
        </p:nvSpPr>
        <p:spPr>
          <a:xfrm>
            <a:off x="640080" y="2679191"/>
            <a:ext cx="228600" cy="457200"/>
          </a:xfrm>
          <a:prstGeom prst="rect">
            <a:avLst/>
          </a:prstGeom>
          <a:noFill/>
        </p:spPr>
        <p:txBody>
          <a:bodyPr wrap="square" lIns="0" rIns="0" tIns="0" bIns="0">
            <a:spAutoFit/>
          </a:bodyPr>
          <a:lstStyle/>
          <a:p>
            <a:pPr>
              <a:spcAft>
                <a:spcPts val="1200"/>
              </a:spcAft>
              <a:defRPr sz="2600" b="1">
                <a:solidFill>
                  <a:srgbClr val="2463A6"/>
                </a:solidFill>
                <a:latin typeface="Aptos"/>
              </a:defRPr>
            </a:pPr>
            <a:r>
              <a:t>•</a:t>
            </a:r>
          </a:p>
        </p:txBody>
      </p:sp>
      <p:sp>
        <p:nvSpPr>
          <p:cNvPr id="9" name="TextBox 8"/>
          <p:cNvSpPr txBox="1"/>
          <p:nvPr/>
        </p:nvSpPr>
        <p:spPr>
          <a:xfrm>
            <a:off x="1005840" y="2679191"/>
            <a:ext cx="10241280" cy="694944"/>
          </a:xfrm>
          <a:prstGeom prst="rect">
            <a:avLst/>
          </a:prstGeom>
          <a:noFill/>
        </p:spPr>
        <p:txBody>
          <a:bodyPr wrap="square" lIns="0" rIns="0" tIns="0" bIns="0">
            <a:spAutoFit/>
          </a:bodyPr>
          <a:lstStyle/>
          <a:p>
            <a:pPr>
              <a:spcAft>
                <a:spcPts val="1200"/>
              </a:spcAft>
              <a:defRPr sz="2600" b="0">
                <a:solidFill>
                  <a:srgbClr val="18283B"/>
                </a:solidFill>
                <a:latin typeface="Aptos"/>
              </a:defRPr>
            </a:pPr>
            <a:r>
              <a:t>What makes prefix caching difficult?</a:t>
            </a:r>
          </a:p>
        </p:txBody>
      </p:sp>
      <p:sp>
        <p:nvSpPr>
          <p:cNvPr id="10" name="TextBox 9"/>
          <p:cNvSpPr txBox="1"/>
          <p:nvPr/>
        </p:nvSpPr>
        <p:spPr>
          <a:xfrm>
            <a:off x="640080" y="3483863"/>
            <a:ext cx="228600" cy="457200"/>
          </a:xfrm>
          <a:prstGeom prst="rect">
            <a:avLst/>
          </a:prstGeom>
          <a:noFill/>
        </p:spPr>
        <p:txBody>
          <a:bodyPr wrap="square" lIns="0" rIns="0" tIns="0" bIns="0">
            <a:spAutoFit/>
          </a:bodyPr>
          <a:lstStyle/>
          <a:p>
            <a:pPr>
              <a:spcAft>
                <a:spcPts val="1200"/>
              </a:spcAft>
              <a:defRPr sz="2600" b="1">
                <a:solidFill>
                  <a:srgbClr val="2463A6"/>
                </a:solidFill>
                <a:latin typeface="Aptos"/>
              </a:defRPr>
            </a:pPr>
            <a:r>
              <a:t>•</a:t>
            </a:r>
          </a:p>
        </p:txBody>
      </p:sp>
      <p:sp>
        <p:nvSpPr>
          <p:cNvPr id="11" name="TextBox 10"/>
          <p:cNvSpPr txBox="1"/>
          <p:nvPr/>
        </p:nvSpPr>
        <p:spPr>
          <a:xfrm>
            <a:off x="1005840" y="3483863"/>
            <a:ext cx="10241280" cy="694944"/>
          </a:xfrm>
          <a:prstGeom prst="rect">
            <a:avLst/>
          </a:prstGeom>
          <a:noFill/>
        </p:spPr>
        <p:txBody>
          <a:bodyPr wrap="square" lIns="0" rIns="0" tIns="0" bIns="0">
            <a:spAutoFit/>
          </a:bodyPr>
          <a:lstStyle/>
          <a:p>
            <a:pPr>
              <a:spcAft>
                <a:spcPts val="1200"/>
              </a:spcAft>
              <a:defRPr sz="2600" b="0">
                <a:solidFill>
                  <a:srgbClr val="18283B"/>
                </a:solidFill>
                <a:latin typeface="Aptos"/>
              </a:defRPr>
            </a:pPr>
            <a:r>
              <a:t>When does speculative decoding help?</a:t>
            </a:r>
          </a:p>
        </p:txBody>
      </p:sp>
      <p:sp>
        <p:nvSpPr>
          <p:cNvPr id="12" name="TextBox 11"/>
          <p:cNvSpPr txBox="1"/>
          <p:nvPr/>
        </p:nvSpPr>
        <p:spPr>
          <a:xfrm>
            <a:off x="640080" y="4288536"/>
            <a:ext cx="228600" cy="457200"/>
          </a:xfrm>
          <a:prstGeom prst="rect">
            <a:avLst/>
          </a:prstGeom>
          <a:noFill/>
        </p:spPr>
        <p:txBody>
          <a:bodyPr wrap="square" lIns="0" rIns="0" tIns="0" bIns="0">
            <a:spAutoFit/>
          </a:bodyPr>
          <a:lstStyle/>
          <a:p>
            <a:pPr>
              <a:spcAft>
                <a:spcPts val="1200"/>
              </a:spcAft>
              <a:defRPr sz="2600" b="1">
                <a:solidFill>
                  <a:srgbClr val="2463A6"/>
                </a:solidFill>
                <a:latin typeface="Aptos"/>
              </a:defRPr>
            </a:pPr>
            <a:r>
              <a:t>•</a:t>
            </a:r>
          </a:p>
        </p:txBody>
      </p:sp>
      <p:sp>
        <p:nvSpPr>
          <p:cNvPr id="13" name="TextBox 12"/>
          <p:cNvSpPr txBox="1"/>
          <p:nvPr/>
        </p:nvSpPr>
        <p:spPr>
          <a:xfrm>
            <a:off x="1005840" y="4288536"/>
            <a:ext cx="10241280" cy="694944"/>
          </a:xfrm>
          <a:prstGeom prst="rect">
            <a:avLst/>
          </a:prstGeom>
          <a:noFill/>
        </p:spPr>
        <p:txBody>
          <a:bodyPr wrap="square" lIns="0" rIns="0" tIns="0" bIns="0">
            <a:spAutoFit/>
          </a:bodyPr>
          <a:lstStyle/>
          <a:p>
            <a:pPr>
              <a:spcAft>
                <a:spcPts val="1200"/>
              </a:spcAft>
              <a:defRPr sz="2600" b="0">
                <a:solidFill>
                  <a:srgbClr val="18283B"/>
                </a:solidFill>
                <a:latin typeface="Aptos"/>
              </a:defRPr>
            </a:pPr>
            <a:r>
              <a:t>What does serving cost?</a:t>
            </a:r>
          </a:p>
        </p:txBody>
      </p:sp>
      <p:sp>
        <p:nvSpPr>
          <p:cNvPr id="14" name="Rectangle 13"/>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GLM, DeepSeek, Qwen measured; Kimi architecture only.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Same MoE idea. Different attention state.</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Architecture facts; these do not establish the cause of measured speed differences.</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§2; model configurations</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3</a:t>
            </a:r>
          </a:p>
        </p:txBody>
      </p:sp>
      <p:graphicFrame>
        <p:nvGraphicFramePr>
          <p:cNvPr id="7" name="Table 6"/>
          <p:cNvGraphicFramePr>
            <a:graphicFrameLocks noGrp="1"/>
          </p:cNvGraphicFramePr>
          <p:nvPr/>
        </p:nvGraphicFramePr>
        <p:xfrm>
          <a:off x="594360" y="1828800"/>
          <a:ext cx="10972800" cy="3063240"/>
        </p:xfrm>
        <a:graphic>
          <a:graphicData uri="http://schemas.openxmlformats.org/drawingml/2006/table">
            <a:tbl>
              <a:tblPr firstRow="1" bandRow="1">
                <a:tableStyleId>{5C22544A-7EE6-4342-B048-85BDC9FD1C3A}</a:tableStyleId>
              </a:tblPr>
              <a:tblGrid>
                <a:gridCol w="3200400"/>
                <a:gridCol w="4846320"/>
                <a:gridCol w="2926080"/>
              </a:tblGrid>
              <a:tr h="612648">
                <a:tc>
                  <a:txBody>
                    <a:bodyPr/>
                    <a:lstStyle/>
                    <a:p>
                      <a:pPr>
                        <a:spcAft>
                          <a:spcPts val="0"/>
                        </a:spcAft>
                        <a:defRPr sz="1900" b="1">
                          <a:solidFill>
                            <a:srgbClr val="FFFFFF"/>
                          </a:solidFill>
                          <a:latin typeface="Aptos"/>
                        </a:defRPr>
                      </a:pPr>
                      <a:r>
                        <a:t>Model</a:t>
                      </a:r>
                    </a:p>
                  </a:txBody>
                  <a:tcPr marL="146304" marR="109728" marT="73152" marB="54864" anchor="ctr">
                    <a:solidFill>
                      <a:srgbClr val="2463A6"/>
                    </a:solidFill>
                  </a:tcPr>
                </a:tc>
                <a:tc>
                  <a:txBody>
                    <a:bodyPr/>
                    <a:lstStyle/>
                    <a:p>
                      <a:pPr>
                        <a:spcAft>
                          <a:spcPts val="0"/>
                        </a:spcAft>
                        <a:defRPr sz="1900" b="1">
                          <a:solidFill>
                            <a:srgbClr val="FFFFFF"/>
                          </a:solidFill>
                          <a:latin typeface="Aptos"/>
                        </a:defRPr>
                      </a:pPr>
                      <a:r>
                        <a:t>Attention layers</a:t>
                      </a:r>
                    </a:p>
                  </a:txBody>
                  <a:tcPr marL="146304" marR="109728" marT="73152" marB="54864" anchor="ctr">
                    <a:solidFill>
                      <a:srgbClr val="2463A6"/>
                    </a:solidFill>
                  </a:tcPr>
                </a:tc>
                <a:tc>
                  <a:txBody>
                    <a:bodyPr/>
                    <a:lstStyle/>
                    <a:p>
                      <a:pPr>
                        <a:spcAft>
                          <a:spcPts val="0"/>
                        </a:spcAft>
                        <a:defRPr sz="1900" b="1">
                          <a:solidFill>
                            <a:srgbClr val="FFFFFF"/>
                          </a:solidFill>
                          <a:latin typeface="Aptos"/>
                        </a:defRPr>
                      </a:pPr>
                      <a:r>
                        <a:t>Experts / selected</a:t>
                      </a:r>
                    </a:p>
                  </a:txBody>
                  <a:tcPr marL="146304" marR="109728" marT="73152" marB="54864" anchor="ctr">
                    <a:solidFill>
                      <a:srgbClr val="2463A6"/>
                    </a:solidFill>
                  </a:tcPr>
                </a:tc>
              </a:tr>
              <a:tr h="612648">
                <a:tc>
                  <a:txBody>
                    <a:bodyPr/>
                    <a:lstStyle/>
                    <a:p>
                      <a:pPr>
                        <a:spcAft>
                          <a:spcPts val="0"/>
                        </a:spcAft>
                        <a:defRPr sz="2100" b="0">
                          <a:solidFill>
                            <a:srgbClr val="18283B"/>
                          </a:solidFill>
                          <a:latin typeface="Aptos"/>
                        </a:defRPr>
                      </a:pPr>
                      <a:r>
                        <a:t>GLM-5.3-Flash</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34 recurrent + 11 sparse</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288 / 8</a:t>
                      </a:r>
                    </a:p>
                  </a:txBody>
                  <a:tcPr marL="146304" marR="109728" marT="73152" marB="54864" anchor="ctr">
                    <a:solidFill>
                      <a:srgbClr val="FFFFFF"/>
                    </a:solidFill>
                  </a:tcPr>
                </a:tc>
              </a:tr>
              <a:tr h="612648">
                <a:tc>
                  <a:txBody>
                    <a:bodyPr/>
                    <a:lstStyle/>
                    <a:p>
                      <a:pPr>
                        <a:spcAft>
                          <a:spcPts val="0"/>
                        </a:spcAft>
                        <a:defRPr sz="2100" b="0">
                          <a:solidFill>
                            <a:srgbClr val="18283B"/>
                          </a:solidFill>
                          <a:latin typeface="Aptos"/>
                        </a:defRPr>
                      </a:pPr>
                      <a:r>
                        <a:t>DeepSeek-V4-Flash</a:t>
                      </a:r>
                    </a:p>
                  </a:txBody>
                  <a:tcPr marL="146304" marR="109728" marT="73152" marB="54864" anchor="ctr">
                    <a:solidFill>
                      <a:srgbClr val="F5F7FA"/>
                    </a:solidFill>
                  </a:tcPr>
                </a:tc>
                <a:tc>
                  <a:txBody>
                    <a:bodyPr/>
                    <a:lstStyle/>
                    <a:p>
                      <a:pPr>
                        <a:spcAft>
                          <a:spcPts val="0"/>
                        </a:spcAft>
                        <a:defRPr sz="2100" b="0">
                          <a:solidFill>
                            <a:srgbClr val="18283B"/>
                          </a:solidFill>
                          <a:latin typeface="Aptos"/>
                        </a:defRPr>
                      </a:pPr>
                      <a:r>
                        <a:t>43 sparse; compressed history</a:t>
                      </a:r>
                    </a:p>
                  </a:txBody>
                  <a:tcPr marL="146304" marR="109728" marT="73152" marB="54864" anchor="ctr">
                    <a:solidFill>
                      <a:srgbClr val="F5F7FA"/>
                    </a:solidFill>
                  </a:tcPr>
                </a:tc>
                <a:tc>
                  <a:txBody>
                    <a:bodyPr/>
                    <a:lstStyle/>
                    <a:p>
                      <a:pPr>
                        <a:spcAft>
                          <a:spcPts val="0"/>
                        </a:spcAft>
                        <a:defRPr sz="2100" b="0">
                          <a:solidFill>
                            <a:srgbClr val="18283B"/>
                          </a:solidFill>
                          <a:latin typeface="Aptos"/>
                        </a:defRPr>
                      </a:pPr>
                      <a:r>
                        <a:t>256 / 6</a:t>
                      </a:r>
                    </a:p>
                  </a:txBody>
                  <a:tcPr marL="146304" marR="109728" marT="73152" marB="54864" anchor="ctr">
                    <a:solidFill>
                      <a:srgbClr val="F5F7FA"/>
                    </a:solidFill>
                  </a:tcPr>
                </a:tc>
              </a:tr>
              <a:tr h="612648">
                <a:tc>
                  <a:txBody>
                    <a:bodyPr/>
                    <a:lstStyle/>
                    <a:p>
                      <a:pPr>
                        <a:spcAft>
                          <a:spcPts val="0"/>
                        </a:spcAft>
                        <a:defRPr sz="2100" b="0">
                          <a:solidFill>
                            <a:srgbClr val="18283B"/>
                          </a:solidFill>
                          <a:latin typeface="Aptos"/>
                        </a:defRPr>
                      </a:pPr>
                      <a:r>
                        <a:t>Qwen3.8-Flash-Next</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36 recurrent + 12 QSA</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512 / 10</a:t>
                      </a:r>
                    </a:p>
                  </a:txBody>
                  <a:tcPr marL="146304" marR="109728" marT="73152" marB="54864" anchor="ctr">
                    <a:solidFill>
                      <a:srgbClr val="FFFFFF"/>
                    </a:solidFill>
                  </a:tcPr>
                </a:tc>
              </a:tr>
              <a:tr h="612648">
                <a:tc>
                  <a:txBody>
                    <a:bodyPr/>
                    <a:lstStyle/>
                    <a:p>
                      <a:pPr>
                        <a:spcAft>
                          <a:spcPts val="0"/>
                        </a:spcAft>
                        <a:defRPr sz="2100" b="0">
                          <a:solidFill>
                            <a:srgbClr val="18283B"/>
                          </a:solidFill>
                          <a:latin typeface="Aptos"/>
                        </a:defRPr>
                      </a:pPr>
                      <a:r>
                        <a:t>Kimi K3 (unmeasured)</a:t>
                      </a:r>
                    </a:p>
                  </a:txBody>
                  <a:tcPr marL="146304" marR="109728" marT="73152" marB="54864" anchor="ctr">
                    <a:solidFill>
                      <a:srgbClr val="F5F7FA"/>
                    </a:solidFill>
                  </a:tcPr>
                </a:tc>
                <a:tc>
                  <a:txBody>
                    <a:bodyPr/>
                    <a:lstStyle/>
                    <a:p>
                      <a:pPr>
                        <a:spcAft>
                          <a:spcPts val="0"/>
                        </a:spcAft>
                        <a:defRPr sz="2100" b="0">
                          <a:solidFill>
                            <a:srgbClr val="18283B"/>
                          </a:solidFill>
                          <a:latin typeface="Aptos"/>
                        </a:defRPr>
                      </a:pPr>
                      <a:r>
                        <a:t>69 recurrent + 24 gated MLA</a:t>
                      </a:r>
                    </a:p>
                  </a:txBody>
                  <a:tcPr marL="146304" marR="109728" marT="73152" marB="54864" anchor="ctr">
                    <a:solidFill>
                      <a:srgbClr val="F5F7FA"/>
                    </a:solidFill>
                  </a:tcPr>
                </a:tc>
                <a:tc>
                  <a:txBody>
                    <a:bodyPr/>
                    <a:lstStyle/>
                    <a:p>
                      <a:pPr>
                        <a:spcAft>
                          <a:spcPts val="0"/>
                        </a:spcAft>
                        <a:defRPr sz="2100" b="0">
                          <a:solidFill>
                            <a:srgbClr val="18283B"/>
                          </a:solidFill>
                          <a:latin typeface="Aptos"/>
                        </a:defRPr>
                      </a:pPr>
                      <a:r>
                        <a:t>896 / 16</a:t>
                      </a:r>
                    </a:p>
                  </a:txBody>
                  <a:tcPr marL="146304" marR="109728" marT="73152" marB="54864" anchor="ctr">
                    <a:solidFill>
                      <a:srgbClr val="F5F7FA"/>
                    </a:solidFill>
                  </a:tcPr>
                </a:tc>
              </a:tr>
            </a:tbl>
          </a:graphicData>
        </a:graphic>
      </p:graphicFrame>
      <p:sp>
        <p:nvSpPr>
          <p:cNvPr id="8" name="Rectangle 7"/>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Recurrent state stays fixed; retained history grows.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A fixed GPU budget; three workload axes</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Synthetic prompts; mostly one retained run per point; builds and backends differ.</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bench.sh; report.md §1</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4</a:t>
            </a:r>
          </a:p>
        </p:txBody>
      </p:sp>
      <p:sp>
        <p:nvSpPr>
          <p:cNvPr id="7" name="TextBox 6"/>
          <p:cNvSpPr txBox="1"/>
          <p:nvPr/>
        </p:nvSpPr>
        <p:spPr>
          <a:xfrm>
            <a:off x="594360" y="1764792"/>
            <a:ext cx="10972800" cy="548640"/>
          </a:xfrm>
          <a:prstGeom prst="rect">
            <a:avLst/>
          </a:prstGeom>
          <a:noFill/>
        </p:spPr>
        <p:txBody>
          <a:bodyPr wrap="square" lIns="0" rIns="0" tIns="0" bIns="0">
            <a:spAutoFit/>
          </a:bodyPr>
          <a:lstStyle/>
          <a:p>
            <a:pPr>
              <a:spcAft>
                <a:spcPts val="1200"/>
              </a:spcAft>
              <a:defRPr sz="2500" b="1">
                <a:solidFill>
                  <a:srgbClr val="2463A6"/>
                </a:solidFill>
                <a:latin typeface="Aptos"/>
              </a:defRPr>
            </a:pPr>
            <a:r>
              <a:t>8 × H100 80GB  ·  Tensor + expert parallelism</a:t>
            </a:r>
          </a:p>
        </p:txBody>
      </p:sp>
      <p:graphicFrame>
        <p:nvGraphicFramePr>
          <p:cNvPr id="8" name="Table 7"/>
          <p:cNvGraphicFramePr>
            <a:graphicFrameLocks noGrp="1"/>
          </p:cNvGraphicFramePr>
          <p:nvPr/>
        </p:nvGraphicFramePr>
        <p:xfrm>
          <a:off x="594360" y="2514600"/>
          <a:ext cx="10972800" cy="2267712"/>
        </p:xfrm>
        <a:graphic>
          <a:graphicData uri="http://schemas.openxmlformats.org/drawingml/2006/table">
            <a:tbl>
              <a:tblPr firstRow="1" bandRow="1">
                <a:tableStyleId>{5C22544A-7EE6-4342-B048-85BDC9FD1C3A}</a:tableStyleId>
              </a:tblPr>
              <a:tblGrid>
                <a:gridCol w="2194560"/>
                <a:gridCol w="5943600"/>
                <a:gridCol w="2834640"/>
              </a:tblGrid>
              <a:tr h="566928">
                <a:tc>
                  <a:txBody>
                    <a:bodyPr/>
                    <a:lstStyle/>
                    <a:p>
                      <a:pPr>
                        <a:spcAft>
                          <a:spcPts val="0"/>
                        </a:spcAft>
                        <a:defRPr sz="2100" b="1">
                          <a:solidFill>
                            <a:srgbClr val="FFFFFF"/>
                          </a:solidFill>
                          <a:latin typeface="Aptos"/>
                        </a:defRPr>
                      </a:pPr>
                      <a:r>
                        <a:t>Axis</a:t>
                      </a:r>
                    </a:p>
                  </a:txBody>
                  <a:tcPr marL="146304" marR="109728" marT="73152" marB="54864" anchor="ctr">
                    <a:solidFill>
                      <a:srgbClr val="2463A6"/>
                    </a:solidFill>
                  </a:tcPr>
                </a:tc>
                <a:tc>
                  <a:txBody>
                    <a:bodyPr/>
                    <a:lstStyle/>
                    <a:p>
                      <a:pPr>
                        <a:spcAft>
                          <a:spcPts val="0"/>
                        </a:spcAft>
                        <a:defRPr sz="2100" b="1">
                          <a:solidFill>
                            <a:srgbClr val="FFFFFF"/>
                          </a:solidFill>
                          <a:latin typeface="Aptos"/>
                        </a:defRPr>
                      </a:pPr>
                      <a:r>
                        <a:t>Input / output</a:t>
                      </a:r>
                    </a:p>
                  </a:txBody>
                  <a:tcPr marL="146304" marR="109728" marT="73152" marB="54864" anchor="ctr">
                    <a:solidFill>
                      <a:srgbClr val="2463A6"/>
                    </a:solidFill>
                  </a:tcPr>
                </a:tc>
                <a:tc>
                  <a:txBody>
                    <a:bodyPr/>
                    <a:lstStyle/>
                    <a:p>
                      <a:pPr>
                        <a:spcAft>
                          <a:spcPts val="0"/>
                        </a:spcAft>
                        <a:defRPr sz="2100" b="1">
                          <a:solidFill>
                            <a:srgbClr val="FFFFFF"/>
                          </a:solidFill>
                          <a:latin typeface="Aptos"/>
                        </a:defRPr>
                      </a:pPr>
                      <a:r>
                        <a:t>Concurrency</a:t>
                      </a:r>
                    </a:p>
                  </a:txBody>
                  <a:tcPr marL="146304" marR="109728" marT="73152" marB="54864" anchor="ctr">
                    <a:solidFill>
                      <a:srgbClr val="2463A6"/>
                    </a:solidFill>
                  </a:tcPr>
                </a:tc>
              </a:tr>
              <a:tr h="566928">
                <a:tc>
                  <a:txBody>
                    <a:bodyPr/>
                    <a:lstStyle/>
                    <a:p>
                      <a:pPr>
                        <a:spcAft>
                          <a:spcPts val="0"/>
                        </a:spcAft>
                        <a:defRPr sz="2300" b="0">
                          <a:solidFill>
                            <a:srgbClr val="18283B"/>
                          </a:solidFill>
                          <a:latin typeface="Aptos"/>
                        </a:defRPr>
                      </a:pPr>
                      <a:r>
                        <a:t>Batch</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16K / 256 tokens</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1–64</a:t>
                      </a:r>
                    </a:p>
                  </a:txBody>
                  <a:tcPr marL="146304" marR="109728" marT="73152" marB="54864" anchor="ctr">
                    <a:solidFill>
                      <a:srgbClr val="FFFFFF"/>
                    </a:solidFill>
                  </a:tcPr>
                </a:tc>
              </a:tr>
              <a:tr h="566928">
                <a:tc>
                  <a:txBody>
                    <a:bodyPr/>
                    <a:lstStyle/>
                    <a:p>
                      <a:pPr>
                        <a:spcAft>
                          <a:spcPts val="0"/>
                        </a:spcAft>
                        <a:defRPr sz="2300" b="0">
                          <a:solidFill>
                            <a:srgbClr val="18283B"/>
                          </a:solidFill>
                          <a:latin typeface="Aptos"/>
                        </a:defRPr>
                      </a:pPr>
                      <a:r>
                        <a:t>Context</a:t>
                      </a:r>
                    </a:p>
                  </a:txBody>
                  <a:tcPr marL="146304" marR="109728" marT="73152" marB="54864" anchor="ctr">
                    <a:solidFill>
                      <a:srgbClr val="F5F7FA"/>
                    </a:solidFill>
                  </a:tcPr>
                </a:tc>
                <a:tc>
                  <a:txBody>
                    <a:bodyPr/>
                    <a:lstStyle/>
                    <a:p>
                      <a:pPr>
                        <a:spcAft>
                          <a:spcPts val="0"/>
                        </a:spcAft>
                        <a:defRPr sz="2300" b="0">
                          <a:solidFill>
                            <a:srgbClr val="18283B"/>
                          </a:solidFill>
                          <a:latin typeface="Aptos"/>
                        </a:defRPr>
                      </a:pPr>
                      <a:r>
                        <a:t>16K–260K / 256 tokens</a:t>
                      </a:r>
                    </a:p>
                  </a:txBody>
                  <a:tcPr marL="146304" marR="109728" marT="73152" marB="54864" anchor="ctr">
                    <a:solidFill>
                      <a:srgbClr val="F5F7FA"/>
                    </a:solidFill>
                  </a:tcPr>
                </a:tc>
                <a:tc>
                  <a:txBody>
                    <a:bodyPr/>
                    <a:lstStyle/>
                    <a:p>
                      <a:pPr>
                        <a:spcAft>
                          <a:spcPts val="0"/>
                        </a:spcAft>
                        <a:defRPr sz="2300" b="0">
                          <a:solidFill>
                            <a:srgbClr val="18283B"/>
                          </a:solidFill>
                          <a:latin typeface="Aptos"/>
                        </a:defRPr>
                      </a:pPr>
                      <a:r>
                        <a:t>8</a:t>
                      </a:r>
                    </a:p>
                  </a:txBody>
                  <a:tcPr marL="146304" marR="109728" marT="73152" marB="54864" anchor="ctr">
                    <a:solidFill>
                      <a:srgbClr val="F5F7FA"/>
                    </a:solidFill>
                  </a:tcPr>
                </a:tc>
              </a:tr>
              <a:tr h="566928">
                <a:tc>
                  <a:txBody>
                    <a:bodyPr/>
                    <a:lstStyle/>
                    <a:p>
                      <a:pPr>
                        <a:spcAft>
                          <a:spcPts val="0"/>
                        </a:spcAft>
                        <a:defRPr sz="2300" b="0">
                          <a:solidFill>
                            <a:srgbClr val="18283B"/>
                          </a:solidFill>
                          <a:latin typeface="Aptos"/>
                        </a:defRPr>
                      </a:pPr>
                      <a:r>
                        <a:t>Prefix sharing</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64K shared + 2K unique / 256</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8</a:t>
                      </a:r>
                    </a:p>
                  </a:txBody>
                  <a:tcPr marL="146304" marR="109728" marT="73152" marB="54864" anchor="ctr">
                    <a:solidFill>
                      <a:srgbClr val="FFFFFF"/>
                    </a:solidFill>
                  </a:tcPr>
                </a:tc>
              </a:tr>
            </a:tbl>
          </a:graphicData>
        </a:graphic>
      </p:graphicFrame>
      <p:sp>
        <p:nvSpPr>
          <p:cNvPr id="9" name="Rectangle 8"/>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5404103"/>
            <a:ext cx="10652760" cy="420624"/>
          </a:xfrm>
          <a:prstGeom prst="rect">
            <a:avLst/>
          </a:prstGeom>
          <a:noFill/>
        </p:spPr>
        <p:txBody>
          <a:bodyPr wrap="square" lIns="0" rIns="0" tIns="0" bIns="0">
            <a:spAutoFit/>
          </a:bodyPr>
          <a:lstStyle/>
          <a:p>
            <a:pPr>
              <a:spcAft>
                <a:spcPts val="1200"/>
              </a:spcAft>
              <a:defRPr sz="2200" b="1">
                <a:solidFill>
                  <a:srgbClr val="2463A6"/>
                </a:solidFill>
                <a:latin typeface="Aptos"/>
              </a:defRPr>
            </a:pPr>
            <a:r>
              <a:t>Output tok/s includes input work; TTFT includes queueing.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Qwen leads the corrected 16K throughput grid</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Output tokens/s, MTP off. Deployment comparison; response quality was not measured.</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§3; main batch arms</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5</a:t>
            </a:r>
          </a:p>
        </p:txBody>
      </p:sp>
      <p:graphicFrame>
        <p:nvGraphicFramePr>
          <p:cNvPr id="7" name="Table 6"/>
          <p:cNvGraphicFramePr>
            <a:graphicFrameLocks noGrp="1"/>
          </p:cNvGraphicFramePr>
          <p:nvPr/>
        </p:nvGraphicFramePr>
        <p:xfrm>
          <a:off x="594360" y="1828800"/>
          <a:ext cx="10972800" cy="2971800"/>
        </p:xfrm>
        <a:graphic>
          <a:graphicData uri="http://schemas.openxmlformats.org/drawingml/2006/table">
            <a:tbl>
              <a:tblPr firstRow="1" bandRow="1">
                <a:tableStyleId>{5C22544A-7EE6-4342-B048-85BDC9FD1C3A}</a:tableStyleId>
              </a:tblPr>
              <a:tblGrid>
                <a:gridCol w="2743200"/>
                <a:gridCol w="2743200"/>
                <a:gridCol w="2743200"/>
                <a:gridCol w="2743200"/>
              </a:tblGrid>
              <a:tr h="594360">
                <a:tc>
                  <a:txBody>
                    <a:bodyPr/>
                    <a:lstStyle/>
                    <a:p>
                      <a:pPr>
                        <a:spcAft>
                          <a:spcPts val="0"/>
                        </a:spcAft>
                        <a:defRPr sz="2300" b="1">
                          <a:solidFill>
                            <a:srgbClr val="FFFFFF"/>
                          </a:solidFill>
                          <a:latin typeface="Aptos"/>
                        </a:defRPr>
                      </a:pPr>
                      <a:r>
                        <a:t>Concurrency</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Qwen</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GLM</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DeepSeek</a:t>
                      </a:r>
                    </a:p>
                  </a:txBody>
                  <a:tcPr marL="146304" marR="109728" marT="73152" marB="54864" anchor="ctr">
                    <a:solidFill>
                      <a:srgbClr val="2463A6"/>
                    </a:solidFill>
                  </a:tcPr>
                </a:tc>
              </a:tr>
              <a:tr h="594360">
                <a:tc>
                  <a:txBody>
                    <a:bodyPr/>
                    <a:lstStyle/>
                    <a:p>
                      <a:pPr>
                        <a:spcAft>
                          <a:spcPts val="0"/>
                        </a:spcAft>
                        <a:defRPr sz="2500" b="0">
                          <a:solidFill>
                            <a:srgbClr val="18283B"/>
                          </a:solidFill>
                          <a:latin typeface="Aptos"/>
                        </a:defRPr>
                      </a:pPr>
                      <a:r>
                        <a:t>1</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106.2</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96.3</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85.0</a:t>
                      </a:r>
                    </a:p>
                  </a:txBody>
                  <a:tcPr marL="146304" marR="109728" marT="73152" marB="54864" anchor="ctr">
                    <a:solidFill>
                      <a:srgbClr val="FFFFFF"/>
                    </a:solidFill>
                  </a:tcPr>
                </a:tc>
              </a:tr>
              <a:tr h="594360">
                <a:tc>
                  <a:txBody>
                    <a:bodyPr/>
                    <a:lstStyle/>
                    <a:p>
                      <a:pPr>
                        <a:spcAft>
                          <a:spcPts val="0"/>
                        </a:spcAft>
                        <a:defRPr sz="2500" b="0">
                          <a:solidFill>
                            <a:srgbClr val="18283B"/>
                          </a:solidFill>
                          <a:latin typeface="Aptos"/>
                        </a:defRPr>
                      </a:pPr>
                      <a:r>
                        <a:t>4</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256.8</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225.3</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219.8</a:t>
                      </a:r>
                    </a:p>
                  </a:txBody>
                  <a:tcPr marL="146304" marR="109728" marT="73152" marB="54864" anchor="ctr">
                    <a:solidFill>
                      <a:srgbClr val="F5F7FA"/>
                    </a:solidFill>
                  </a:tcPr>
                </a:tc>
              </a:tr>
              <a:tr h="594360">
                <a:tc>
                  <a:txBody>
                    <a:bodyPr/>
                    <a:lstStyle/>
                    <a:p>
                      <a:pPr>
                        <a:spcAft>
                          <a:spcPts val="0"/>
                        </a:spcAft>
                        <a:defRPr sz="2500" b="0">
                          <a:solidFill>
                            <a:srgbClr val="18283B"/>
                          </a:solidFill>
                          <a:latin typeface="Aptos"/>
                        </a:defRPr>
                      </a:pPr>
                      <a:r>
                        <a:t>16</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420.2</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359.2</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330.9</a:t>
                      </a:r>
                    </a:p>
                  </a:txBody>
                  <a:tcPr marL="146304" marR="109728" marT="73152" marB="54864" anchor="ctr">
                    <a:solidFill>
                      <a:srgbClr val="FFFFFF"/>
                    </a:solidFill>
                  </a:tcPr>
                </a:tc>
              </a:tr>
              <a:tr h="594360">
                <a:tc>
                  <a:txBody>
                    <a:bodyPr/>
                    <a:lstStyle/>
                    <a:p>
                      <a:pPr>
                        <a:spcAft>
                          <a:spcPts val="0"/>
                        </a:spcAft>
                        <a:defRPr sz="2500" b="1">
                          <a:solidFill>
                            <a:srgbClr val="18283B"/>
                          </a:solidFill>
                          <a:latin typeface="Aptos"/>
                        </a:defRPr>
                      </a:pPr>
                      <a:r>
                        <a:t>64</a:t>
                      </a:r>
                    </a:p>
                  </a:txBody>
                  <a:tcPr marL="146304" marR="109728" marT="73152" marB="54864" anchor="ctr">
                    <a:solidFill>
                      <a:srgbClr val="EDF3FA"/>
                    </a:solidFill>
                  </a:tcPr>
                </a:tc>
                <a:tc>
                  <a:txBody>
                    <a:bodyPr/>
                    <a:lstStyle/>
                    <a:p>
                      <a:pPr>
                        <a:spcAft>
                          <a:spcPts val="0"/>
                        </a:spcAft>
                        <a:defRPr sz="2500" b="1">
                          <a:solidFill>
                            <a:srgbClr val="18283B"/>
                          </a:solidFill>
                          <a:latin typeface="Aptos"/>
                        </a:defRPr>
                      </a:pPr>
                      <a:r>
                        <a:t>517.7</a:t>
                      </a:r>
                    </a:p>
                  </a:txBody>
                  <a:tcPr marL="146304" marR="109728" marT="73152" marB="54864" anchor="ctr">
                    <a:solidFill>
                      <a:srgbClr val="EDF3FA"/>
                    </a:solidFill>
                  </a:tcPr>
                </a:tc>
                <a:tc>
                  <a:txBody>
                    <a:bodyPr/>
                    <a:lstStyle/>
                    <a:p>
                      <a:pPr>
                        <a:spcAft>
                          <a:spcPts val="0"/>
                        </a:spcAft>
                        <a:defRPr sz="2500" b="1">
                          <a:solidFill>
                            <a:srgbClr val="18283B"/>
                          </a:solidFill>
                          <a:latin typeface="Aptos"/>
                        </a:defRPr>
                      </a:pPr>
                      <a:r>
                        <a:t>447.1</a:t>
                      </a:r>
                    </a:p>
                  </a:txBody>
                  <a:tcPr marL="146304" marR="109728" marT="73152" marB="54864" anchor="ctr">
                    <a:solidFill>
                      <a:srgbClr val="EDF3FA"/>
                    </a:solidFill>
                  </a:tcPr>
                </a:tc>
                <a:tc>
                  <a:txBody>
                    <a:bodyPr/>
                    <a:lstStyle/>
                    <a:p>
                      <a:pPr>
                        <a:spcAft>
                          <a:spcPts val="0"/>
                        </a:spcAft>
                        <a:defRPr sz="2500" b="1">
                          <a:solidFill>
                            <a:srgbClr val="18283B"/>
                          </a:solidFill>
                          <a:latin typeface="Aptos"/>
                        </a:defRPr>
                      </a:pPr>
                      <a:r>
                        <a:t>389.4</a:t>
                      </a:r>
                    </a:p>
                  </a:txBody>
                  <a:tcPr marL="146304" marR="109728" marT="73152" marB="54864" anchor="ctr">
                    <a:solidFill>
                      <a:srgbClr val="EDF3FA"/>
                    </a:solidFill>
                  </a:tcPr>
                </a:tc>
              </a:tr>
            </a:tbl>
          </a:graphicData>
        </a:graphic>
      </p:graphicFrame>
      <p:sp>
        <p:nvSpPr>
          <p:cNvPr id="8" name="Rectangle 7"/>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At concurrency 64: 1.16× GLM and 1.33× DeepSeek.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More throughput has a latency price</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DeepSeek uses a separate build/utilization arm. These are not universal optimal settings.</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§3; GLM bf16kv; DeepSeek util085-dev20073</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6</a:t>
            </a:r>
          </a:p>
        </p:txBody>
      </p:sp>
      <p:sp>
        <p:nvSpPr>
          <p:cNvPr id="7" name="TextBox 6"/>
          <p:cNvSpPr txBox="1"/>
          <p:nvPr/>
        </p:nvSpPr>
        <p:spPr>
          <a:xfrm>
            <a:off x="594360" y="1746504"/>
            <a:ext cx="10972800" cy="457200"/>
          </a:xfrm>
          <a:prstGeom prst="rect">
            <a:avLst/>
          </a:prstGeom>
          <a:noFill/>
        </p:spPr>
        <p:txBody>
          <a:bodyPr wrap="square" lIns="0" rIns="0" tIns="0" bIns="0">
            <a:spAutoFit/>
          </a:bodyPr>
          <a:lstStyle/>
          <a:p>
            <a:pPr>
              <a:spcAft>
                <a:spcPts val="1200"/>
              </a:spcAft>
              <a:defRPr sz="2500" b="0">
                <a:solidFill>
                  <a:srgbClr val="596777"/>
                </a:solidFill>
                <a:latin typeface="Aptos"/>
              </a:defRPr>
            </a:pPr>
            <a:r>
              <a:t>Increasing concurrency from 8 to 64</a:t>
            </a:r>
          </a:p>
        </p:txBody>
      </p:sp>
      <p:graphicFrame>
        <p:nvGraphicFramePr>
          <p:cNvPr id="8" name="Table 7"/>
          <p:cNvGraphicFramePr>
            <a:graphicFrameLocks noGrp="1"/>
          </p:cNvGraphicFramePr>
          <p:nvPr/>
        </p:nvGraphicFramePr>
        <p:xfrm>
          <a:off x="594360" y="2487168"/>
          <a:ext cx="10972800" cy="2249424"/>
        </p:xfrm>
        <a:graphic>
          <a:graphicData uri="http://schemas.openxmlformats.org/drawingml/2006/table">
            <a:tbl>
              <a:tblPr firstRow="1" bandRow="1">
                <a:tableStyleId>{5C22544A-7EE6-4342-B048-85BDC9FD1C3A}</a:tableStyleId>
              </a:tblPr>
              <a:tblGrid>
                <a:gridCol w="2743200"/>
                <a:gridCol w="4114800"/>
                <a:gridCol w="4114800"/>
              </a:tblGrid>
              <a:tr h="749808">
                <a:tc>
                  <a:txBody>
                    <a:bodyPr/>
                    <a:lstStyle/>
                    <a:p>
                      <a:pPr>
                        <a:spcAft>
                          <a:spcPts val="0"/>
                        </a:spcAft>
                        <a:defRPr sz="2400" b="1">
                          <a:solidFill>
                            <a:srgbClr val="FFFFFF"/>
                          </a:solidFill>
                          <a:latin typeface="Aptos"/>
                        </a:defRPr>
                      </a:pPr>
                      <a:r>
                        <a:t>Model</a:t>
                      </a:r>
                    </a:p>
                  </a:txBody>
                  <a:tcPr marL="146304" marR="109728" marT="73152" marB="54864" anchor="ctr">
                    <a:solidFill>
                      <a:srgbClr val="2463A6"/>
                    </a:solidFill>
                  </a:tcPr>
                </a:tc>
                <a:tc>
                  <a:txBody>
                    <a:bodyPr/>
                    <a:lstStyle/>
                    <a:p>
                      <a:pPr>
                        <a:spcAft>
                          <a:spcPts val="0"/>
                        </a:spcAft>
                        <a:defRPr sz="2400" b="1">
                          <a:solidFill>
                            <a:srgbClr val="FFFFFF"/>
                          </a:solidFill>
                          <a:latin typeface="Aptos"/>
                        </a:defRPr>
                      </a:pPr>
                      <a:r>
                        <a:t>Throughput increase</a:t>
                      </a:r>
                    </a:p>
                  </a:txBody>
                  <a:tcPr marL="146304" marR="109728" marT="73152" marB="54864" anchor="ctr">
                    <a:solidFill>
                      <a:srgbClr val="2463A6"/>
                    </a:solidFill>
                  </a:tcPr>
                </a:tc>
                <a:tc>
                  <a:txBody>
                    <a:bodyPr/>
                    <a:lstStyle/>
                    <a:p>
                      <a:pPr>
                        <a:spcAft>
                          <a:spcPts val="0"/>
                        </a:spcAft>
                        <a:defRPr sz="2400" b="1">
                          <a:solidFill>
                            <a:srgbClr val="FFFFFF"/>
                          </a:solidFill>
                          <a:latin typeface="Aptos"/>
                        </a:defRPr>
                      </a:pPr>
                      <a:r>
                        <a:t>Token-latency increase</a:t>
                      </a:r>
                    </a:p>
                  </a:txBody>
                  <a:tcPr marL="146304" marR="109728" marT="73152" marB="54864" anchor="ctr">
                    <a:solidFill>
                      <a:srgbClr val="2463A6"/>
                    </a:solidFill>
                  </a:tcPr>
                </a:tc>
              </a:tr>
              <a:tr h="749808">
                <a:tc>
                  <a:txBody>
                    <a:bodyPr/>
                    <a:lstStyle/>
                    <a:p>
                      <a:pPr>
                        <a:spcAft>
                          <a:spcPts val="0"/>
                        </a:spcAft>
                        <a:defRPr sz="2600" b="0">
                          <a:solidFill>
                            <a:srgbClr val="18283B"/>
                          </a:solidFill>
                          <a:latin typeface="Aptos"/>
                        </a:defRPr>
                      </a:pPr>
                      <a:r>
                        <a:t>GLM</a:t>
                      </a:r>
                    </a:p>
                  </a:txBody>
                  <a:tcPr marL="146304" marR="109728" marT="73152" marB="54864" anchor="ctr">
                    <a:solidFill>
                      <a:srgbClr val="FFFFFF"/>
                    </a:solidFill>
                  </a:tcPr>
                </a:tc>
                <a:tc>
                  <a:txBody>
                    <a:bodyPr/>
                    <a:lstStyle/>
                    <a:p>
                      <a:pPr>
                        <a:spcAft>
                          <a:spcPts val="0"/>
                        </a:spcAft>
                        <a:defRPr sz="2600" b="0">
                          <a:solidFill>
                            <a:srgbClr val="18283B"/>
                          </a:solidFill>
                          <a:latin typeface="Aptos"/>
                        </a:defRPr>
                      </a:pPr>
                      <a:r>
                        <a:t>1.51×</a:t>
                      </a:r>
                    </a:p>
                  </a:txBody>
                  <a:tcPr marL="146304" marR="109728" marT="73152" marB="54864" anchor="ctr">
                    <a:solidFill>
                      <a:srgbClr val="FFFFFF"/>
                    </a:solidFill>
                  </a:tcPr>
                </a:tc>
                <a:tc>
                  <a:txBody>
                    <a:bodyPr/>
                    <a:lstStyle/>
                    <a:p>
                      <a:pPr>
                        <a:spcAft>
                          <a:spcPts val="0"/>
                        </a:spcAft>
                        <a:defRPr sz="2600" b="0">
                          <a:solidFill>
                            <a:srgbClr val="18283B"/>
                          </a:solidFill>
                          <a:latin typeface="Aptos"/>
                        </a:defRPr>
                      </a:pPr>
                      <a:r>
                        <a:t>7.15×</a:t>
                      </a:r>
                    </a:p>
                  </a:txBody>
                  <a:tcPr marL="146304" marR="109728" marT="73152" marB="54864" anchor="ctr">
                    <a:solidFill>
                      <a:srgbClr val="FFFFFF"/>
                    </a:solidFill>
                  </a:tcPr>
                </a:tc>
              </a:tr>
              <a:tr h="749808">
                <a:tc>
                  <a:txBody>
                    <a:bodyPr/>
                    <a:lstStyle/>
                    <a:p>
                      <a:pPr>
                        <a:spcAft>
                          <a:spcPts val="0"/>
                        </a:spcAft>
                        <a:defRPr sz="2600" b="0">
                          <a:solidFill>
                            <a:srgbClr val="18283B"/>
                          </a:solidFill>
                          <a:latin typeface="Aptos"/>
                        </a:defRPr>
                      </a:pPr>
                      <a:r>
                        <a:t>DeepSeek</a:t>
                      </a:r>
                    </a:p>
                  </a:txBody>
                  <a:tcPr marL="146304" marR="109728" marT="73152" marB="54864" anchor="ctr">
                    <a:solidFill>
                      <a:srgbClr val="F5F7FA"/>
                    </a:solidFill>
                  </a:tcPr>
                </a:tc>
                <a:tc>
                  <a:txBody>
                    <a:bodyPr/>
                    <a:lstStyle/>
                    <a:p>
                      <a:pPr>
                        <a:spcAft>
                          <a:spcPts val="0"/>
                        </a:spcAft>
                        <a:defRPr sz="2600" b="0">
                          <a:solidFill>
                            <a:srgbClr val="18283B"/>
                          </a:solidFill>
                          <a:latin typeface="Aptos"/>
                        </a:defRPr>
                      </a:pPr>
                      <a:r>
                        <a:t>1.37×</a:t>
                      </a:r>
                    </a:p>
                  </a:txBody>
                  <a:tcPr marL="146304" marR="109728" marT="73152" marB="54864" anchor="ctr">
                    <a:solidFill>
                      <a:srgbClr val="F5F7FA"/>
                    </a:solidFill>
                  </a:tcPr>
                </a:tc>
                <a:tc>
                  <a:txBody>
                    <a:bodyPr/>
                    <a:lstStyle/>
                    <a:p>
                      <a:pPr>
                        <a:spcAft>
                          <a:spcPts val="0"/>
                        </a:spcAft>
                        <a:defRPr sz="2600" b="0">
                          <a:solidFill>
                            <a:srgbClr val="18283B"/>
                          </a:solidFill>
                          <a:latin typeface="Aptos"/>
                        </a:defRPr>
                      </a:pPr>
                      <a:r>
                        <a:t>9.41×</a:t>
                      </a:r>
                    </a:p>
                  </a:txBody>
                  <a:tcPr marL="146304" marR="109728" marT="73152" marB="54864" anchor="ctr">
                    <a:solidFill>
                      <a:srgbClr val="F5F7FA"/>
                    </a:solidFill>
                  </a:tcPr>
                </a:tc>
              </a:tr>
            </a:tbl>
          </a:graphicData>
        </a:graphic>
      </p:graphicFrame>
      <p:sp>
        <p:nvSpPr>
          <p:cNvPr id="9" name="Rectangle 8"/>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Choose concurrency against a latency objective.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Long input changes which metric wins</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Qwen context uses an earlier, smaller cache pool; a controlled rerun is needed.</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§3; ctx_isl131072_c8.json</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7</a:t>
            </a:r>
          </a:p>
        </p:txBody>
      </p:sp>
      <p:sp>
        <p:nvSpPr>
          <p:cNvPr id="7" name="TextBox 6"/>
          <p:cNvSpPr txBox="1"/>
          <p:nvPr/>
        </p:nvSpPr>
        <p:spPr>
          <a:xfrm>
            <a:off x="594360" y="1737360"/>
            <a:ext cx="10972800" cy="457200"/>
          </a:xfrm>
          <a:prstGeom prst="rect">
            <a:avLst/>
          </a:prstGeom>
          <a:noFill/>
        </p:spPr>
        <p:txBody>
          <a:bodyPr wrap="square" lIns="0" rIns="0" tIns="0" bIns="0">
            <a:spAutoFit/>
          </a:bodyPr>
          <a:lstStyle/>
          <a:p>
            <a:pPr>
              <a:spcAft>
                <a:spcPts val="1200"/>
              </a:spcAft>
              <a:defRPr sz="2400" b="0">
                <a:solidFill>
                  <a:srgbClr val="596777"/>
                </a:solidFill>
                <a:latin typeface="Aptos"/>
              </a:defRPr>
            </a:pPr>
            <a:r>
              <a:t>131K input  ·  256 output  ·  Concurrency 8</a:t>
            </a:r>
          </a:p>
        </p:txBody>
      </p:sp>
      <p:graphicFrame>
        <p:nvGraphicFramePr>
          <p:cNvPr id="8" name="Table 7"/>
          <p:cNvGraphicFramePr>
            <a:graphicFrameLocks noGrp="1"/>
          </p:cNvGraphicFramePr>
          <p:nvPr/>
        </p:nvGraphicFramePr>
        <p:xfrm>
          <a:off x="594360" y="2423160"/>
          <a:ext cx="10972800" cy="2377440"/>
        </p:xfrm>
        <a:graphic>
          <a:graphicData uri="http://schemas.openxmlformats.org/drawingml/2006/table">
            <a:tbl>
              <a:tblPr firstRow="1" bandRow="1">
                <a:tableStyleId>{5C22544A-7EE6-4342-B048-85BDC9FD1C3A}</a:tableStyleId>
              </a:tblPr>
              <a:tblGrid>
                <a:gridCol w="3657600"/>
                <a:gridCol w="3657600"/>
                <a:gridCol w="3657600"/>
              </a:tblGrid>
              <a:tr h="594360">
                <a:tc>
                  <a:txBody>
                    <a:bodyPr/>
                    <a:lstStyle/>
                    <a:p>
                      <a:pPr>
                        <a:spcAft>
                          <a:spcPts val="0"/>
                        </a:spcAft>
                        <a:defRPr sz="2300" b="1">
                          <a:solidFill>
                            <a:srgbClr val="FFFFFF"/>
                          </a:solidFill>
                          <a:latin typeface="Aptos"/>
                        </a:defRPr>
                      </a:pPr>
                      <a:r>
                        <a:t>Model</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Output tokens/s</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First-token latency</a:t>
                      </a:r>
                    </a:p>
                  </a:txBody>
                  <a:tcPr marL="146304" marR="109728" marT="73152" marB="54864" anchor="ctr">
                    <a:solidFill>
                      <a:srgbClr val="2463A6"/>
                    </a:solidFill>
                  </a:tcPr>
                </a:tc>
              </a:tr>
              <a:tr h="594360">
                <a:tc>
                  <a:txBody>
                    <a:bodyPr/>
                    <a:lstStyle/>
                    <a:p>
                      <a:pPr>
                        <a:spcAft>
                          <a:spcPts val="0"/>
                        </a:spcAft>
                        <a:defRPr sz="2500" b="0">
                          <a:solidFill>
                            <a:srgbClr val="18283B"/>
                          </a:solidFill>
                          <a:latin typeface="Aptos"/>
                        </a:defRPr>
                      </a:pPr>
                      <a:r>
                        <a:t>Qwen</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56.5</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19.84 s</a:t>
                      </a:r>
                    </a:p>
                  </a:txBody>
                  <a:tcPr marL="146304" marR="109728" marT="73152" marB="54864" anchor="ctr">
                    <a:solidFill>
                      <a:srgbClr val="FFFFFF"/>
                    </a:solidFill>
                  </a:tcPr>
                </a:tc>
              </a:tr>
              <a:tr h="594360">
                <a:tc>
                  <a:txBody>
                    <a:bodyPr/>
                    <a:lstStyle/>
                    <a:p>
                      <a:pPr>
                        <a:spcAft>
                          <a:spcPts val="0"/>
                        </a:spcAft>
                        <a:defRPr sz="2500" b="0">
                          <a:solidFill>
                            <a:srgbClr val="18283B"/>
                          </a:solidFill>
                          <a:latin typeface="Aptos"/>
                        </a:defRPr>
                      </a:pPr>
                      <a:r>
                        <a:t>GLM</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47.2</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12.89 s</a:t>
                      </a:r>
                    </a:p>
                  </a:txBody>
                  <a:tcPr marL="146304" marR="109728" marT="73152" marB="54864" anchor="ctr">
                    <a:solidFill>
                      <a:srgbClr val="F5F7FA"/>
                    </a:solidFill>
                  </a:tcPr>
                </a:tc>
              </a:tr>
              <a:tr h="594360">
                <a:tc>
                  <a:txBody>
                    <a:bodyPr/>
                    <a:lstStyle/>
                    <a:p>
                      <a:pPr>
                        <a:spcAft>
                          <a:spcPts val="0"/>
                        </a:spcAft>
                        <a:defRPr sz="2500" b="0">
                          <a:solidFill>
                            <a:srgbClr val="18283B"/>
                          </a:solidFill>
                          <a:latin typeface="Aptos"/>
                        </a:defRPr>
                      </a:pPr>
                      <a:r>
                        <a:t>DeepSeek</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34.7</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26.66 s</a:t>
                      </a:r>
                    </a:p>
                  </a:txBody>
                  <a:tcPr marL="146304" marR="109728" marT="73152" marB="54864" anchor="ctr">
                    <a:solidFill>
                      <a:srgbClr val="FFFFFF"/>
                    </a:solidFill>
                  </a:tcPr>
                </a:tc>
              </a:tr>
            </a:tbl>
          </a:graphicData>
        </a:graphic>
      </p:graphicFrame>
      <p:sp>
        <p:nvSpPr>
          <p:cNvPr id="9" name="Rectangle 8"/>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Highest throughput ≠ fastest first token.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Prefix reuse needs consistent model state</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64 requests; 64K shared + 2K unique input; concurrency 8. No cache-on/off control.</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§4; prefix_p64k_n*.json</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8</a:t>
            </a:r>
          </a:p>
        </p:txBody>
      </p:sp>
      <p:graphicFrame>
        <p:nvGraphicFramePr>
          <p:cNvPr id="7" name="Table 6"/>
          <p:cNvGraphicFramePr>
            <a:graphicFrameLocks noGrp="1"/>
          </p:cNvGraphicFramePr>
          <p:nvPr/>
        </p:nvGraphicFramePr>
        <p:xfrm>
          <a:off x="594360" y="1828800"/>
          <a:ext cx="10972800" cy="2487168"/>
        </p:xfrm>
        <a:graphic>
          <a:graphicData uri="http://schemas.openxmlformats.org/drawingml/2006/table">
            <a:tbl>
              <a:tblPr firstRow="1" bandRow="1">
                <a:tableStyleId>{5C22544A-7EE6-4342-B048-85BDC9FD1C3A}</a:tableStyleId>
              </a:tblPr>
              <a:tblGrid>
                <a:gridCol w="3657600"/>
                <a:gridCol w="3657600"/>
                <a:gridCol w="3657600"/>
              </a:tblGrid>
              <a:tr h="621792">
                <a:tc>
                  <a:txBody>
                    <a:bodyPr/>
                    <a:lstStyle/>
                    <a:p>
                      <a:pPr>
                        <a:spcAft>
                          <a:spcPts val="0"/>
                        </a:spcAft>
                        <a:defRPr sz="2300" b="1">
                          <a:solidFill>
                            <a:srgbClr val="FFFFFF"/>
                          </a:solidFill>
                          <a:latin typeface="Aptos"/>
                        </a:defRPr>
                      </a:pPr>
                      <a:r>
                        <a:t>Distinct prefixes</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GLM tokens/s</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DeepSeek tokens/s</a:t>
                      </a:r>
                    </a:p>
                  </a:txBody>
                  <a:tcPr marL="146304" marR="109728" marT="73152" marB="54864" anchor="ctr">
                    <a:solidFill>
                      <a:srgbClr val="2463A6"/>
                    </a:solidFill>
                  </a:tcPr>
                </a:tc>
              </a:tr>
              <a:tr h="621792">
                <a:tc>
                  <a:txBody>
                    <a:bodyPr/>
                    <a:lstStyle/>
                    <a:p>
                      <a:pPr>
                        <a:spcAft>
                          <a:spcPts val="0"/>
                        </a:spcAft>
                        <a:defRPr sz="2500" b="0">
                          <a:solidFill>
                            <a:srgbClr val="18283B"/>
                          </a:solidFill>
                          <a:latin typeface="Aptos"/>
                        </a:defRPr>
                      </a:pPr>
                      <a:r>
                        <a:t>1</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265.3</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198.2</a:t>
                      </a:r>
                    </a:p>
                  </a:txBody>
                  <a:tcPr marL="146304" marR="109728" marT="73152" marB="54864" anchor="ctr">
                    <a:solidFill>
                      <a:srgbClr val="FFFFFF"/>
                    </a:solidFill>
                  </a:tcPr>
                </a:tc>
              </a:tr>
              <a:tr h="621792">
                <a:tc>
                  <a:txBody>
                    <a:bodyPr/>
                    <a:lstStyle/>
                    <a:p>
                      <a:pPr>
                        <a:spcAft>
                          <a:spcPts val="0"/>
                        </a:spcAft>
                        <a:defRPr sz="2500" b="1">
                          <a:solidFill>
                            <a:srgbClr val="18283B"/>
                          </a:solidFill>
                          <a:latin typeface="Aptos"/>
                        </a:defRPr>
                      </a:pPr>
                      <a:r>
                        <a:t>4</a:t>
                      </a:r>
                    </a:p>
                  </a:txBody>
                  <a:tcPr marL="146304" marR="109728" marT="73152" marB="54864" anchor="ctr">
                    <a:solidFill>
                      <a:srgbClr val="EDF3FA"/>
                    </a:solidFill>
                  </a:tcPr>
                </a:tc>
                <a:tc>
                  <a:txBody>
                    <a:bodyPr/>
                    <a:lstStyle/>
                    <a:p>
                      <a:pPr>
                        <a:spcAft>
                          <a:spcPts val="0"/>
                        </a:spcAft>
                        <a:defRPr sz="2500" b="1">
                          <a:solidFill>
                            <a:srgbClr val="18283B"/>
                          </a:solidFill>
                          <a:latin typeface="Aptos"/>
                        </a:defRPr>
                      </a:pPr>
                      <a:r>
                        <a:t>365.9</a:t>
                      </a:r>
                    </a:p>
                  </a:txBody>
                  <a:tcPr marL="146304" marR="109728" marT="73152" marB="54864" anchor="ctr">
                    <a:solidFill>
                      <a:srgbClr val="EDF3FA"/>
                    </a:solidFill>
                  </a:tcPr>
                </a:tc>
                <a:tc>
                  <a:txBody>
                    <a:bodyPr/>
                    <a:lstStyle/>
                    <a:p>
                      <a:pPr>
                        <a:spcAft>
                          <a:spcPts val="0"/>
                        </a:spcAft>
                        <a:defRPr sz="2500" b="1">
                          <a:solidFill>
                            <a:srgbClr val="18283B"/>
                          </a:solidFill>
                          <a:latin typeface="Aptos"/>
                        </a:defRPr>
                      </a:pPr>
                      <a:r>
                        <a:t>391.6</a:t>
                      </a:r>
                    </a:p>
                  </a:txBody>
                  <a:tcPr marL="146304" marR="109728" marT="73152" marB="54864" anchor="ctr">
                    <a:solidFill>
                      <a:srgbClr val="EDF3FA"/>
                    </a:solidFill>
                  </a:tcPr>
                </a:tc>
              </a:tr>
              <a:tr h="621792">
                <a:tc>
                  <a:txBody>
                    <a:bodyPr/>
                    <a:lstStyle/>
                    <a:p>
                      <a:pPr>
                        <a:spcAft>
                          <a:spcPts val="0"/>
                        </a:spcAft>
                        <a:defRPr sz="2500" b="0">
                          <a:solidFill>
                            <a:srgbClr val="18283B"/>
                          </a:solidFill>
                          <a:latin typeface="Aptos"/>
                        </a:defRPr>
                      </a:pPr>
                      <a:r>
                        <a:t>16</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199.4</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114.6</a:t>
                      </a:r>
                    </a:p>
                  </a:txBody>
                  <a:tcPr marL="146304" marR="109728" marT="73152" marB="54864" anchor="ctr">
                    <a:solidFill>
                      <a:srgbClr val="FFFFFF"/>
                    </a:solidFill>
                  </a:tcPr>
                </a:tc>
              </a:tr>
            </a:tbl>
          </a:graphicData>
        </a:graphic>
      </p:graphicFrame>
      <p:sp>
        <p:nvSpPr>
          <p:cNvPr id="8" name="TextBox 7"/>
          <p:cNvSpPr txBox="1"/>
          <p:nvPr/>
        </p:nvSpPr>
        <p:spPr>
          <a:xfrm>
            <a:off x="640080" y="4617720"/>
            <a:ext cx="10972800" cy="475488"/>
          </a:xfrm>
          <a:prstGeom prst="rect">
            <a:avLst/>
          </a:prstGeom>
          <a:noFill/>
        </p:spPr>
        <p:txBody>
          <a:bodyPr wrap="square" lIns="0" rIns="0" tIns="0" bIns="0">
            <a:spAutoFit/>
          </a:bodyPr>
          <a:lstStyle/>
          <a:p>
            <a:pPr>
              <a:spcAft>
                <a:spcPts val="1200"/>
              </a:spcAft>
              <a:defRPr sz="2500" b="0">
                <a:solidFill>
                  <a:srgbClr val="18283B"/>
                </a:solidFill>
                <a:latin typeface="Aptos"/>
              </a:defRPr>
            </a:pPr>
            <a:r>
              <a:t>Maximum sharing did not maximize throughput.</a:t>
            </a:r>
          </a:p>
        </p:txBody>
      </p:sp>
      <p:sp>
        <p:nvSpPr>
          <p:cNvPr id="9" name="Rectangle 8"/>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5404103"/>
            <a:ext cx="10652760" cy="420624"/>
          </a:xfrm>
          <a:prstGeom prst="rect">
            <a:avLst/>
          </a:prstGeom>
          <a:noFill/>
        </p:spPr>
        <p:txBody>
          <a:bodyPr wrap="square" lIns="0" rIns="0" tIns="0" bIns="0">
            <a:spAutoFit/>
          </a:bodyPr>
          <a:lstStyle/>
          <a:p>
            <a:pPr>
              <a:spcAft>
                <a:spcPts val="1200"/>
              </a:spcAft>
              <a:defRPr sz="2300" b="1">
                <a:solidFill>
                  <a:srgbClr val="2463A6"/>
                </a:solidFill>
                <a:latin typeface="Aptos"/>
              </a:defRPr>
            </a:pPr>
            <a:r>
              <a:t>Restore both KV and recurrent state at one boundary.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MTP helps some workloads, hurts others</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Ratios are throughput with MTP ÷ base throughput. Scheduling explanations remain hypotheses.</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§5; controlled GLM base / MTP arms</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9</a:t>
            </a:r>
          </a:p>
        </p:txBody>
      </p:sp>
      <p:graphicFrame>
        <p:nvGraphicFramePr>
          <p:cNvPr id="7" name="Table 6"/>
          <p:cNvGraphicFramePr>
            <a:graphicFrameLocks noGrp="1"/>
          </p:cNvGraphicFramePr>
          <p:nvPr/>
        </p:nvGraphicFramePr>
        <p:xfrm>
          <a:off x="594360" y="1828800"/>
          <a:ext cx="10972800" cy="2971800"/>
        </p:xfrm>
        <a:graphic>
          <a:graphicData uri="http://schemas.openxmlformats.org/drawingml/2006/table">
            <a:tbl>
              <a:tblPr firstRow="1" bandRow="1">
                <a:tableStyleId>{5C22544A-7EE6-4342-B048-85BDC9FD1C3A}</a:tableStyleId>
              </a:tblPr>
              <a:tblGrid>
                <a:gridCol w="3657600"/>
                <a:gridCol w="3657600"/>
                <a:gridCol w="3657600"/>
              </a:tblGrid>
              <a:tr h="594360">
                <a:tc>
                  <a:txBody>
                    <a:bodyPr/>
                    <a:lstStyle/>
                    <a:p>
                      <a:pPr>
                        <a:spcAft>
                          <a:spcPts val="0"/>
                        </a:spcAft>
                        <a:defRPr sz="2300" b="1">
                          <a:solidFill>
                            <a:srgbClr val="FFFFFF"/>
                          </a:solidFill>
                          <a:latin typeface="Aptos"/>
                        </a:defRPr>
                      </a:pPr>
                      <a:r>
                        <a:t>GLM concurrency</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1 draft token</a:t>
                      </a:r>
                    </a:p>
                  </a:txBody>
                  <a:tcPr marL="146304" marR="109728" marT="73152" marB="54864" anchor="ctr">
                    <a:solidFill>
                      <a:srgbClr val="2463A6"/>
                    </a:solidFill>
                  </a:tcPr>
                </a:tc>
                <a:tc>
                  <a:txBody>
                    <a:bodyPr/>
                    <a:lstStyle/>
                    <a:p>
                      <a:pPr>
                        <a:spcAft>
                          <a:spcPts val="0"/>
                        </a:spcAft>
                        <a:defRPr sz="2300" b="1">
                          <a:solidFill>
                            <a:srgbClr val="FFFFFF"/>
                          </a:solidFill>
                          <a:latin typeface="Aptos"/>
                        </a:defRPr>
                      </a:pPr>
                      <a:r>
                        <a:t>5 draft tokens</a:t>
                      </a:r>
                    </a:p>
                  </a:txBody>
                  <a:tcPr marL="146304" marR="109728" marT="73152" marB="54864" anchor="ctr">
                    <a:solidFill>
                      <a:srgbClr val="2463A6"/>
                    </a:solidFill>
                  </a:tcPr>
                </a:tc>
              </a:tr>
              <a:tr h="594360">
                <a:tc>
                  <a:txBody>
                    <a:bodyPr/>
                    <a:lstStyle/>
                    <a:p>
                      <a:pPr>
                        <a:spcAft>
                          <a:spcPts val="0"/>
                        </a:spcAft>
                        <a:defRPr sz="2500" b="0">
                          <a:solidFill>
                            <a:srgbClr val="18283B"/>
                          </a:solidFill>
                          <a:latin typeface="Aptos"/>
                        </a:defRPr>
                      </a:pPr>
                      <a:r>
                        <a:t>1</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1.24×</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1.25×</a:t>
                      </a:r>
                    </a:p>
                  </a:txBody>
                  <a:tcPr marL="146304" marR="109728" marT="73152" marB="54864" anchor="ctr">
                    <a:solidFill>
                      <a:srgbClr val="FFFFFF"/>
                    </a:solidFill>
                  </a:tcPr>
                </a:tc>
              </a:tr>
              <a:tr h="594360">
                <a:tc>
                  <a:txBody>
                    <a:bodyPr/>
                    <a:lstStyle/>
                    <a:p>
                      <a:pPr>
                        <a:spcAft>
                          <a:spcPts val="0"/>
                        </a:spcAft>
                        <a:defRPr sz="2500" b="0">
                          <a:solidFill>
                            <a:srgbClr val="18283B"/>
                          </a:solidFill>
                          <a:latin typeface="Aptos"/>
                        </a:defRPr>
                      </a:pPr>
                      <a:r>
                        <a:t>4</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1.06×</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1.02×</a:t>
                      </a:r>
                    </a:p>
                  </a:txBody>
                  <a:tcPr marL="146304" marR="109728" marT="73152" marB="54864" anchor="ctr">
                    <a:solidFill>
                      <a:srgbClr val="F5F7FA"/>
                    </a:solidFill>
                  </a:tcPr>
                </a:tc>
              </a:tr>
              <a:tr h="594360">
                <a:tc>
                  <a:txBody>
                    <a:bodyPr/>
                    <a:lstStyle/>
                    <a:p>
                      <a:pPr>
                        <a:spcAft>
                          <a:spcPts val="0"/>
                        </a:spcAft>
                        <a:defRPr sz="2500" b="0">
                          <a:solidFill>
                            <a:srgbClr val="18283B"/>
                          </a:solidFill>
                          <a:latin typeface="Aptos"/>
                        </a:defRPr>
                      </a:pPr>
                      <a:r>
                        <a:t>16</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0.96×</a:t>
                      </a:r>
                    </a:p>
                  </a:txBody>
                  <a:tcPr marL="146304" marR="109728" marT="73152" marB="54864" anchor="ctr">
                    <a:solidFill>
                      <a:srgbClr val="FFFFFF"/>
                    </a:solidFill>
                  </a:tcPr>
                </a:tc>
                <a:tc>
                  <a:txBody>
                    <a:bodyPr/>
                    <a:lstStyle/>
                    <a:p>
                      <a:pPr>
                        <a:spcAft>
                          <a:spcPts val="0"/>
                        </a:spcAft>
                        <a:defRPr sz="2500" b="0">
                          <a:solidFill>
                            <a:srgbClr val="18283B"/>
                          </a:solidFill>
                          <a:latin typeface="Aptos"/>
                        </a:defRPr>
                      </a:pPr>
                      <a:r>
                        <a:t>0.95×</a:t>
                      </a:r>
                    </a:p>
                  </a:txBody>
                  <a:tcPr marL="146304" marR="109728" marT="73152" marB="54864" anchor="ctr">
                    <a:solidFill>
                      <a:srgbClr val="FFFFFF"/>
                    </a:solidFill>
                  </a:tcPr>
                </a:tc>
              </a:tr>
              <a:tr h="594360">
                <a:tc>
                  <a:txBody>
                    <a:bodyPr/>
                    <a:lstStyle/>
                    <a:p>
                      <a:pPr>
                        <a:spcAft>
                          <a:spcPts val="0"/>
                        </a:spcAft>
                        <a:defRPr sz="2500" b="0">
                          <a:solidFill>
                            <a:srgbClr val="18283B"/>
                          </a:solidFill>
                          <a:latin typeface="Aptos"/>
                        </a:defRPr>
                      </a:pPr>
                      <a:r>
                        <a:t>64</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0.99×</a:t>
                      </a:r>
                    </a:p>
                  </a:txBody>
                  <a:tcPr marL="146304" marR="109728" marT="73152" marB="54864" anchor="ctr">
                    <a:solidFill>
                      <a:srgbClr val="F5F7FA"/>
                    </a:solidFill>
                  </a:tcPr>
                </a:tc>
                <a:tc>
                  <a:txBody>
                    <a:bodyPr/>
                    <a:lstStyle/>
                    <a:p>
                      <a:pPr>
                        <a:spcAft>
                          <a:spcPts val="0"/>
                        </a:spcAft>
                        <a:defRPr sz="2500" b="0">
                          <a:solidFill>
                            <a:srgbClr val="18283B"/>
                          </a:solidFill>
                          <a:latin typeface="Aptos"/>
                        </a:defRPr>
                      </a:pPr>
                      <a:r>
                        <a:t>0.91×</a:t>
                      </a:r>
                    </a:p>
                  </a:txBody>
                  <a:tcPr marL="146304" marR="109728" marT="73152" marB="54864" anchor="ctr">
                    <a:solidFill>
                      <a:srgbClr val="F5F7FA"/>
                    </a:solidFill>
                  </a:tcPr>
                </a:tc>
              </a:tr>
            </a:tbl>
          </a:graphicData>
        </a:graphic>
      </p:graphicFrame>
      <p:sp>
        <p:nvSpPr>
          <p:cNvPr id="8" name="Rectangle 7"/>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404103"/>
            <a:ext cx="10652760" cy="420624"/>
          </a:xfrm>
          <a:prstGeom prst="rect">
            <a:avLst/>
          </a:prstGeom>
          <a:noFill/>
        </p:spPr>
        <p:txBody>
          <a:bodyPr wrap="square" lIns="0" rIns="0" tIns="0" bIns="0">
            <a:spAutoFit/>
          </a:bodyPr>
          <a:lstStyle/>
          <a:p>
            <a:pPr>
              <a:spcAft>
                <a:spcPts val="1200"/>
              </a:spcAft>
              <a:defRPr sz="2300" b="1">
                <a:solidFill>
                  <a:srgbClr val="2463A6"/>
                </a:solidFill>
                <a:latin typeface="Aptos"/>
              </a:defRPr>
            </a:pPr>
            <a:r>
              <a:t>At 131K: first-token latency −17%; throughput −4%.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Serving cost depends on the workload</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Includes input work. Illustrative price, not a quote; no quality adjustment or idle-time cost.</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§6; calculated from raw throughput</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10</a:t>
            </a:r>
          </a:p>
        </p:txBody>
      </p:sp>
      <p:sp>
        <p:nvSpPr>
          <p:cNvPr id="7" name="TextBox 6"/>
          <p:cNvSpPr txBox="1"/>
          <p:nvPr/>
        </p:nvSpPr>
        <p:spPr>
          <a:xfrm>
            <a:off x="594360" y="1755648"/>
            <a:ext cx="10972800" cy="502920"/>
          </a:xfrm>
          <a:prstGeom prst="rect">
            <a:avLst/>
          </a:prstGeom>
          <a:noFill/>
        </p:spPr>
        <p:txBody>
          <a:bodyPr wrap="square" lIns="0" rIns="0" tIns="0" bIns="0">
            <a:spAutoFit/>
          </a:bodyPr>
          <a:lstStyle/>
          <a:p>
            <a:pPr>
              <a:spcAft>
                <a:spcPts val="1200"/>
              </a:spcAft>
              <a:defRPr sz="2700" b="1">
                <a:solidFill>
                  <a:srgbClr val="2463A6"/>
                </a:solidFill>
                <a:latin typeface="Aptos"/>
              </a:defRPr>
            </a:pPr>
            <a:r>
              <a:t>Assume $2.50/GPU-hour → $20/node-hour</a:t>
            </a:r>
          </a:p>
        </p:txBody>
      </p:sp>
      <p:sp>
        <p:nvSpPr>
          <p:cNvPr id="8" name="TextBox 7"/>
          <p:cNvSpPr txBox="1"/>
          <p:nvPr/>
        </p:nvSpPr>
        <p:spPr>
          <a:xfrm>
            <a:off x="594360" y="2377440"/>
            <a:ext cx="10972800" cy="457200"/>
          </a:xfrm>
          <a:prstGeom prst="rect">
            <a:avLst/>
          </a:prstGeom>
          <a:noFill/>
        </p:spPr>
        <p:txBody>
          <a:bodyPr wrap="square" lIns="0" rIns="0" tIns="0" bIns="0">
            <a:spAutoFit/>
          </a:bodyPr>
          <a:lstStyle/>
          <a:p>
            <a:pPr>
              <a:spcAft>
                <a:spcPts val="1200"/>
              </a:spcAft>
              <a:defRPr sz="2300" b="0">
                <a:solidFill>
                  <a:srgbClr val="596777"/>
                </a:solidFill>
                <a:latin typeface="Aptos"/>
              </a:defRPr>
            </a:pPr>
            <a:r>
              <a:t>16K input / 256 output  ·  Concurrency 64</a:t>
            </a:r>
          </a:p>
        </p:txBody>
      </p:sp>
      <p:graphicFrame>
        <p:nvGraphicFramePr>
          <p:cNvPr id="9" name="Table 8"/>
          <p:cNvGraphicFramePr>
            <a:graphicFrameLocks noGrp="1"/>
          </p:cNvGraphicFramePr>
          <p:nvPr/>
        </p:nvGraphicFramePr>
        <p:xfrm>
          <a:off x="594360" y="3108960"/>
          <a:ext cx="10972800" cy="1517904"/>
        </p:xfrm>
        <a:graphic>
          <a:graphicData uri="http://schemas.openxmlformats.org/drawingml/2006/table">
            <a:tbl>
              <a:tblPr firstRow="1" bandRow="1">
                <a:tableStyleId>{5C22544A-7EE6-4342-B048-85BDC9FD1C3A}</a:tableStyleId>
              </a:tblPr>
              <a:tblGrid>
                <a:gridCol w="3657600"/>
                <a:gridCol w="3657600"/>
                <a:gridCol w="3657600"/>
              </a:tblGrid>
              <a:tr h="758952">
                <a:tc>
                  <a:txBody>
                    <a:bodyPr/>
                    <a:lstStyle/>
                    <a:p>
                      <a:pPr>
                        <a:spcAft>
                          <a:spcPts val="0"/>
                        </a:spcAft>
                        <a:defRPr sz="3200" b="1">
                          <a:solidFill>
                            <a:srgbClr val="FFFFFF"/>
                          </a:solidFill>
                          <a:latin typeface="Aptos"/>
                        </a:defRPr>
                      </a:pPr>
                      <a:r>
                        <a:t>Qwen</a:t>
                      </a:r>
                    </a:p>
                  </a:txBody>
                  <a:tcPr marL="146304" marR="109728" marT="73152" marB="54864" anchor="ctr">
                    <a:solidFill>
                      <a:srgbClr val="2463A6"/>
                    </a:solidFill>
                  </a:tcPr>
                </a:tc>
                <a:tc>
                  <a:txBody>
                    <a:bodyPr/>
                    <a:lstStyle/>
                    <a:p>
                      <a:pPr>
                        <a:spcAft>
                          <a:spcPts val="0"/>
                        </a:spcAft>
                        <a:defRPr sz="3200" b="1">
                          <a:solidFill>
                            <a:srgbClr val="FFFFFF"/>
                          </a:solidFill>
                          <a:latin typeface="Aptos"/>
                        </a:defRPr>
                      </a:pPr>
                      <a:r>
                        <a:t>GLM</a:t>
                      </a:r>
                    </a:p>
                  </a:txBody>
                  <a:tcPr marL="146304" marR="109728" marT="73152" marB="54864" anchor="ctr">
                    <a:solidFill>
                      <a:srgbClr val="2463A6"/>
                    </a:solidFill>
                  </a:tcPr>
                </a:tc>
                <a:tc>
                  <a:txBody>
                    <a:bodyPr/>
                    <a:lstStyle/>
                    <a:p>
                      <a:pPr>
                        <a:spcAft>
                          <a:spcPts val="0"/>
                        </a:spcAft>
                        <a:defRPr sz="3200" b="1">
                          <a:solidFill>
                            <a:srgbClr val="FFFFFF"/>
                          </a:solidFill>
                          <a:latin typeface="Aptos"/>
                        </a:defRPr>
                      </a:pPr>
                      <a:r>
                        <a:t>DeepSeek</a:t>
                      </a:r>
                    </a:p>
                  </a:txBody>
                  <a:tcPr marL="146304" marR="109728" marT="73152" marB="54864" anchor="ctr">
                    <a:solidFill>
                      <a:srgbClr val="2463A6"/>
                    </a:solidFill>
                  </a:tcPr>
                </a:tc>
              </a:tr>
              <a:tr h="758952">
                <a:tc>
                  <a:txBody>
                    <a:bodyPr/>
                    <a:lstStyle/>
                    <a:p>
                      <a:pPr>
                        <a:spcAft>
                          <a:spcPts val="0"/>
                        </a:spcAft>
                        <a:defRPr sz="3400" b="0">
                          <a:solidFill>
                            <a:srgbClr val="18283B"/>
                          </a:solidFill>
                          <a:latin typeface="Aptos"/>
                        </a:defRPr>
                      </a:pPr>
                      <a:r>
                        <a:t>$10.73</a:t>
                      </a:r>
                    </a:p>
                  </a:txBody>
                  <a:tcPr marL="146304" marR="109728" marT="73152" marB="54864" anchor="ctr">
                    <a:solidFill>
                      <a:srgbClr val="FFFFFF"/>
                    </a:solidFill>
                  </a:tcPr>
                </a:tc>
                <a:tc>
                  <a:txBody>
                    <a:bodyPr/>
                    <a:lstStyle/>
                    <a:p>
                      <a:pPr>
                        <a:spcAft>
                          <a:spcPts val="0"/>
                        </a:spcAft>
                        <a:defRPr sz="3400" b="0">
                          <a:solidFill>
                            <a:srgbClr val="18283B"/>
                          </a:solidFill>
                          <a:latin typeface="Aptos"/>
                        </a:defRPr>
                      </a:pPr>
                      <a:r>
                        <a:t>$12.43</a:t>
                      </a:r>
                    </a:p>
                  </a:txBody>
                  <a:tcPr marL="146304" marR="109728" marT="73152" marB="54864" anchor="ctr">
                    <a:solidFill>
                      <a:srgbClr val="FFFFFF"/>
                    </a:solidFill>
                  </a:tcPr>
                </a:tc>
                <a:tc>
                  <a:txBody>
                    <a:bodyPr/>
                    <a:lstStyle/>
                    <a:p>
                      <a:pPr>
                        <a:spcAft>
                          <a:spcPts val="0"/>
                        </a:spcAft>
                        <a:defRPr sz="3400" b="0">
                          <a:solidFill>
                            <a:srgbClr val="18283B"/>
                          </a:solidFill>
                          <a:latin typeface="Aptos"/>
                        </a:defRPr>
                      </a:pPr>
                      <a:r>
                        <a:t>$14.27</a:t>
                      </a:r>
                    </a:p>
                  </a:txBody>
                  <a:tcPr marL="146304" marR="109728" marT="73152" marB="54864" anchor="ctr">
                    <a:solidFill>
                      <a:srgbClr val="FFFFFF"/>
                    </a:solidFill>
                  </a:tcPr>
                </a:tc>
              </a:tr>
            </a:tbl>
          </a:graphicData>
        </a:graphic>
      </p:graphicFrame>
      <p:sp>
        <p:nvSpPr>
          <p:cNvPr id="10" name="Rectangle 9"/>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404103"/>
            <a:ext cx="10652760" cy="420624"/>
          </a:xfrm>
          <a:prstGeom prst="rect">
            <a:avLst/>
          </a:prstGeom>
          <a:noFill/>
        </p:spPr>
        <p:txBody>
          <a:bodyPr wrap="square" lIns="0" rIns="0" tIns="0" bIns="0">
            <a:spAutoFit/>
          </a:bodyPr>
          <a:lstStyle/>
          <a:p>
            <a:pPr>
              <a:spcAft>
                <a:spcPts val="1200"/>
              </a:spcAft>
              <a:defRPr sz="2500" b="1">
                <a:solidFill>
                  <a:srgbClr val="2463A6"/>
                </a:solidFill>
                <a:latin typeface="Aptos"/>
              </a:defRPr>
            </a:pPr>
            <a:r>
              <a:t>Dollars per million output tokens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Debugging connects architecture to the result</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fix_bug.md Bugs 1, 6, 12; report.md §2</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11</a:t>
            </a:r>
          </a:p>
        </p:txBody>
      </p:sp>
      <p:graphicFrame>
        <p:nvGraphicFramePr>
          <p:cNvPr id="6" name="Table 5"/>
          <p:cNvGraphicFramePr>
            <a:graphicFrameLocks noGrp="1"/>
          </p:cNvGraphicFramePr>
          <p:nvPr/>
        </p:nvGraphicFramePr>
        <p:xfrm>
          <a:off x="594360" y="1828800"/>
          <a:ext cx="10972799" cy="3218688"/>
        </p:xfrm>
        <a:graphic>
          <a:graphicData uri="http://schemas.openxmlformats.org/drawingml/2006/table">
            <a:tbl>
              <a:tblPr firstRow="1" bandRow="1">
                <a:tableStyleId>{5C22544A-7EE6-4342-B048-85BDC9FD1C3A}</a:tableStyleId>
              </a:tblPr>
              <a:tblGrid>
                <a:gridCol w="3383280"/>
                <a:gridCol w="3749039"/>
                <a:gridCol w="3840480"/>
              </a:tblGrid>
              <a:tr h="804672">
                <a:tc>
                  <a:txBody>
                    <a:bodyPr/>
                    <a:lstStyle/>
                    <a:p>
                      <a:pPr>
                        <a:spcAft>
                          <a:spcPts val="0"/>
                        </a:spcAft>
                        <a:defRPr sz="1900" b="1">
                          <a:solidFill>
                            <a:srgbClr val="FFFFFF"/>
                          </a:solidFill>
                          <a:latin typeface="Aptos"/>
                        </a:defRPr>
                      </a:pPr>
                      <a:r>
                        <a:t>Feature</a:t>
                      </a:r>
                    </a:p>
                  </a:txBody>
                  <a:tcPr marL="146304" marR="109728" marT="73152" marB="54864" anchor="ctr">
                    <a:solidFill>
                      <a:srgbClr val="2463A6"/>
                    </a:solidFill>
                  </a:tcPr>
                </a:tc>
                <a:tc>
                  <a:txBody>
                    <a:bodyPr/>
                    <a:lstStyle/>
                    <a:p>
                      <a:pPr>
                        <a:spcAft>
                          <a:spcPts val="0"/>
                        </a:spcAft>
                        <a:defRPr sz="1900" b="1">
                          <a:solidFill>
                            <a:srgbClr val="FFFFFF"/>
                          </a:solidFill>
                          <a:latin typeface="Aptos"/>
                        </a:defRPr>
                      </a:pPr>
                      <a:r>
                        <a:t>Observed failure</a:t>
                      </a:r>
                    </a:p>
                  </a:txBody>
                  <a:tcPr marL="146304" marR="109728" marT="73152" marB="54864" anchor="ctr">
                    <a:solidFill>
                      <a:srgbClr val="2463A6"/>
                    </a:solidFill>
                  </a:tcPr>
                </a:tc>
                <a:tc>
                  <a:txBody>
                    <a:bodyPr/>
                    <a:lstStyle/>
                    <a:p>
                      <a:pPr>
                        <a:spcAft>
                          <a:spcPts val="0"/>
                        </a:spcAft>
                        <a:defRPr sz="1900" b="1">
                          <a:solidFill>
                            <a:srgbClr val="FFFFFF"/>
                          </a:solidFill>
                          <a:latin typeface="Aptos"/>
                        </a:defRPr>
                      </a:pPr>
                      <a:r>
                        <a:t>Lesson</a:t>
                      </a:r>
                    </a:p>
                  </a:txBody>
                  <a:tcPr marL="146304" marR="109728" marT="73152" marB="54864" anchor="ctr">
                    <a:solidFill>
                      <a:srgbClr val="2463A6"/>
                    </a:solidFill>
                  </a:tcPr>
                </a:tc>
              </a:tr>
              <a:tr h="804672">
                <a:tc>
                  <a:txBody>
                    <a:bodyPr/>
                    <a:lstStyle/>
                    <a:p>
                      <a:pPr>
                        <a:spcAft>
                          <a:spcPts val="0"/>
                        </a:spcAft>
                        <a:defRPr sz="2100" b="0">
                          <a:solidFill>
                            <a:srgbClr val="18283B"/>
                          </a:solidFill>
                          <a:latin typeface="Aptos"/>
                        </a:defRPr>
                      </a:pPr>
                      <a:r>
                        <a:t>Recurrent layers</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Sequence-state capacity</a:t>
                      </a:r>
                    </a:p>
                    <a:p>
                      <a:pPr>
                        <a:spcAft>
                          <a:spcPts val="0"/>
                        </a:spcAft>
                        <a:defRPr sz="2100" b="0">
                          <a:solidFill>
                            <a:srgbClr val="18283B"/>
                          </a:solidFill>
                          <a:latin typeface="Aptos"/>
                        </a:defRPr>
                      </a:pPr>
                      <a:r>
                        <a:t>blocks startup</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Budget state per</a:t>
                      </a:r>
                    </a:p>
                    <a:p>
                      <a:pPr>
                        <a:spcAft>
                          <a:spcPts val="0"/>
                        </a:spcAft>
                        <a:defRPr sz="2100" b="0">
                          <a:solidFill>
                            <a:srgbClr val="18283B"/>
                          </a:solidFill>
                          <a:latin typeface="Aptos"/>
                        </a:defRPr>
                      </a:pPr>
                      <a:r>
                        <a:t>active sequence</a:t>
                      </a:r>
                    </a:p>
                  </a:txBody>
                  <a:tcPr marL="146304" marR="109728" marT="73152" marB="54864" anchor="ctr">
                    <a:solidFill>
                      <a:srgbClr val="FFFFFF"/>
                    </a:solidFill>
                  </a:tcPr>
                </a:tc>
              </a:tr>
              <a:tr h="804672">
                <a:tc>
                  <a:txBody>
                    <a:bodyPr/>
                    <a:lstStyle/>
                    <a:p>
                      <a:pPr>
                        <a:spcAft>
                          <a:spcPts val="0"/>
                        </a:spcAft>
                        <a:defRPr sz="2100" b="0">
                          <a:solidFill>
                            <a:srgbClr val="18283B"/>
                          </a:solidFill>
                          <a:latin typeface="Aptos"/>
                        </a:defRPr>
                      </a:pPr>
                      <a:r>
                        <a:t>Prefix caching</a:t>
                      </a:r>
                    </a:p>
                  </a:txBody>
                  <a:tcPr marL="146304" marR="109728" marT="73152" marB="54864" anchor="ctr">
                    <a:solidFill>
                      <a:srgbClr val="F5F7FA"/>
                    </a:solidFill>
                  </a:tcPr>
                </a:tc>
                <a:tc>
                  <a:txBody>
                    <a:bodyPr/>
                    <a:lstStyle/>
                    <a:p>
                      <a:pPr>
                        <a:spcAft>
                          <a:spcPts val="0"/>
                        </a:spcAft>
                        <a:defRPr sz="2100" b="0">
                          <a:solidFill>
                            <a:srgbClr val="18283B"/>
                          </a:solidFill>
                          <a:latin typeface="Aptos"/>
                        </a:defRPr>
                      </a:pPr>
                      <a:r>
                        <a:t>Warmup creates</a:t>
                      </a:r>
                    </a:p>
                    <a:p>
                      <a:pPr>
                        <a:spcAft>
                          <a:spcPts val="0"/>
                        </a:spcAft>
                        <a:defRPr sz="2100" b="0">
                          <a:solidFill>
                            <a:srgbClr val="18283B"/>
                          </a:solidFill>
                          <a:latin typeface="Aptos"/>
                        </a:defRPr>
                      </a:pPr>
                      <a:r>
                        <a:t>16,000 reused tokens</a:t>
                      </a:r>
                    </a:p>
                  </a:txBody>
                  <a:tcPr marL="146304" marR="109728" marT="73152" marB="54864" anchor="ctr">
                    <a:solidFill>
                      <a:srgbClr val="F5F7FA"/>
                    </a:solidFill>
                  </a:tcPr>
                </a:tc>
                <a:tc>
                  <a:txBody>
                    <a:bodyPr/>
                    <a:lstStyle/>
                    <a:p>
                      <a:pPr>
                        <a:spcAft>
                          <a:spcPts val="0"/>
                        </a:spcAft>
                        <a:defRPr sz="2100" b="0">
                          <a:solidFill>
                            <a:srgbClr val="18283B"/>
                          </a:solidFill>
                          <a:latin typeface="Aptos"/>
                        </a:defRPr>
                      </a:pPr>
                      <a:r>
                        <a:t>Warm kernels; use</a:t>
                      </a:r>
                    </a:p>
                    <a:p>
                      <a:pPr>
                        <a:spcAft>
                          <a:spcPts val="0"/>
                        </a:spcAft>
                        <a:defRPr sz="2100" b="0">
                          <a:solidFill>
                            <a:srgbClr val="18283B"/>
                          </a:solidFill>
                          <a:latin typeface="Aptos"/>
                        </a:defRPr>
                      </a:pPr>
                      <a:r>
                        <a:t>fresh test prefixes</a:t>
                      </a:r>
                    </a:p>
                  </a:txBody>
                  <a:tcPr marL="146304" marR="109728" marT="73152" marB="54864" anchor="ctr">
                    <a:solidFill>
                      <a:srgbClr val="F5F7FA"/>
                    </a:solidFill>
                  </a:tcPr>
                </a:tc>
              </a:tr>
              <a:tr h="804672">
                <a:tc>
                  <a:txBody>
                    <a:bodyPr/>
                    <a:lstStyle/>
                    <a:p>
                      <a:pPr>
                        <a:spcAft>
                          <a:spcPts val="0"/>
                        </a:spcAft>
                        <a:defRPr sz="2100" b="0">
                          <a:solidFill>
                            <a:srgbClr val="18283B"/>
                          </a:solidFill>
                          <a:latin typeface="Aptos"/>
                        </a:defRPr>
                      </a:pPr>
                      <a:r>
                        <a:t>Automatic pool sizing</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Qwen c4 changes</a:t>
                      </a:r>
                    </a:p>
                    <a:p>
                      <a:pPr>
                        <a:spcAft>
                          <a:spcPts val="0"/>
                        </a:spcAft>
                        <a:defRPr sz="2100" b="0">
                          <a:solidFill>
                            <a:srgbClr val="18283B"/>
                          </a:solidFill>
                          <a:latin typeface="Aptos"/>
                        </a:defRPr>
                      </a:pPr>
                      <a:r>
                        <a:t>162.2 → 256.8 tok/s</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Validate startup before</a:t>
                      </a:r>
                    </a:p>
                    <a:p>
                      <a:pPr>
                        <a:spcAft>
                          <a:spcPts val="0"/>
                        </a:spcAft>
                        <a:defRPr sz="2100" b="0">
                          <a:solidFill>
                            <a:srgbClr val="18283B"/>
                          </a:solidFill>
                          <a:latin typeface="Aptos"/>
                        </a:defRPr>
                      </a:pPr>
                      <a:r>
                        <a:t>explaining speed</a:t>
                      </a:r>
                    </a:p>
                  </a:txBody>
                  <a:tcPr marL="146304" marR="109728" marT="73152" marB="54864" anchor="ctr">
                    <a:solidFill>
                      <a:srgbClr val="FFFFFF"/>
                    </a:solidFill>
                  </a:tcPr>
                </a:tc>
              </a:tr>
            </a:tbl>
          </a:graphicData>
        </a:graphic>
      </p:graphicFrame>
      <p:sp>
        <p:nvSpPr>
          <p:cNvPr id="7" name="Rectangle 6"/>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404103"/>
            <a:ext cx="10652760" cy="420624"/>
          </a:xfrm>
          <a:prstGeom prst="rect">
            <a:avLst/>
          </a:prstGeom>
          <a:noFill/>
        </p:spPr>
        <p:txBody>
          <a:bodyPr wrap="square" lIns="0" rIns="0" tIns="0" bIns="0">
            <a:spAutoFit/>
          </a:bodyPr>
          <a:lstStyle/>
          <a:p>
            <a:pPr>
              <a:spcAft>
                <a:spcPts val="1200"/>
              </a:spcAft>
              <a:defRPr sz="2200" b="1">
                <a:solidFill>
                  <a:srgbClr val="2463A6"/>
                </a:solidFill>
                <a:latin typeface="Aptos"/>
              </a:defRPr>
            </a:pPr>
            <a:r>
              <a:t>Symptom → discriminating test → fix → bounded conclusion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Next: validate, profile, then improve goodput</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§8</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12</a:t>
            </a:r>
          </a:p>
        </p:txBody>
      </p:sp>
      <p:sp>
        <p:nvSpPr>
          <p:cNvPr id="6" name="TextBox 5"/>
          <p:cNvSpPr txBox="1"/>
          <p:nvPr/>
        </p:nvSpPr>
        <p:spPr>
          <a:xfrm>
            <a:off x="640080" y="1874519"/>
            <a:ext cx="228600" cy="457200"/>
          </a:xfrm>
          <a:prstGeom prst="rect">
            <a:avLst/>
          </a:prstGeom>
          <a:noFill/>
        </p:spPr>
        <p:txBody>
          <a:bodyPr wrap="square" lIns="0" rIns="0" tIns="0" bIns="0">
            <a:spAutoFit/>
          </a:bodyPr>
          <a:lstStyle/>
          <a:p>
            <a:pPr>
              <a:spcAft>
                <a:spcPts val="1200"/>
              </a:spcAft>
              <a:defRPr sz="2700" b="1">
                <a:solidFill>
                  <a:srgbClr val="2463A6"/>
                </a:solidFill>
                <a:latin typeface="Aptos"/>
              </a:defRPr>
            </a:pPr>
            <a:r>
              <a:t>•</a:t>
            </a:r>
          </a:p>
        </p:txBody>
      </p:sp>
      <p:sp>
        <p:nvSpPr>
          <p:cNvPr id="7" name="TextBox 6"/>
          <p:cNvSpPr txBox="1"/>
          <p:nvPr/>
        </p:nvSpPr>
        <p:spPr>
          <a:xfrm>
            <a:off x="1005840" y="1874519"/>
            <a:ext cx="10241280" cy="832104"/>
          </a:xfrm>
          <a:prstGeom prst="rect">
            <a:avLst/>
          </a:prstGeom>
          <a:noFill/>
        </p:spPr>
        <p:txBody>
          <a:bodyPr wrap="square" lIns="0" rIns="0" tIns="0" bIns="0">
            <a:spAutoFit/>
          </a:bodyPr>
          <a:lstStyle/>
          <a:p>
            <a:pPr>
              <a:spcAft>
                <a:spcPts val="1200"/>
              </a:spcAft>
              <a:defRPr sz="2700" b="0">
                <a:solidFill>
                  <a:srgbClr val="18283B"/>
                </a:solidFill>
                <a:latin typeface="Aptos"/>
              </a:defRPr>
            </a:pPr>
            <a:r>
              <a:t>Validate: matched startup and repeated runs.</a:t>
            </a:r>
          </a:p>
        </p:txBody>
      </p:sp>
      <p:sp>
        <p:nvSpPr>
          <p:cNvPr id="8" name="TextBox 7"/>
          <p:cNvSpPr txBox="1"/>
          <p:nvPr/>
        </p:nvSpPr>
        <p:spPr>
          <a:xfrm>
            <a:off x="640080" y="2816352"/>
            <a:ext cx="228600" cy="457200"/>
          </a:xfrm>
          <a:prstGeom prst="rect">
            <a:avLst/>
          </a:prstGeom>
          <a:noFill/>
        </p:spPr>
        <p:txBody>
          <a:bodyPr wrap="square" lIns="0" rIns="0" tIns="0" bIns="0">
            <a:spAutoFit/>
          </a:bodyPr>
          <a:lstStyle/>
          <a:p>
            <a:pPr>
              <a:spcAft>
                <a:spcPts val="1200"/>
              </a:spcAft>
              <a:defRPr sz="2700" b="1">
                <a:solidFill>
                  <a:srgbClr val="2463A6"/>
                </a:solidFill>
                <a:latin typeface="Aptos"/>
              </a:defRPr>
            </a:pPr>
            <a:r>
              <a:t>•</a:t>
            </a:r>
          </a:p>
        </p:txBody>
      </p:sp>
      <p:sp>
        <p:nvSpPr>
          <p:cNvPr id="9" name="TextBox 8"/>
          <p:cNvSpPr txBox="1"/>
          <p:nvPr/>
        </p:nvSpPr>
        <p:spPr>
          <a:xfrm>
            <a:off x="1005840" y="2816352"/>
            <a:ext cx="10241280" cy="832104"/>
          </a:xfrm>
          <a:prstGeom prst="rect">
            <a:avLst/>
          </a:prstGeom>
          <a:noFill/>
        </p:spPr>
        <p:txBody>
          <a:bodyPr wrap="square" lIns="0" rIns="0" tIns="0" bIns="0">
            <a:spAutoFit/>
          </a:bodyPr>
          <a:lstStyle/>
          <a:p>
            <a:pPr>
              <a:spcAft>
                <a:spcPts val="1200"/>
              </a:spcAft>
              <a:defRPr sz="2700" b="0">
                <a:solidFill>
                  <a:srgbClr val="18283B"/>
                </a:solidFill>
                <a:latin typeface="Aptos"/>
              </a:defRPr>
            </a:pPr>
            <a:r>
              <a:t>Profile: separate prefill, decode, and communication.</a:t>
            </a:r>
          </a:p>
        </p:txBody>
      </p:sp>
      <p:sp>
        <p:nvSpPr>
          <p:cNvPr id="10" name="TextBox 9"/>
          <p:cNvSpPr txBox="1"/>
          <p:nvPr/>
        </p:nvSpPr>
        <p:spPr>
          <a:xfrm>
            <a:off x="640080" y="3758183"/>
            <a:ext cx="228600" cy="457200"/>
          </a:xfrm>
          <a:prstGeom prst="rect">
            <a:avLst/>
          </a:prstGeom>
          <a:noFill/>
        </p:spPr>
        <p:txBody>
          <a:bodyPr wrap="square" lIns="0" rIns="0" tIns="0" bIns="0">
            <a:spAutoFit/>
          </a:bodyPr>
          <a:lstStyle/>
          <a:p>
            <a:pPr>
              <a:spcAft>
                <a:spcPts val="1200"/>
              </a:spcAft>
              <a:defRPr sz="2700" b="1">
                <a:solidFill>
                  <a:srgbClr val="2463A6"/>
                </a:solidFill>
                <a:latin typeface="Aptos"/>
              </a:defRPr>
            </a:pPr>
            <a:r>
              <a:t>•</a:t>
            </a:r>
          </a:p>
        </p:txBody>
      </p:sp>
      <p:sp>
        <p:nvSpPr>
          <p:cNvPr id="11" name="TextBox 10"/>
          <p:cNvSpPr txBox="1"/>
          <p:nvPr/>
        </p:nvSpPr>
        <p:spPr>
          <a:xfrm>
            <a:off x="1005840" y="3758183"/>
            <a:ext cx="10241280" cy="832104"/>
          </a:xfrm>
          <a:prstGeom prst="rect">
            <a:avLst/>
          </a:prstGeom>
          <a:noFill/>
        </p:spPr>
        <p:txBody>
          <a:bodyPr wrap="square" lIns="0" rIns="0" tIns="0" bIns="0">
            <a:spAutoFit/>
          </a:bodyPr>
          <a:lstStyle/>
          <a:p>
            <a:pPr>
              <a:spcAft>
                <a:spcPts val="1200"/>
              </a:spcAft>
              <a:defRPr sz="2700" b="0">
                <a:solidFill>
                  <a:srgbClr val="18283B"/>
                </a:solidFill>
                <a:latin typeface="Aptos"/>
              </a:defRPr>
            </a:pPr>
            <a:r>
              <a:t>Improve: state-aware caching and scheduling.</a:t>
            </a:r>
          </a:p>
        </p:txBody>
      </p:sp>
      <p:sp>
        <p:nvSpPr>
          <p:cNvPr id="12" name="Rectangle 11"/>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5404103"/>
            <a:ext cx="10652760" cy="420624"/>
          </a:xfrm>
          <a:prstGeom prst="rect">
            <a:avLst/>
          </a:prstGeom>
          <a:noFill/>
        </p:spPr>
        <p:txBody>
          <a:bodyPr wrap="square" lIns="0" rIns="0" tIns="0" bIns="0">
            <a:spAutoFit/>
          </a:bodyPr>
          <a:lstStyle/>
          <a:p>
            <a:pPr>
              <a:spcAft>
                <a:spcPts val="1200"/>
              </a:spcAft>
              <a:defRPr sz="2300" b="1">
                <a:solidFill>
                  <a:srgbClr val="2463A6"/>
                </a:solidFill>
                <a:latin typeface="Aptos"/>
              </a:defRPr>
            </a:pPr>
            <a:r>
              <a:t>Serving choices depend on workload, state, and runtime.</a:t>
            </a:r>
          </a:p>
        </p:txBody>
      </p:sp>
      <p:sp>
        <p:nvSpPr>
          <p:cNvPr id="14" name="TextBox 13"/>
          <p:cNvSpPr txBox="1"/>
          <p:nvPr/>
        </p:nvSpPr>
        <p:spPr>
          <a:xfrm>
            <a:off x="594360" y="6071616"/>
            <a:ext cx="10058400" cy="347472"/>
          </a:xfrm>
          <a:prstGeom prst="rect">
            <a:avLst/>
          </a:prstGeom>
          <a:noFill/>
        </p:spPr>
        <p:txBody>
          <a:bodyPr wrap="square" lIns="0" rIns="0" tIns="0" bIns="0">
            <a:spAutoFit/>
          </a:bodyPr>
          <a:lstStyle/>
          <a:p>
            <a:pPr>
              <a:spcAft>
                <a:spcPts val="1200"/>
              </a:spcAft>
              <a:defRPr sz="2200" b="1">
                <a:solidFill>
                  <a:srgbClr val="2463A6"/>
                </a:solidFill>
                <a:latin typeface="Aptos"/>
              </a:defRPr>
            </a:pPr>
            <a:r>
              <a:t>Questions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Backup · Is the comparison fair?</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§1</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B1</a:t>
            </a:r>
          </a:p>
        </p:txBody>
      </p:sp>
      <p:graphicFrame>
        <p:nvGraphicFramePr>
          <p:cNvPr id="6" name="Table 5"/>
          <p:cNvGraphicFramePr>
            <a:graphicFrameLocks noGrp="1"/>
          </p:cNvGraphicFramePr>
          <p:nvPr/>
        </p:nvGraphicFramePr>
        <p:xfrm>
          <a:off x="594360" y="1828800"/>
          <a:ext cx="10972800" cy="3108960"/>
        </p:xfrm>
        <a:graphic>
          <a:graphicData uri="http://schemas.openxmlformats.org/drawingml/2006/table">
            <a:tbl>
              <a:tblPr firstRow="1" bandRow="1">
                <a:tableStyleId>{5C22544A-7EE6-4342-B048-85BDC9FD1C3A}</a:tableStyleId>
              </a:tblPr>
              <a:tblGrid>
                <a:gridCol w="4572000"/>
                <a:gridCol w="6400800"/>
              </a:tblGrid>
              <a:tr h="777240">
                <a:tc>
                  <a:txBody>
                    <a:bodyPr/>
                    <a:lstStyle/>
                    <a:p>
                      <a:pPr>
                        <a:spcAft>
                          <a:spcPts val="0"/>
                        </a:spcAft>
                        <a:defRPr sz="2100" b="1">
                          <a:solidFill>
                            <a:srgbClr val="FFFFFF"/>
                          </a:solidFill>
                          <a:latin typeface="Aptos"/>
                        </a:defRPr>
                      </a:pPr>
                      <a:r>
                        <a:t>Controlled</a:t>
                      </a:r>
                    </a:p>
                  </a:txBody>
                  <a:tcPr marL="146304" marR="109728" marT="73152" marB="54864" anchor="ctr">
                    <a:solidFill>
                      <a:srgbClr val="2463A6"/>
                    </a:solidFill>
                  </a:tcPr>
                </a:tc>
                <a:tc>
                  <a:txBody>
                    <a:bodyPr/>
                    <a:lstStyle/>
                    <a:p>
                      <a:pPr>
                        <a:spcAft>
                          <a:spcPts val="0"/>
                        </a:spcAft>
                        <a:defRPr sz="2100" b="1">
                          <a:solidFill>
                            <a:srgbClr val="FFFFFF"/>
                          </a:solidFill>
                          <a:latin typeface="Aptos"/>
                        </a:defRPr>
                      </a:pPr>
                      <a:r>
                        <a:t>Different or missing</a:t>
                      </a:r>
                    </a:p>
                  </a:txBody>
                  <a:tcPr marL="146304" marR="109728" marT="73152" marB="54864" anchor="ctr">
                    <a:solidFill>
                      <a:srgbClr val="2463A6"/>
                    </a:solidFill>
                  </a:tcPr>
                </a:tc>
              </a:tr>
              <a:tr h="777240">
                <a:tc>
                  <a:txBody>
                    <a:bodyPr/>
                    <a:lstStyle/>
                    <a:p>
                      <a:pPr>
                        <a:spcAft>
                          <a:spcPts val="0"/>
                        </a:spcAft>
                        <a:defRPr sz="2300" b="0">
                          <a:solidFill>
                            <a:srgbClr val="18283B"/>
                          </a:solidFill>
                          <a:latin typeface="Aptos"/>
                        </a:defRPr>
                      </a:pPr>
                      <a:r>
                        <a:t>GPU class and count</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Physical topology not established</a:t>
                      </a:r>
                    </a:p>
                  </a:txBody>
                  <a:tcPr marL="146304" marR="109728" marT="73152" marB="54864" anchor="ctr">
                    <a:solidFill>
                      <a:srgbClr val="FFFFFF"/>
                    </a:solidFill>
                  </a:tcPr>
                </a:tc>
              </a:tr>
              <a:tr h="777240">
                <a:tc>
                  <a:txBody>
                    <a:bodyPr/>
                    <a:lstStyle/>
                    <a:p>
                      <a:pPr>
                        <a:spcAft>
                          <a:spcPts val="0"/>
                        </a:spcAft>
                        <a:defRPr sz="2300" b="0">
                          <a:solidFill>
                            <a:srgbClr val="18283B"/>
                          </a:solidFill>
                          <a:latin typeface="Aptos"/>
                        </a:defRPr>
                      </a:pPr>
                      <a:r>
                        <a:t>Workload target lengths</a:t>
                      </a:r>
                    </a:p>
                  </a:txBody>
                  <a:tcPr marL="146304" marR="109728" marT="73152" marB="54864" anchor="ctr">
                    <a:solidFill>
                      <a:srgbClr val="F5F7FA"/>
                    </a:solidFill>
                  </a:tcPr>
                </a:tc>
                <a:tc>
                  <a:txBody>
                    <a:bodyPr/>
                    <a:lstStyle/>
                    <a:p>
                      <a:pPr>
                        <a:spcAft>
                          <a:spcPts val="0"/>
                        </a:spcAft>
                        <a:defRPr sz="2300" b="0">
                          <a:solidFill>
                            <a:srgbClr val="18283B"/>
                          </a:solidFill>
                          <a:latin typeface="Aptos"/>
                        </a:defRPr>
                      </a:pPr>
                      <a:r>
                        <a:t>Tokenizers and task quality</a:t>
                      </a:r>
                    </a:p>
                  </a:txBody>
                  <a:tcPr marL="146304" marR="109728" marT="73152" marB="54864" anchor="ctr">
                    <a:solidFill>
                      <a:srgbClr val="F5F7FA"/>
                    </a:solidFill>
                  </a:tcPr>
                </a:tc>
              </a:tr>
              <a:tr h="777240">
                <a:tc>
                  <a:txBody>
                    <a:bodyPr/>
                    <a:lstStyle/>
                    <a:p>
                      <a:pPr>
                        <a:spcAft>
                          <a:spcPts val="0"/>
                        </a:spcAft>
                        <a:defRPr sz="2300" b="0">
                          <a:solidFill>
                            <a:srgbClr val="18283B"/>
                          </a:solidFill>
                          <a:latin typeface="Aptos"/>
                        </a:defRPr>
                      </a:pPr>
                      <a:r>
                        <a:t>MTP off in main comparison</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Precision, builds, backends, some pools</a:t>
                      </a:r>
                    </a:p>
                  </a:txBody>
                  <a:tcPr marL="146304" marR="109728" marT="73152" marB="54864" anchor="ctr">
                    <a:solidFill>
                      <a:srgbClr val="FFFFFF"/>
                    </a:solidFill>
                  </a:tcPr>
                </a:tc>
              </a:tr>
            </a:tbl>
          </a:graphicData>
        </a:graphic>
      </p:graphicFrame>
      <p:sp>
        <p:nvSpPr>
          <p:cNvPr id="7" name="Rectangle 6"/>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Deployment comparison, not isolated architecture.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Backup · What is the actual bottleneck?</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§3</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B2</a:t>
            </a:r>
          </a:p>
        </p:txBody>
      </p:sp>
      <p:graphicFrame>
        <p:nvGraphicFramePr>
          <p:cNvPr id="6" name="Table 5"/>
          <p:cNvGraphicFramePr>
            <a:graphicFrameLocks noGrp="1"/>
          </p:cNvGraphicFramePr>
          <p:nvPr/>
        </p:nvGraphicFramePr>
        <p:xfrm>
          <a:off x="594360" y="1828800"/>
          <a:ext cx="10972800" cy="3154679"/>
        </p:xfrm>
        <a:graphic>
          <a:graphicData uri="http://schemas.openxmlformats.org/drawingml/2006/table">
            <a:tbl>
              <a:tblPr firstRow="1" bandRow="1">
                <a:tableStyleId>{5C22544A-7EE6-4342-B048-85BDC9FD1C3A}</a:tableStyleId>
              </a:tblPr>
              <a:tblGrid>
                <a:gridCol w="4572000"/>
                <a:gridCol w="6400800"/>
              </a:tblGrid>
              <a:tr h="630935">
                <a:tc>
                  <a:txBody>
                    <a:bodyPr/>
                    <a:lstStyle/>
                    <a:p>
                      <a:pPr>
                        <a:spcAft>
                          <a:spcPts val="0"/>
                        </a:spcAft>
                        <a:defRPr sz="2100" b="1">
                          <a:solidFill>
                            <a:srgbClr val="FFFFFF"/>
                          </a:solidFill>
                          <a:latin typeface="Aptos"/>
                        </a:defRPr>
                      </a:pPr>
                      <a:r>
                        <a:t>Candidate</a:t>
                      </a:r>
                    </a:p>
                  </a:txBody>
                  <a:tcPr marL="146304" marR="109728" marT="73152" marB="54864" anchor="ctr">
                    <a:solidFill>
                      <a:srgbClr val="2463A6"/>
                    </a:solidFill>
                  </a:tcPr>
                </a:tc>
                <a:tc>
                  <a:txBody>
                    <a:bodyPr/>
                    <a:lstStyle/>
                    <a:p>
                      <a:pPr>
                        <a:spcAft>
                          <a:spcPts val="0"/>
                        </a:spcAft>
                        <a:defRPr sz="2100" b="1">
                          <a:solidFill>
                            <a:srgbClr val="FFFFFF"/>
                          </a:solidFill>
                          <a:latin typeface="Aptos"/>
                        </a:defRPr>
                      </a:pPr>
                      <a:r>
                        <a:t>Evidence needed</a:t>
                      </a:r>
                    </a:p>
                  </a:txBody>
                  <a:tcPr marL="146304" marR="109728" marT="73152" marB="54864" anchor="ctr">
                    <a:solidFill>
                      <a:srgbClr val="2463A6"/>
                    </a:solidFill>
                  </a:tcPr>
                </a:tc>
              </a:tr>
              <a:tr h="630935">
                <a:tc>
                  <a:txBody>
                    <a:bodyPr/>
                    <a:lstStyle/>
                    <a:p>
                      <a:pPr>
                        <a:spcAft>
                          <a:spcPts val="0"/>
                        </a:spcAft>
                        <a:defRPr sz="2300" b="0">
                          <a:solidFill>
                            <a:srgbClr val="18283B"/>
                          </a:solidFill>
                          <a:latin typeface="Aptos"/>
                        </a:defRPr>
                      </a:pPr>
                      <a:r>
                        <a:t>GEMMs / expert routing</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Operator timing and per-rank load</a:t>
                      </a:r>
                    </a:p>
                  </a:txBody>
                  <a:tcPr marL="146304" marR="109728" marT="73152" marB="54864" anchor="ctr">
                    <a:solidFill>
                      <a:srgbClr val="FFFFFF"/>
                    </a:solidFill>
                  </a:tcPr>
                </a:tc>
              </a:tr>
              <a:tr h="630935">
                <a:tc>
                  <a:txBody>
                    <a:bodyPr/>
                    <a:lstStyle/>
                    <a:p>
                      <a:pPr>
                        <a:spcAft>
                          <a:spcPts val="0"/>
                        </a:spcAft>
                        <a:defRPr sz="2300" b="0">
                          <a:solidFill>
                            <a:srgbClr val="18283B"/>
                          </a:solidFill>
                          <a:latin typeface="Aptos"/>
                        </a:defRPr>
                      </a:pPr>
                      <a:r>
                        <a:t>Communication / launches</a:t>
                      </a:r>
                    </a:p>
                  </a:txBody>
                  <a:tcPr marL="146304" marR="109728" marT="73152" marB="54864" anchor="ctr">
                    <a:solidFill>
                      <a:srgbClr val="F5F7FA"/>
                    </a:solidFill>
                  </a:tcPr>
                </a:tc>
                <a:tc>
                  <a:txBody>
                    <a:bodyPr/>
                    <a:lstStyle/>
                    <a:p>
                      <a:pPr>
                        <a:spcAft>
                          <a:spcPts val="0"/>
                        </a:spcAft>
                        <a:defRPr sz="2300" b="0">
                          <a:solidFill>
                            <a:srgbClr val="18283B"/>
                          </a:solidFill>
                          <a:latin typeface="Aptos"/>
                        </a:defRPr>
                      </a:pPr>
                      <a:r>
                        <a:t>Timeline and TP/EP sweep</a:t>
                      </a:r>
                    </a:p>
                  </a:txBody>
                  <a:tcPr marL="146304" marR="109728" marT="73152" marB="54864" anchor="ctr">
                    <a:solidFill>
                      <a:srgbClr val="F5F7FA"/>
                    </a:solidFill>
                  </a:tcPr>
                </a:tc>
              </a:tr>
              <a:tr h="630935">
                <a:tc>
                  <a:txBody>
                    <a:bodyPr/>
                    <a:lstStyle/>
                    <a:p>
                      <a:pPr>
                        <a:spcAft>
                          <a:spcPts val="0"/>
                        </a:spcAft>
                        <a:defRPr sz="2300" b="0">
                          <a:solidFill>
                            <a:srgbClr val="18283B"/>
                          </a:solidFill>
                          <a:latin typeface="Aptos"/>
                        </a:defRPr>
                      </a:pPr>
                      <a:r>
                        <a:t>HBM traffic</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Hardware counters within decode</a:t>
                      </a:r>
                    </a:p>
                  </a:txBody>
                  <a:tcPr marL="146304" marR="109728" marT="73152" marB="54864" anchor="ctr">
                    <a:solidFill>
                      <a:srgbClr val="FFFFFF"/>
                    </a:solidFill>
                  </a:tcPr>
                </a:tc>
              </a:tr>
              <a:tr h="630939">
                <a:tc>
                  <a:txBody>
                    <a:bodyPr/>
                    <a:lstStyle/>
                    <a:p>
                      <a:pPr>
                        <a:spcAft>
                          <a:spcPts val="0"/>
                        </a:spcAft>
                        <a:defRPr sz="2300" b="0">
                          <a:solidFill>
                            <a:srgbClr val="18283B"/>
                          </a:solidFill>
                          <a:latin typeface="Aptos"/>
                        </a:defRPr>
                      </a:pPr>
                      <a:r>
                        <a:t>Scheduling / cache pressure</a:t>
                      </a:r>
                    </a:p>
                  </a:txBody>
                  <a:tcPr marL="146304" marR="109728" marT="73152" marB="54864" anchor="ctr">
                    <a:solidFill>
                      <a:srgbClr val="F5F7FA"/>
                    </a:solidFill>
                  </a:tcPr>
                </a:tc>
                <a:tc>
                  <a:txBody>
                    <a:bodyPr/>
                    <a:lstStyle/>
                    <a:p>
                      <a:pPr>
                        <a:spcAft>
                          <a:spcPts val="0"/>
                        </a:spcAft>
                        <a:defRPr sz="2300" b="0">
                          <a:solidFill>
                            <a:srgbClr val="18283B"/>
                          </a:solidFill>
                          <a:latin typeface="Aptos"/>
                        </a:defRPr>
                      </a:pPr>
                      <a:r>
                        <a:t>Chunk-size A/B and preemptions</a:t>
                      </a:r>
                    </a:p>
                  </a:txBody>
                  <a:tcPr marL="146304" marR="109728" marT="73152" marB="54864" anchor="ctr">
                    <a:solidFill>
                      <a:srgbClr val="F5F7FA"/>
                    </a:solidFill>
                  </a:tcPr>
                </a:tc>
              </a:tr>
            </a:tbl>
          </a:graphicData>
        </a:graphic>
      </p:graphicFrame>
      <p:sp>
        <p:nvSpPr>
          <p:cNvPr id="7" name="Rectangle 6"/>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404103"/>
            <a:ext cx="10652760" cy="420624"/>
          </a:xfrm>
          <a:prstGeom prst="rect">
            <a:avLst/>
          </a:prstGeom>
          <a:noFill/>
        </p:spPr>
        <p:txBody>
          <a:bodyPr wrap="square" lIns="0" rIns="0" tIns="0" bIns="0">
            <a:spAutoFit/>
          </a:bodyPr>
          <a:lstStyle/>
          <a:p>
            <a:pPr>
              <a:spcAft>
                <a:spcPts val="1200"/>
              </a:spcAft>
              <a:defRPr sz="2200" b="1">
                <a:solidFill>
                  <a:srgbClr val="2463A6"/>
                </a:solidFill>
                <a:latin typeface="Aptos"/>
              </a:defRPr>
            </a:pPr>
            <a:r>
              <a:t>The current data identifies regimes, not a dominant kernel.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Backup · Can recurrent state be cached?</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§4</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B3</a:t>
            </a:r>
          </a:p>
        </p:txBody>
      </p:sp>
      <p:sp>
        <p:nvSpPr>
          <p:cNvPr id="6" name="TextBox 5"/>
          <p:cNvSpPr txBox="1"/>
          <p:nvPr/>
        </p:nvSpPr>
        <p:spPr>
          <a:xfrm>
            <a:off x="640080" y="1874519"/>
            <a:ext cx="228600" cy="457200"/>
          </a:xfrm>
          <a:prstGeom prst="rect">
            <a:avLst/>
          </a:prstGeom>
          <a:noFill/>
        </p:spPr>
        <p:txBody>
          <a:bodyPr wrap="square" lIns="0" rIns="0" tIns="0" bIns="0">
            <a:spAutoFit/>
          </a:bodyPr>
          <a:lstStyle/>
          <a:p>
            <a:pPr>
              <a:spcAft>
                <a:spcPts val="1200"/>
              </a:spcAft>
              <a:defRPr sz="2500" b="1">
                <a:solidFill>
                  <a:srgbClr val="2463A6"/>
                </a:solidFill>
                <a:latin typeface="Aptos"/>
              </a:defRPr>
            </a:pPr>
            <a:r>
              <a:t>•</a:t>
            </a:r>
          </a:p>
        </p:txBody>
      </p:sp>
      <p:sp>
        <p:nvSpPr>
          <p:cNvPr id="7" name="TextBox 6"/>
          <p:cNvSpPr txBox="1"/>
          <p:nvPr/>
        </p:nvSpPr>
        <p:spPr>
          <a:xfrm>
            <a:off x="1005840" y="1874519"/>
            <a:ext cx="10241280" cy="694944"/>
          </a:xfrm>
          <a:prstGeom prst="rect">
            <a:avLst/>
          </a:prstGeom>
          <a:noFill/>
        </p:spPr>
        <p:txBody>
          <a:bodyPr wrap="square" lIns="0" rIns="0" tIns="0" bIns="0">
            <a:spAutoFit/>
          </a:bodyPr>
          <a:lstStyle/>
          <a:p>
            <a:pPr>
              <a:spcAft>
                <a:spcPts val="1200"/>
              </a:spcAft>
              <a:defRPr sz="2500" b="0">
                <a:solidFill>
                  <a:srgbClr val="18283B"/>
                </a:solidFill>
                <a:latin typeface="Aptos"/>
              </a:defRPr>
            </a:pPr>
            <a:r>
              <a:t>Yes: save state at compatible prefix boundaries.</a:t>
            </a:r>
          </a:p>
        </p:txBody>
      </p:sp>
      <p:sp>
        <p:nvSpPr>
          <p:cNvPr id="8" name="TextBox 7"/>
          <p:cNvSpPr txBox="1"/>
          <p:nvPr/>
        </p:nvSpPr>
        <p:spPr>
          <a:xfrm>
            <a:off x="640080" y="2679191"/>
            <a:ext cx="228600" cy="457200"/>
          </a:xfrm>
          <a:prstGeom prst="rect">
            <a:avLst/>
          </a:prstGeom>
          <a:noFill/>
        </p:spPr>
        <p:txBody>
          <a:bodyPr wrap="square" lIns="0" rIns="0" tIns="0" bIns="0">
            <a:spAutoFit/>
          </a:bodyPr>
          <a:lstStyle/>
          <a:p>
            <a:pPr>
              <a:spcAft>
                <a:spcPts val="1200"/>
              </a:spcAft>
              <a:defRPr sz="2500" b="1">
                <a:solidFill>
                  <a:srgbClr val="2463A6"/>
                </a:solidFill>
                <a:latin typeface="Aptos"/>
              </a:defRPr>
            </a:pPr>
            <a:r>
              <a:t>•</a:t>
            </a:r>
          </a:p>
        </p:txBody>
      </p:sp>
      <p:sp>
        <p:nvSpPr>
          <p:cNvPr id="9" name="TextBox 8"/>
          <p:cNvSpPr txBox="1"/>
          <p:nvPr/>
        </p:nvSpPr>
        <p:spPr>
          <a:xfrm>
            <a:off x="1005840" y="2679191"/>
            <a:ext cx="10241280" cy="694944"/>
          </a:xfrm>
          <a:prstGeom prst="rect">
            <a:avLst/>
          </a:prstGeom>
          <a:noFill/>
        </p:spPr>
        <p:txBody>
          <a:bodyPr wrap="square" lIns="0" rIns="0" tIns="0" bIns="0">
            <a:spAutoFit/>
          </a:bodyPr>
          <a:lstStyle/>
          <a:p>
            <a:pPr>
              <a:spcAft>
                <a:spcPts val="1200"/>
              </a:spcAft>
              <a:defRPr sz="2500" b="0">
                <a:solidFill>
                  <a:srgbClr val="18283B"/>
                </a:solidFill>
                <a:latin typeface="Aptos"/>
              </a:defRPr>
            </a:pPr>
            <a:r>
              <a:t>KV and recurrent checkpoints must agree on position.</a:t>
            </a:r>
          </a:p>
        </p:txBody>
      </p:sp>
      <p:sp>
        <p:nvSpPr>
          <p:cNvPr id="10" name="TextBox 9"/>
          <p:cNvSpPr txBox="1"/>
          <p:nvPr/>
        </p:nvSpPr>
        <p:spPr>
          <a:xfrm>
            <a:off x="640080" y="3483863"/>
            <a:ext cx="228600" cy="457200"/>
          </a:xfrm>
          <a:prstGeom prst="rect">
            <a:avLst/>
          </a:prstGeom>
          <a:noFill/>
        </p:spPr>
        <p:txBody>
          <a:bodyPr wrap="square" lIns="0" rIns="0" tIns="0" bIns="0">
            <a:spAutoFit/>
          </a:bodyPr>
          <a:lstStyle/>
          <a:p>
            <a:pPr>
              <a:spcAft>
                <a:spcPts val="1200"/>
              </a:spcAft>
              <a:defRPr sz="2500" b="1">
                <a:solidFill>
                  <a:srgbClr val="2463A6"/>
                </a:solidFill>
                <a:latin typeface="Aptos"/>
              </a:defRPr>
            </a:pPr>
            <a:r>
              <a:t>•</a:t>
            </a:r>
          </a:p>
        </p:txBody>
      </p:sp>
      <p:sp>
        <p:nvSpPr>
          <p:cNvPr id="11" name="TextBox 10"/>
          <p:cNvSpPr txBox="1"/>
          <p:nvPr/>
        </p:nvSpPr>
        <p:spPr>
          <a:xfrm>
            <a:off x="1005840" y="3483863"/>
            <a:ext cx="10241280" cy="694944"/>
          </a:xfrm>
          <a:prstGeom prst="rect">
            <a:avLst/>
          </a:prstGeom>
          <a:noFill/>
        </p:spPr>
        <p:txBody>
          <a:bodyPr wrap="square" lIns="0" rIns="0" tIns="0" bIns="0">
            <a:spAutoFit/>
          </a:bodyPr>
          <a:lstStyle/>
          <a:p>
            <a:pPr>
              <a:spcAft>
                <a:spcPts val="1200"/>
              </a:spcAft>
              <a:defRPr sz="2500" b="0">
                <a:solidFill>
                  <a:srgbClr val="18283B"/>
                </a:solidFill>
                <a:latin typeface="Aptos"/>
              </a:defRPr>
            </a:pPr>
            <a:r>
              <a:t>Branches and rollback need safe copies or restoration.</a:t>
            </a:r>
          </a:p>
        </p:txBody>
      </p:sp>
      <p:sp>
        <p:nvSpPr>
          <p:cNvPr id="12" name="TextBox 11"/>
          <p:cNvSpPr txBox="1"/>
          <p:nvPr/>
        </p:nvSpPr>
        <p:spPr>
          <a:xfrm>
            <a:off x="640080" y="4288536"/>
            <a:ext cx="228600" cy="457200"/>
          </a:xfrm>
          <a:prstGeom prst="rect">
            <a:avLst/>
          </a:prstGeom>
          <a:noFill/>
        </p:spPr>
        <p:txBody>
          <a:bodyPr wrap="square" lIns="0" rIns="0" tIns="0" bIns="0">
            <a:spAutoFit/>
          </a:bodyPr>
          <a:lstStyle/>
          <a:p>
            <a:pPr>
              <a:spcAft>
                <a:spcPts val="1200"/>
              </a:spcAft>
              <a:defRPr sz="2500" b="1">
                <a:solidFill>
                  <a:srgbClr val="2463A6"/>
                </a:solidFill>
                <a:latin typeface="Aptos"/>
              </a:defRPr>
            </a:pPr>
            <a:r>
              <a:t>•</a:t>
            </a:r>
          </a:p>
        </p:txBody>
      </p:sp>
      <p:sp>
        <p:nvSpPr>
          <p:cNvPr id="13" name="TextBox 12"/>
          <p:cNvSpPr txBox="1"/>
          <p:nvPr/>
        </p:nvSpPr>
        <p:spPr>
          <a:xfrm>
            <a:off x="1005840" y="4288536"/>
            <a:ext cx="10241280" cy="694944"/>
          </a:xfrm>
          <a:prstGeom prst="rect">
            <a:avLst/>
          </a:prstGeom>
          <a:noFill/>
        </p:spPr>
        <p:txBody>
          <a:bodyPr wrap="square" lIns="0" rIns="0" tIns="0" bIns="0">
            <a:spAutoFit/>
          </a:bodyPr>
          <a:lstStyle/>
          <a:p>
            <a:pPr>
              <a:spcAft>
                <a:spcPts val="1200"/>
              </a:spcAft>
              <a:defRPr sz="2500" b="0">
                <a:solidFill>
                  <a:srgbClr val="18283B"/>
                </a:solidFill>
                <a:latin typeface="Aptos"/>
              </a:defRPr>
            </a:pPr>
            <a:r>
              <a:t>Checkpoint granularity trades storage for recomputation.</a:t>
            </a:r>
          </a:p>
        </p:txBody>
      </p:sp>
      <p:sp>
        <p:nvSpPr>
          <p:cNvPr id="14" name="Rectangle 13"/>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Recurrent state is not inherently uncacheable.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Backup · Why not compare parameter counts?</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§2; prior tensor analyses and Kimi official card</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B4</a:t>
            </a:r>
          </a:p>
        </p:txBody>
      </p:sp>
      <p:sp>
        <p:nvSpPr>
          <p:cNvPr id="6" name="TextBox 5"/>
          <p:cNvSpPr txBox="1"/>
          <p:nvPr/>
        </p:nvSpPr>
        <p:spPr>
          <a:xfrm>
            <a:off x="640080" y="1874519"/>
            <a:ext cx="228600" cy="457200"/>
          </a:xfrm>
          <a:prstGeom prst="rect">
            <a:avLst/>
          </a:prstGeom>
          <a:noFill/>
        </p:spPr>
        <p:txBody>
          <a:bodyPr wrap="square" lIns="0" rIns="0" tIns="0" bIns="0">
            <a:spAutoFit/>
          </a:bodyPr>
          <a:lstStyle/>
          <a:p>
            <a:pPr>
              <a:spcAft>
                <a:spcPts val="1200"/>
              </a:spcAft>
              <a:defRPr sz="2400" b="1">
                <a:solidFill>
                  <a:srgbClr val="2463A6"/>
                </a:solidFill>
                <a:latin typeface="Aptos"/>
              </a:defRPr>
            </a:pPr>
            <a:r>
              <a:t>•</a:t>
            </a:r>
          </a:p>
        </p:txBody>
      </p:sp>
      <p:sp>
        <p:nvSpPr>
          <p:cNvPr id="7" name="TextBox 6"/>
          <p:cNvSpPr txBox="1"/>
          <p:nvPr/>
        </p:nvSpPr>
        <p:spPr>
          <a:xfrm>
            <a:off x="1005840" y="1874519"/>
            <a:ext cx="10241280" cy="694944"/>
          </a:xfrm>
          <a:prstGeom prst="rect">
            <a:avLst/>
          </a:prstGeom>
          <a:noFill/>
        </p:spPr>
        <p:txBody>
          <a:bodyPr wrap="square" lIns="0" rIns="0" tIns="0" bIns="0">
            <a:spAutoFit/>
          </a:bodyPr>
          <a:lstStyle/>
          <a:p>
            <a:pPr>
              <a:spcAft>
                <a:spcPts val="1200"/>
              </a:spcAft>
              <a:defRPr sz="2400" b="0">
                <a:solidFill>
                  <a:srgbClr val="18283B"/>
                </a:solidFill>
                <a:latin typeface="Aptos"/>
              </a:defRPr>
            </a:pPr>
            <a:r>
              <a:t>Resident weights differ from per-token selected weights.</a:t>
            </a:r>
          </a:p>
        </p:txBody>
      </p:sp>
      <p:sp>
        <p:nvSpPr>
          <p:cNvPr id="8" name="TextBox 7"/>
          <p:cNvSpPr txBox="1"/>
          <p:nvPr/>
        </p:nvSpPr>
        <p:spPr>
          <a:xfrm>
            <a:off x="640080" y="2679191"/>
            <a:ext cx="228600" cy="457200"/>
          </a:xfrm>
          <a:prstGeom prst="rect">
            <a:avLst/>
          </a:prstGeom>
          <a:noFill/>
        </p:spPr>
        <p:txBody>
          <a:bodyPr wrap="square" lIns="0" rIns="0" tIns="0" bIns="0">
            <a:spAutoFit/>
          </a:bodyPr>
          <a:lstStyle/>
          <a:p>
            <a:pPr>
              <a:spcAft>
                <a:spcPts val="1200"/>
              </a:spcAft>
              <a:defRPr sz="2400" b="1">
                <a:solidFill>
                  <a:srgbClr val="2463A6"/>
                </a:solidFill>
                <a:latin typeface="Aptos"/>
              </a:defRPr>
            </a:pPr>
            <a:r>
              <a:t>•</a:t>
            </a:r>
          </a:p>
        </p:txBody>
      </p:sp>
      <p:sp>
        <p:nvSpPr>
          <p:cNvPr id="9" name="TextBox 8"/>
          <p:cNvSpPr txBox="1"/>
          <p:nvPr/>
        </p:nvSpPr>
        <p:spPr>
          <a:xfrm>
            <a:off x="1005840" y="2679191"/>
            <a:ext cx="10241280" cy="694944"/>
          </a:xfrm>
          <a:prstGeom prst="rect">
            <a:avLst/>
          </a:prstGeom>
          <a:noFill/>
        </p:spPr>
        <p:txBody>
          <a:bodyPr wrap="square" lIns="0" rIns="0" tIns="0" bIns="0">
            <a:spAutoFit/>
          </a:bodyPr>
          <a:lstStyle/>
          <a:p>
            <a:pPr>
              <a:spcAft>
                <a:spcPts val="1200"/>
              </a:spcAft>
              <a:defRPr sz="2400" b="0">
                <a:solidFill>
                  <a:srgbClr val="18283B"/>
                </a:solidFill>
                <a:latin typeface="Aptos"/>
              </a:defRPr>
            </a:pPr>
            <a:r>
              <a:t>Batched tokens can select different experts.</a:t>
            </a:r>
          </a:p>
        </p:txBody>
      </p:sp>
      <p:sp>
        <p:nvSpPr>
          <p:cNvPr id="10" name="TextBox 9"/>
          <p:cNvSpPr txBox="1"/>
          <p:nvPr/>
        </p:nvSpPr>
        <p:spPr>
          <a:xfrm>
            <a:off x="640080" y="3483863"/>
            <a:ext cx="228600" cy="457200"/>
          </a:xfrm>
          <a:prstGeom prst="rect">
            <a:avLst/>
          </a:prstGeom>
          <a:noFill/>
        </p:spPr>
        <p:txBody>
          <a:bodyPr wrap="square" lIns="0" rIns="0" tIns="0" bIns="0">
            <a:spAutoFit/>
          </a:bodyPr>
          <a:lstStyle/>
          <a:p>
            <a:pPr>
              <a:spcAft>
                <a:spcPts val="1200"/>
              </a:spcAft>
              <a:defRPr sz="2400" b="1">
                <a:solidFill>
                  <a:srgbClr val="2463A6"/>
                </a:solidFill>
                <a:latin typeface="Aptos"/>
              </a:defRPr>
            </a:pPr>
            <a:r>
              <a:t>•</a:t>
            </a:r>
          </a:p>
        </p:txBody>
      </p:sp>
      <p:sp>
        <p:nvSpPr>
          <p:cNvPr id="11" name="TextBox 10"/>
          <p:cNvSpPr txBox="1"/>
          <p:nvPr/>
        </p:nvSpPr>
        <p:spPr>
          <a:xfrm>
            <a:off x="1005840" y="3483863"/>
            <a:ext cx="10241280" cy="694944"/>
          </a:xfrm>
          <a:prstGeom prst="rect">
            <a:avLst/>
          </a:prstGeom>
          <a:noFill/>
        </p:spPr>
        <p:txBody>
          <a:bodyPr wrap="square" lIns="0" rIns="0" tIns="0" bIns="0">
            <a:spAutoFit/>
          </a:bodyPr>
          <a:lstStyle/>
          <a:p>
            <a:pPr>
              <a:spcAft>
                <a:spcPts val="1200"/>
              </a:spcAft>
              <a:defRPr sz="2400" b="0">
                <a:solidFill>
                  <a:srgbClr val="18283B"/>
                </a:solidFill>
                <a:latin typeface="Aptos"/>
              </a:defRPr>
            </a:pPr>
            <a:r>
              <a:t>Qwen has a 51.23B lookup table, not a full per-token GEMM.</a:t>
            </a:r>
          </a:p>
        </p:txBody>
      </p:sp>
      <p:sp>
        <p:nvSpPr>
          <p:cNvPr id="12" name="TextBox 11"/>
          <p:cNvSpPr txBox="1"/>
          <p:nvPr/>
        </p:nvSpPr>
        <p:spPr>
          <a:xfrm>
            <a:off x="640080" y="4288536"/>
            <a:ext cx="228600" cy="457200"/>
          </a:xfrm>
          <a:prstGeom prst="rect">
            <a:avLst/>
          </a:prstGeom>
          <a:noFill/>
        </p:spPr>
        <p:txBody>
          <a:bodyPr wrap="square" lIns="0" rIns="0" tIns="0" bIns="0">
            <a:spAutoFit/>
          </a:bodyPr>
          <a:lstStyle/>
          <a:p>
            <a:pPr>
              <a:spcAft>
                <a:spcPts val="1200"/>
              </a:spcAft>
              <a:defRPr sz="2400" b="1">
                <a:solidFill>
                  <a:srgbClr val="2463A6"/>
                </a:solidFill>
                <a:latin typeface="Aptos"/>
              </a:defRPr>
            </a:pPr>
            <a:r>
              <a:t>•</a:t>
            </a:r>
          </a:p>
        </p:txBody>
      </p:sp>
      <p:sp>
        <p:nvSpPr>
          <p:cNvPr id="13" name="TextBox 12"/>
          <p:cNvSpPr txBox="1"/>
          <p:nvPr/>
        </p:nvSpPr>
        <p:spPr>
          <a:xfrm>
            <a:off x="1005840" y="4288536"/>
            <a:ext cx="10241280" cy="694944"/>
          </a:xfrm>
          <a:prstGeom prst="rect">
            <a:avLst/>
          </a:prstGeom>
          <a:noFill/>
        </p:spPr>
        <p:txBody>
          <a:bodyPr wrap="square" lIns="0" rIns="0" tIns="0" bIns="0">
            <a:spAutoFit/>
          </a:bodyPr>
          <a:lstStyle/>
          <a:p>
            <a:pPr>
              <a:spcAft>
                <a:spcPts val="1200"/>
              </a:spcAft>
              <a:defRPr sz="2400" b="0">
                <a:solidFill>
                  <a:srgbClr val="18283B"/>
                </a:solidFill>
                <a:latin typeface="Aptos"/>
              </a:defRPr>
            </a:pPr>
            <a:r>
              <a:t>State, indexing, and communication add other costs.</a:t>
            </a:r>
          </a:p>
        </p:txBody>
      </p:sp>
      <p:sp>
        <p:nvSpPr>
          <p:cNvPr id="14" name="Rectangle 13"/>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Kimi K3: ideal 4-bit weights alone ≈ 1,304 GiB.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Backup · Enable MTP or FP8 KV?</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report.md §§5, 7</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B5</a:t>
            </a:r>
          </a:p>
        </p:txBody>
      </p:sp>
      <p:graphicFrame>
        <p:nvGraphicFramePr>
          <p:cNvPr id="6" name="Table 5"/>
          <p:cNvGraphicFramePr>
            <a:graphicFrameLocks noGrp="1"/>
          </p:cNvGraphicFramePr>
          <p:nvPr/>
        </p:nvGraphicFramePr>
        <p:xfrm>
          <a:off x="594360" y="1828800"/>
          <a:ext cx="10972800" cy="3182112"/>
        </p:xfrm>
        <a:graphic>
          <a:graphicData uri="http://schemas.openxmlformats.org/drawingml/2006/table">
            <a:tbl>
              <a:tblPr firstRow="1" bandRow="1">
                <a:tableStyleId>{5C22544A-7EE6-4342-B048-85BDC9FD1C3A}</a:tableStyleId>
              </a:tblPr>
              <a:tblGrid>
                <a:gridCol w="3200400"/>
                <a:gridCol w="7772400"/>
              </a:tblGrid>
              <a:tr h="795528">
                <a:tc>
                  <a:txBody>
                    <a:bodyPr/>
                    <a:lstStyle/>
                    <a:p>
                      <a:pPr>
                        <a:spcAft>
                          <a:spcPts val="0"/>
                        </a:spcAft>
                        <a:defRPr sz="2100" b="1">
                          <a:solidFill>
                            <a:srgbClr val="FFFFFF"/>
                          </a:solidFill>
                          <a:latin typeface="Aptos"/>
                        </a:defRPr>
                      </a:pPr>
                      <a:r>
                        <a:t>GLM option</a:t>
                      </a:r>
                    </a:p>
                  </a:txBody>
                  <a:tcPr marL="146304" marR="109728" marT="73152" marB="54864" anchor="ctr">
                    <a:solidFill>
                      <a:srgbClr val="2463A6"/>
                    </a:solidFill>
                  </a:tcPr>
                </a:tc>
                <a:tc>
                  <a:txBody>
                    <a:bodyPr/>
                    <a:lstStyle/>
                    <a:p>
                      <a:pPr>
                        <a:spcAft>
                          <a:spcPts val="0"/>
                        </a:spcAft>
                        <a:defRPr sz="2100" b="1">
                          <a:solidFill>
                            <a:srgbClr val="FFFFFF"/>
                          </a:solidFill>
                          <a:latin typeface="Aptos"/>
                        </a:defRPr>
                      </a:pPr>
                      <a:r>
                        <a:t>Observed tradeoff</a:t>
                      </a:r>
                    </a:p>
                  </a:txBody>
                  <a:tcPr marL="146304" marR="109728" marT="73152" marB="54864" anchor="ctr">
                    <a:solidFill>
                      <a:srgbClr val="2463A6"/>
                    </a:solidFill>
                  </a:tcPr>
                </a:tc>
              </a:tr>
              <a:tr h="795528">
                <a:tc>
                  <a:txBody>
                    <a:bodyPr/>
                    <a:lstStyle/>
                    <a:p>
                      <a:pPr>
                        <a:spcAft>
                          <a:spcPts val="0"/>
                        </a:spcAft>
                        <a:defRPr sz="2300" b="0">
                          <a:solidFill>
                            <a:srgbClr val="18283B"/>
                          </a:solidFill>
                          <a:latin typeface="Aptos"/>
                        </a:defRPr>
                      </a:pPr>
                      <a:r>
                        <a:t>MTP, 1 draft</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+24% throughput at c1; approximately flat at c64</a:t>
                      </a:r>
                    </a:p>
                  </a:txBody>
                  <a:tcPr marL="146304" marR="109728" marT="73152" marB="54864" anchor="ctr">
                    <a:solidFill>
                      <a:srgbClr val="FFFFFF"/>
                    </a:solidFill>
                  </a:tcPr>
                </a:tc>
              </a:tr>
              <a:tr h="795528">
                <a:tc>
                  <a:txBody>
                    <a:bodyPr/>
                    <a:lstStyle/>
                    <a:p>
                      <a:pPr>
                        <a:spcAft>
                          <a:spcPts val="0"/>
                        </a:spcAft>
                        <a:defRPr sz="2300" b="0">
                          <a:solidFill>
                            <a:srgbClr val="18283B"/>
                          </a:solidFill>
                          <a:latin typeface="Aptos"/>
                        </a:defRPr>
                      </a:pPr>
                      <a:r>
                        <a:t>MTP, 5 drafts</a:t>
                      </a:r>
                    </a:p>
                  </a:txBody>
                  <a:tcPr marL="146304" marR="109728" marT="73152" marB="54864" anchor="ctr">
                    <a:solidFill>
                      <a:srgbClr val="F5F7FA"/>
                    </a:solidFill>
                  </a:tcPr>
                </a:tc>
                <a:tc>
                  <a:txBody>
                    <a:bodyPr/>
                    <a:lstStyle/>
                    <a:p>
                      <a:pPr>
                        <a:spcAft>
                          <a:spcPts val="0"/>
                        </a:spcAft>
                        <a:defRPr sz="2300" b="0">
                          <a:solidFill>
                            <a:srgbClr val="18283B"/>
                          </a:solidFill>
                          <a:latin typeface="Aptos"/>
                        </a:defRPr>
                      </a:pPr>
                      <a:r>
                        <a:t>−9% throughput; 99.2% cache occupancy at c64</a:t>
                      </a:r>
                    </a:p>
                  </a:txBody>
                  <a:tcPr marL="146304" marR="109728" marT="73152" marB="54864" anchor="ctr">
                    <a:solidFill>
                      <a:srgbClr val="F5F7FA"/>
                    </a:solidFill>
                  </a:tcPr>
                </a:tc>
              </a:tr>
              <a:tr h="795528">
                <a:tc>
                  <a:txBody>
                    <a:bodyPr/>
                    <a:lstStyle/>
                    <a:p>
                      <a:pPr>
                        <a:spcAft>
                          <a:spcPts val="0"/>
                        </a:spcAft>
                        <a:defRPr sz="2300" b="0">
                          <a:solidFill>
                            <a:srgbClr val="18283B"/>
                          </a:solidFill>
                          <a:latin typeface="Aptos"/>
                        </a:defRPr>
                      </a:pPr>
                      <a:r>
                        <a:t>FP8 KV</a:t>
                      </a:r>
                    </a:p>
                  </a:txBody>
                  <a:tcPr marL="146304" marR="109728" marT="73152" marB="54864" anchor="ctr">
                    <a:solidFill>
                      <a:srgbClr val="FFFFFF"/>
                    </a:solidFill>
                  </a:tcPr>
                </a:tc>
                <a:tc>
                  <a:txBody>
                    <a:bodyPr/>
                    <a:lstStyle/>
                    <a:p>
                      <a:pPr>
                        <a:spcAft>
                          <a:spcPts val="0"/>
                        </a:spcAft>
                        <a:defRPr sz="2300" b="0">
                          <a:solidFill>
                            <a:srgbClr val="18283B"/>
                          </a:solidFill>
                          <a:latin typeface="Aptos"/>
                        </a:defRPr>
                      </a:pPr>
                      <a:r>
                        <a:t>More capacity; −25% versus paired BF16 at c64</a:t>
                      </a:r>
                    </a:p>
                  </a:txBody>
                  <a:tcPr marL="146304" marR="109728" marT="73152" marB="54864" anchor="ctr">
                    <a:solidFill>
                      <a:srgbClr val="FFFFFF"/>
                    </a:solidFill>
                  </a:tcPr>
                </a:tc>
              </a:tr>
            </a:tbl>
          </a:graphicData>
        </a:graphic>
      </p:graphicFrame>
      <p:sp>
        <p:nvSpPr>
          <p:cNvPr id="7" name="Rectangle 6"/>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Decide using latency, throughput, memory, and quality.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Backup · Hard questions, short answers</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Expanded answers and evidence: report.md §9</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B6</a:t>
            </a:r>
          </a:p>
        </p:txBody>
      </p:sp>
      <p:graphicFrame>
        <p:nvGraphicFramePr>
          <p:cNvPr id="6" name="Table 5"/>
          <p:cNvGraphicFramePr>
            <a:graphicFrameLocks noGrp="1"/>
          </p:cNvGraphicFramePr>
          <p:nvPr/>
        </p:nvGraphicFramePr>
        <p:xfrm>
          <a:off x="594360" y="1828800"/>
          <a:ext cx="10972800" cy="3730752"/>
        </p:xfrm>
        <a:graphic>
          <a:graphicData uri="http://schemas.openxmlformats.org/drawingml/2006/table">
            <a:tbl>
              <a:tblPr firstRow="1" bandRow="1">
                <a:tableStyleId>{5C22544A-7EE6-4342-B048-85BDC9FD1C3A}</a:tableStyleId>
              </a:tblPr>
              <a:tblGrid>
                <a:gridCol w="3291840"/>
                <a:gridCol w="7680960"/>
              </a:tblGrid>
              <a:tr h="621792">
                <a:tc>
                  <a:txBody>
                    <a:bodyPr/>
                    <a:lstStyle/>
                    <a:p>
                      <a:pPr>
                        <a:spcAft>
                          <a:spcPts val="0"/>
                        </a:spcAft>
                        <a:defRPr sz="1900" b="1">
                          <a:solidFill>
                            <a:srgbClr val="FFFFFF"/>
                          </a:solidFill>
                          <a:latin typeface="Aptos"/>
                        </a:defRPr>
                      </a:pPr>
                      <a:r>
                        <a:t>Question</a:t>
                      </a:r>
                    </a:p>
                  </a:txBody>
                  <a:tcPr marL="146304" marR="109728" marT="73152" marB="54864" anchor="ctr">
                    <a:solidFill>
                      <a:srgbClr val="2463A6"/>
                    </a:solidFill>
                  </a:tcPr>
                </a:tc>
                <a:tc>
                  <a:txBody>
                    <a:bodyPr/>
                    <a:lstStyle/>
                    <a:p>
                      <a:pPr>
                        <a:spcAft>
                          <a:spcPts val="0"/>
                        </a:spcAft>
                        <a:defRPr sz="1900" b="1">
                          <a:solidFill>
                            <a:srgbClr val="FFFFFF"/>
                          </a:solidFill>
                          <a:latin typeface="Aptos"/>
                        </a:defRPr>
                      </a:pPr>
                      <a:r>
                        <a:t>Answer</a:t>
                      </a:r>
                    </a:p>
                  </a:txBody>
                  <a:tcPr marL="146304" marR="109728" marT="73152" marB="54864" anchor="ctr">
                    <a:solidFill>
                      <a:srgbClr val="2463A6"/>
                    </a:solidFill>
                  </a:tcPr>
                </a:tc>
              </a:tr>
              <a:tr h="621792">
                <a:tc>
                  <a:txBody>
                    <a:bodyPr/>
                    <a:lstStyle/>
                    <a:p>
                      <a:pPr>
                        <a:spcAft>
                          <a:spcPts val="0"/>
                        </a:spcAft>
                        <a:defRPr sz="2100" b="0">
                          <a:solidFill>
                            <a:srgbClr val="18283B"/>
                          </a:solidFill>
                          <a:latin typeface="Aptos"/>
                        </a:defRPr>
                      </a:pPr>
                      <a:r>
                        <a:t>Error bars?</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Most cells have one retained run; repeats are next.</a:t>
                      </a:r>
                    </a:p>
                  </a:txBody>
                  <a:tcPr marL="146304" marR="109728" marT="73152" marB="54864" anchor="ctr">
                    <a:solidFill>
                      <a:srgbClr val="FFFFFF"/>
                    </a:solidFill>
                  </a:tcPr>
                </a:tc>
              </a:tr>
              <a:tr h="621792">
                <a:tc>
                  <a:txBody>
                    <a:bodyPr/>
                    <a:lstStyle/>
                    <a:p>
                      <a:pPr>
                        <a:spcAft>
                          <a:spcPts val="0"/>
                        </a:spcAft>
                        <a:defRPr sz="2100" b="0">
                          <a:solidFill>
                            <a:srgbClr val="18283B"/>
                          </a:solidFill>
                          <a:latin typeface="Aptos"/>
                        </a:defRPr>
                      </a:pPr>
                      <a:r>
                        <a:t>Why not fewer GPUs?</a:t>
                      </a:r>
                    </a:p>
                  </a:txBody>
                  <a:tcPr marL="146304" marR="109728" marT="73152" marB="54864" anchor="ctr">
                    <a:solidFill>
                      <a:srgbClr val="F5F7FA"/>
                    </a:solidFill>
                  </a:tcPr>
                </a:tc>
                <a:tc>
                  <a:txBody>
                    <a:bodyPr/>
                    <a:lstStyle/>
                    <a:p>
                      <a:pPr>
                        <a:spcAft>
                          <a:spcPts val="0"/>
                        </a:spcAft>
                        <a:defRPr sz="2100" b="0">
                          <a:solidFill>
                            <a:srgbClr val="18283B"/>
                          </a:solidFill>
                          <a:latin typeface="Aptos"/>
                        </a:defRPr>
                      </a:pPr>
                      <a:r>
                        <a:t>No sweep establishes the best feasible layout.</a:t>
                      </a:r>
                    </a:p>
                  </a:txBody>
                  <a:tcPr marL="146304" marR="109728" marT="73152" marB="54864" anchor="ctr">
                    <a:solidFill>
                      <a:srgbClr val="F5F7FA"/>
                    </a:solidFill>
                  </a:tcPr>
                </a:tc>
              </a:tr>
              <a:tr h="621792">
                <a:tc>
                  <a:txBody>
                    <a:bodyPr/>
                    <a:lstStyle/>
                    <a:p>
                      <a:pPr>
                        <a:spcAft>
                          <a:spcPts val="0"/>
                        </a:spcAft>
                        <a:defRPr sz="2100" b="0">
                          <a:solidFill>
                            <a:srgbClr val="18283B"/>
                          </a:solidFill>
                          <a:latin typeface="Aptos"/>
                        </a:defRPr>
                      </a:pPr>
                      <a:r>
                        <a:t>Production cost?</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Illustrative allocation cost; no quality or idle time.</a:t>
                      </a:r>
                    </a:p>
                  </a:txBody>
                  <a:tcPr marL="146304" marR="109728" marT="73152" marB="54864" anchor="ctr">
                    <a:solidFill>
                      <a:srgbClr val="FFFFFF"/>
                    </a:solidFill>
                  </a:tcPr>
                </a:tc>
              </a:tr>
              <a:tr h="621792">
                <a:tc>
                  <a:txBody>
                    <a:bodyPr/>
                    <a:lstStyle/>
                    <a:p>
                      <a:pPr>
                        <a:spcAft>
                          <a:spcPts val="0"/>
                        </a:spcAft>
                        <a:defRPr sz="2100" b="0">
                          <a:solidFill>
                            <a:srgbClr val="18283B"/>
                          </a:solidFill>
                          <a:latin typeface="Aptos"/>
                        </a:defRPr>
                      </a:pPr>
                      <a:r>
                        <a:t>Real traffic replay?</a:t>
                      </a:r>
                    </a:p>
                  </a:txBody>
                  <a:tcPr marL="146304" marR="109728" marT="73152" marB="54864" anchor="ctr">
                    <a:solidFill>
                      <a:srgbClr val="F5F7FA"/>
                    </a:solidFill>
                  </a:tcPr>
                </a:tc>
                <a:tc>
                  <a:txBody>
                    <a:bodyPr/>
                    <a:lstStyle/>
                    <a:p>
                      <a:pPr>
                        <a:spcAft>
                          <a:spcPts val="0"/>
                        </a:spcAft>
                        <a:defRPr sz="2100" b="0">
                          <a:solidFill>
                            <a:srgbClr val="18283B"/>
                          </a:solidFill>
                          <a:latin typeface="Aptos"/>
                        </a:defRPr>
                      </a:pPr>
                      <a:r>
                        <a:t>No; workload summaries informed a synthetic grid.</a:t>
                      </a:r>
                    </a:p>
                  </a:txBody>
                  <a:tcPr marL="146304" marR="109728" marT="73152" marB="54864" anchor="ctr">
                    <a:solidFill>
                      <a:srgbClr val="F5F7FA"/>
                    </a:solidFill>
                  </a:tcPr>
                </a:tc>
              </a:tr>
              <a:tr h="621792">
                <a:tc>
                  <a:txBody>
                    <a:bodyPr/>
                    <a:lstStyle/>
                    <a:p>
                      <a:pPr>
                        <a:spcAft>
                          <a:spcPts val="0"/>
                        </a:spcAft>
                        <a:defRPr sz="2100" b="0">
                          <a:solidFill>
                            <a:srgbClr val="18283B"/>
                          </a:solidFill>
                          <a:latin typeface="Aptos"/>
                        </a:defRPr>
                      </a:pPr>
                      <a:r>
                        <a:t>What could change the result?</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Matched reruns or operator-level profiling.</a:t>
                      </a:r>
                    </a:p>
                  </a:txBody>
                  <a:tcPr marL="146304" marR="109728" marT="73152" marB="54864"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Backup · A CUDA error can start on the CPU</a:t>
            </a:r>
          </a:p>
        </p:txBody>
      </p:sp>
      <p:sp>
        <p:nvSpPr>
          <p:cNvPr id="4" name="TextBox 3"/>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fix_bug.md Bugs 2–3</a:t>
            </a:r>
          </a:p>
        </p:txBody>
      </p:sp>
      <p:sp>
        <p:nvSpPr>
          <p:cNvPr id="5" name="TextBox 4"/>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B7</a:t>
            </a:r>
          </a:p>
        </p:txBody>
      </p:sp>
      <p:sp>
        <p:nvSpPr>
          <p:cNvPr id="6" name="TextBox 5"/>
          <p:cNvSpPr txBox="1"/>
          <p:nvPr/>
        </p:nvSpPr>
        <p:spPr>
          <a:xfrm>
            <a:off x="594360" y="1810512"/>
            <a:ext cx="10972800" cy="640080"/>
          </a:xfrm>
          <a:prstGeom prst="rect">
            <a:avLst/>
          </a:prstGeom>
          <a:noFill/>
        </p:spPr>
        <p:txBody>
          <a:bodyPr wrap="square" lIns="0" rIns="0" tIns="0" bIns="0">
            <a:spAutoFit/>
          </a:bodyPr>
          <a:lstStyle/>
          <a:p>
            <a:pPr>
              <a:spcAft>
                <a:spcPts val="1200"/>
              </a:spcAft>
              <a:defRPr sz="2800" b="1">
                <a:solidFill>
                  <a:srgbClr val="2463A6"/>
                </a:solidFill>
                <a:latin typeface="Aptos"/>
              </a:defRPr>
            </a:pPr>
            <a:r>
              <a:t>CUDA failure → compiler error → cache quota</a:t>
            </a:r>
          </a:p>
        </p:txBody>
      </p:sp>
      <p:sp>
        <p:nvSpPr>
          <p:cNvPr id="7" name="TextBox 6"/>
          <p:cNvSpPr txBox="1"/>
          <p:nvPr/>
        </p:nvSpPr>
        <p:spPr>
          <a:xfrm>
            <a:off x="640080" y="2743200"/>
            <a:ext cx="228600" cy="457200"/>
          </a:xfrm>
          <a:prstGeom prst="rect">
            <a:avLst/>
          </a:prstGeom>
          <a:noFill/>
        </p:spPr>
        <p:txBody>
          <a:bodyPr wrap="square" lIns="0" rIns="0" tIns="0" bIns="0">
            <a:spAutoFit/>
          </a:bodyPr>
          <a:lstStyle/>
          <a:p>
            <a:pPr>
              <a:spcAft>
                <a:spcPts val="1200"/>
              </a:spcAft>
              <a:defRPr sz="2400" b="1">
                <a:solidFill>
                  <a:srgbClr val="2463A6"/>
                </a:solidFill>
                <a:latin typeface="Aptos"/>
              </a:defRPr>
            </a:pPr>
            <a:r>
              <a:t>•</a:t>
            </a:r>
          </a:p>
        </p:txBody>
      </p:sp>
      <p:sp>
        <p:nvSpPr>
          <p:cNvPr id="8" name="TextBox 7"/>
          <p:cNvSpPr txBox="1"/>
          <p:nvPr/>
        </p:nvSpPr>
        <p:spPr>
          <a:xfrm>
            <a:off x="1005840" y="2743200"/>
            <a:ext cx="10241280" cy="621792"/>
          </a:xfrm>
          <a:prstGeom prst="rect">
            <a:avLst/>
          </a:prstGeom>
          <a:noFill/>
        </p:spPr>
        <p:txBody>
          <a:bodyPr wrap="square" lIns="0" rIns="0" tIns="0" bIns="0">
            <a:spAutoFit/>
          </a:bodyPr>
          <a:lstStyle/>
          <a:p>
            <a:pPr>
              <a:spcAft>
                <a:spcPts val="1200"/>
              </a:spcAft>
              <a:defRPr sz="2400" b="0">
                <a:solidFill>
                  <a:srgbClr val="18283B"/>
                </a:solidFill>
                <a:latin typeface="Aptos"/>
              </a:defRPr>
            </a:pPr>
            <a:r>
              <a:t>Disabling CUDA graphs did not resolve the failure.</a:t>
            </a:r>
          </a:p>
        </p:txBody>
      </p:sp>
      <p:sp>
        <p:nvSpPr>
          <p:cNvPr id="9" name="TextBox 8"/>
          <p:cNvSpPr txBox="1"/>
          <p:nvPr/>
        </p:nvSpPr>
        <p:spPr>
          <a:xfrm>
            <a:off x="640080" y="3474720"/>
            <a:ext cx="228600" cy="457200"/>
          </a:xfrm>
          <a:prstGeom prst="rect">
            <a:avLst/>
          </a:prstGeom>
          <a:noFill/>
        </p:spPr>
        <p:txBody>
          <a:bodyPr wrap="square" lIns="0" rIns="0" tIns="0" bIns="0">
            <a:spAutoFit/>
          </a:bodyPr>
          <a:lstStyle/>
          <a:p>
            <a:pPr>
              <a:spcAft>
                <a:spcPts val="1200"/>
              </a:spcAft>
              <a:defRPr sz="2400" b="1">
                <a:solidFill>
                  <a:srgbClr val="2463A6"/>
                </a:solidFill>
                <a:latin typeface="Aptos"/>
              </a:defRPr>
            </a:pPr>
            <a:r>
              <a:t>•</a:t>
            </a:r>
          </a:p>
        </p:txBody>
      </p:sp>
      <p:sp>
        <p:nvSpPr>
          <p:cNvPr id="10" name="TextBox 9"/>
          <p:cNvSpPr txBox="1"/>
          <p:nvPr/>
        </p:nvSpPr>
        <p:spPr>
          <a:xfrm>
            <a:off x="1005840" y="3474720"/>
            <a:ext cx="10241280" cy="621792"/>
          </a:xfrm>
          <a:prstGeom prst="rect">
            <a:avLst/>
          </a:prstGeom>
          <a:noFill/>
        </p:spPr>
        <p:txBody>
          <a:bodyPr wrap="square" lIns="0" rIns="0" tIns="0" bIns="0">
            <a:spAutoFit/>
          </a:bodyPr>
          <a:lstStyle/>
          <a:p>
            <a:pPr>
              <a:spcAft>
                <a:spcPts val="1200"/>
              </a:spcAft>
              <a:defRPr sz="2400" b="0">
                <a:solidFill>
                  <a:srgbClr val="18283B"/>
                </a:solidFill>
                <a:latin typeface="Aptos"/>
              </a:defRPr>
            </a:pPr>
            <a:r>
              <a:t>Eager execution still used the same compiler/cache path.</a:t>
            </a:r>
          </a:p>
        </p:txBody>
      </p:sp>
      <p:sp>
        <p:nvSpPr>
          <p:cNvPr id="11" name="TextBox 10"/>
          <p:cNvSpPr txBox="1"/>
          <p:nvPr/>
        </p:nvSpPr>
        <p:spPr>
          <a:xfrm>
            <a:off x="640080" y="4206240"/>
            <a:ext cx="228600" cy="457200"/>
          </a:xfrm>
          <a:prstGeom prst="rect">
            <a:avLst/>
          </a:prstGeom>
          <a:noFill/>
        </p:spPr>
        <p:txBody>
          <a:bodyPr wrap="square" lIns="0" rIns="0" tIns="0" bIns="0">
            <a:spAutoFit/>
          </a:bodyPr>
          <a:lstStyle/>
          <a:p>
            <a:pPr>
              <a:spcAft>
                <a:spcPts val="1200"/>
              </a:spcAft>
              <a:defRPr sz="2400" b="1">
                <a:solidFill>
                  <a:srgbClr val="2463A6"/>
                </a:solidFill>
                <a:latin typeface="Aptos"/>
              </a:defRPr>
            </a:pPr>
            <a:r>
              <a:t>•</a:t>
            </a:r>
          </a:p>
        </p:txBody>
      </p:sp>
      <p:sp>
        <p:nvSpPr>
          <p:cNvPr id="12" name="TextBox 11"/>
          <p:cNvSpPr txBox="1"/>
          <p:nvPr/>
        </p:nvSpPr>
        <p:spPr>
          <a:xfrm>
            <a:off x="1005840" y="4206240"/>
            <a:ext cx="10241280" cy="621792"/>
          </a:xfrm>
          <a:prstGeom prst="rect">
            <a:avLst/>
          </a:prstGeom>
          <a:noFill/>
        </p:spPr>
        <p:txBody>
          <a:bodyPr wrap="square" lIns="0" rIns="0" tIns="0" bIns="0">
            <a:spAutoFit/>
          </a:bodyPr>
          <a:lstStyle/>
          <a:p>
            <a:pPr>
              <a:spcAft>
                <a:spcPts val="1200"/>
              </a:spcAft>
              <a:defRPr sz="2400" b="0">
                <a:solidFill>
                  <a:srgbClr val="18283B"/>
                </a:solidFill>
                <a:latin typeface="Aptos"/>
              </a:defRPr>
            </a:pPr>
            <a:r>
              <a:t>Redirected caches allowed graph-enabled startup.</a:t>
            </a:r>
          </a:p>
        </p:txBody>
      </p:sp>
      <p:sp>
        <p:nvSpPr>
          <p:cNvPr id="13" name="Rectangle 12"/>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5404103"/>
            <a:ext cx="10652760" cy="420624"/>
          </a:xfrm>
          <a:prstGeom prst="rect">
            <a:avLst/>
          </a:prstGeom>
          <a:noFill/>
        </p:spPr>
        <p:txBody>
          <a:bodyPr wrap="square" lIns="0" rIns="0" tIns="0" bIns="0">
            <a:spAutoFit/>
          </a:bodyPr>
          <a:lstStyle/>
          <a:p>
            <a:pPr>
              <a:spcAft>
                <a:spcPts val="1200"/>
              </a:spcAft>
              <a:defRPr sz="2400" b="1">
                <a:solidFill>
                  <a:srgbClr val="2463A6"/>
                </a:solidFill>
                <a:latin typeface="Aptos"/>
              </a:defRPr>
            </a:pPr>
            <a:r>
              <a:t>A failed hypothesis test narrows the diagnosis.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48640" y="256032"/>
            <a:ext cx="9144000" cy="228600"/>
          </a:xfrm>
          <a:prstGeom prst="rect">
            <a:avLst/>
          </a:prstGeom>
          <a:noFill/>
        </p:spPr>
        <p:txBody>
          <a:bodyPr wrap="square" lIns="0" rIns="0" tIns="0" bIns="0">
            <a:spAutoFit/>
          </a:bodyPr>
          <a:lstStyle/>
          <a:p>
            <a:pPr>
              <a:spcAft>
                <a:spcPts val="1200"/>
              </a:spcAft>
              <a:defRPr sz="1100" b="1">
                <a:solidFill>
                  <a:srgbClr val="2463A6"/>
                </a:solidFill>
                <a:latin typeface="Aptos"/>
              </a:defRPr>
            </a:pPr>
            <a:r>
              <a:t>UW SyFI  /  ML SYSTEMS</a:t>
            </a:r>
          </a:p>
        </p:txBody>
      </p:sp>
      <p:sp>
        <p:nvSpPr>
          <p:cNvPr id="3" name="TextBox 2"/>
          <p:cNvSpPr txBox="1"/>
          <p:nvPr/>
        </p:nvSpPr>
        <p:spPr>
          <a:xfrm>
            <a:off x="548640" y="804672"/>
            <a:ext cx="11018520" cy="859536"/>
          </a:xfrm>
          <a:prstGeom prst="rect">
            <a:avLst/>
          </a:prstGeom>
          <a:noFill/>
        </p:spPr>
        <p:txBody>
          <a:bodyPr wrap="square" lIns="0" rIns="0" tIns="0" bIns="0">
            <a:spAutoFit/>
          </a:bodyPr>
          <a:lstStyle/>
          <a:p>
            <a:pPr>
              <a:spcAft>
                <a:spcPts val="1200"/>
              </a:spcAft>
              <a:defRPr sz="3100" b="1">
                <a:solidFill>
                  <a:srgbClr val="18283B"/>
                </a:solidFill>
                <a:latin typeface="Aptos"/>
              </a:defRPr>
            </a:pPr>
            <a:r>
              <a:t>Backup · A failed route is not a failed idea</a:t>
            </a:r>
          </a:p>
        </p:txBody>
      </p:sp>
      <p:sp>
        <p:nvSpPr>
          <p:cNvPr id="4" name="TextBox 3"/>
          <p:cNvSpPr txBox="1"/>
          <p:nvPr/>
        </p:nvSpPr>
        <p:spPr>
          <a:xfrm>
            <a:off x="576072" y="6007608"/>
            <a:ext cx="10972800" cy="393192"/>
          </a:xfrm>
          <a:prstGeom prst="rect">
            <a:avLst/>
          </a:prstGeom>
          <a:noFill/>
        </p:spPr>
        <p:txBody>
          <a:bodyPr wrap="square" lIns="0" rIns="0" tIns="0" bIns="0">
            <a:spAutoFit/>
          </a:bodyPr>
          <a:lstStyle/>
          <a:p>
            <a:pPr>
              <a:spcAft>
                <a:spcPts val="1200"/>
              </a:spcAft>
              <a:defRPr sz="1400" b="0">
                <a:solidFill>
                  <a:srgbClr val="596777"/>
                </a:solidFill>
                <a:latin typeface="Aptos"/>
              </a:defRPr>
            </a:pPr>
            <a:r>
              <a:t>Experimental version-check bypass; numerical parity and production suitability unverified.</a:t>
            </a:r>
          </a:p>
        </p:txBody>
      </p:sp>
      <p:sp>
        <p:nvSpPr>
          <p:cNvPr id="5" name="TextBox 4"/>
          <p:cNvSpPr txBox="1"/>
          <p:nvPr/>
        </p:nvSpPr>
        <p:spPr>
          <a:xfrm>
            <a:off x="576072" y="6473952"/>
            <a:ext cx="10469880" cy="182880"/>
          </a:xfrm>
          <a:prstGeom prst="rect">
            <a:avLst/>
          </a:prstGeom>
          <a:noFill/>
        </p:spPr>
        <p:txBody>
          <a:bodyPr wrap="square" lIns="0" rIns="0" tIns="0" bIns="0">
            <a:spAutoFit/>
          </a:bodyPr>
          <a:lstStyle/>
          <a:p>
            <a:pPr>
              <a:spcAft>
                <a:spcPts val="1200"/>
              </a:spcAft>
              <a:defRPr sz="1000" b="0">
                <a:solidFill>
                  <a:srgbClr val="596777"/>
                </a:solidFill>
                <a:latin typeface="Aptos"/>
              </a:defRPr>
            </a:pPr>
            <a:r>
              <a:t>Source: fix_bug.md Bug 8; GLM alternate-stack controls</a:t>
            </a:r>
          </a:p>
        </p:txBody>
      </p:sp>
      <p:sp>
        <p:nvSpPr>
          <p:cNvPr id="6" name="TextBox 5"/>
          <p:cNvSpPr txBox="1"/>
          <p:nvPr/>
        </p:nvSpPr>
        <p:spPr>
          <a:xfrm>
            <a:off x="11064240" y="6428232"/>
            <a:ext cx="548640" cy="274320"/>
          </a:xfrm>
          <a:prstGeom prst="rect">
            <a:avLst/>
          </a:prstGeom>
          <a:noFill/>
        </p:spPr>
        <p:txBody>
          <a:bodyPr wrap="square" lIns="0" rIns="0" tIns="0" bIns="0">
            <a:spAutoFit/>
          </a:bodyPr>
          <a:lstStyle/>
          <a:p>
            <a:pPr algn="r">
              <a:spcAft>
                <a:spcPts val="1200"/>
              </a:spcAft>
              <a:defRPr sz="1200" b="0">
                <a:solidFill>
                  <a:srgbClr val="596777"/>
                </a:solidFill>
                <a:latin typeface="Aptos"/>
              </a:defRPr>
            </a:pPr>
            <a:r>
              <a:t>B8</a:t>
            </a:r>
          </a:p>
        </p:txBody>
      </p:sp>
      <p:graphicFrame>
        <p:nvGraphicFramePr>
          <p:cNvPr id="7" name="Table 6"/>
          <p:cNvGraphicFramePr>
            <a:graphicFrameLocks noGrp="1"/>
          </p:cNvGraphicFramePr>
          <p:nvPr/>
        </p:nvGraphicFramePr>
        <p:xfrm>
          <a:off x="594360" y="1828800"/>
          <a:ext cx="10972800" cy="3328416"/>
        </p:xfrm>
        <a:graphic>
          <a:graphicData uri="http://schemas.openxmlformats.org/drawingml/2006/table">
            <a:tbl>
              <a:tblPr firstRow="1" bandRow="1">
                <a:tableStyleId>{5C22544A-7EE6-4342-B048-85BDC9FD1C3A}</a:tableStyleId>
              </a:tblPr>
              <a:tblGrid>
                <a:gridCol w="5760720"/>
                <a:gridCol w="5212080"/>
              </a:tblGrid>
              <a:tr h="832104">
                <a:tc>
                  <a:txBody>
                    <a:bodyPr/>
                    <a:lstStyle/>
                    <a:p>
                      <a:pPr>
                        <a:spcAft>
                          <a:spcPts val="0"/>
                        </a:spcAft>
                        <a:defRPr sz="1900" b="1">
                          <a:solidFill>
                            <a:srgbClr val="FFFFFF"/>
                          </a:solidFill>
                          <a:latin typeface="Aptos"/>
                        </a:defRPr>
                      </a:pPr>
                      <a:r>
                        <a:t>GLM FP8 investigation</a:t>
                      </a:r>
                    </a:p>
                  </a:txBody>
                  <a:tcPr marL="146304" marR="109728" marT="73152" marB="54864" anchor="ctr">
                    <a:solidFill>
                      <a:srgbClr val="2463A6"/>
                    </a:solidFill>
                  </a:tcPr>
                </a:tc>
                <a:tc>
                  <a:txBody>
                    <a:bodyPr/>
                    <a:lstStyle/>
                    <a:p>
                      <a:pPr>
                        <a:spcAft>
                          <a:spcPts val="0"/>
                        </a:spcAft>
                        <a:defRPr sz="1900" b="1">
                          <a:solidFill>
                            <a:srgbClr val="FFFFFF"/>
                          </a:solidFill>
                          <a:latin typeface="Aptos"/>
                        </a:defRPr>
                      </a:pPr>
                      <a:r>
                        <a:t>What it establishes</a:t>
                      </a:r>
                    </a:p>
                  </a:txBody>
                  <a:tcPr marL="146304" marR="109728" marT="73152" marB="54864" anchor="ctr">
                    <a:solidFill>
                      <a:srgbClr val="2463A6"/>
                    </a:solidFill>
                  </a:tcPr>
                </a:tc>
              </a:tr>
              <a:tr h="832104">
                <a:tc>
                  <a:txBody>
                    <a:bodyPr/>
                    <a:lstStyle/>
                    <a:p>
                      <a:pPr>
                        <a:spcAft>
                          <a:spcPts val="0"/>
                        </a:spcAft>
                        <a:defRPr sz="2100" b="0">
                          <a:solidFill>
                            <a:srgbClr val="18283B"/>
                          </a:solidFill>
                          <a:latin typeface="Aptos"/>
                        </a:defRPr>
                      </a:pPr>
                      <a:r>
                        <a:t>Layout needs 64 positional dims;</a:t>
                      </a:r>
                    </a:p>
                    <a:p>
                      <a:pPr>
                        <a:spcAft>
                          <a:spcPts val="0"/>
                        </a:spcAft>
                        <a:defRPr sz="2100" b="0">
                          <a:solidFill>
                            <a:srgbClr val="18283B"/>
                          </a:solidFill>
                          <a:latin typeface="Aptos"/>
                        </a:defRPr>
                      </a:pPr>
                      <a:r>
                        <a:t>GLM has 0</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Selected route is incompatible</a:t>
                      </a:r>
                    </a:p>
                  </a:txBody>
                  <a:tcPr marL="146304" marR="109728" marT="73152" marB="54864" anchor="ctr">
                    <a:solidFill>
                      <a:srgbClr val="FFFFFF"/>
                    </a:solidFill>
                  </a:tcPr>
                </a:tc>
              </a:tr>
              <a:tr h="832104">
                <a:tc>
                  <a:txBody>
                    <a:bodyPr/>
                    <a:lstStyle/>
                    <a:p>
                      <a:pPr>
                        <a:spcAft>
                          <a:spcPts val="0"/>
                        </a:spcAft>
                        <a:defRPr sz="2100" b="0">
                          <a:solidFill>
                            <a:srgbClr val="18283B"/>
                          </a:solidFill>
                          <a:latin typeface="Aptos"/>
                        </a:defRPr>
                      </a:pPr>
                      <a:r>
                        <a:t>Alternate NoPE path runs</a:t>
                      </a:r>
                    </a:p>
                  </a:txBody>
                  <a:tcPr marL="146304" marR="109728" marT="73152" marB="54864" anchor="ctr">
                    <a:solidFill>
                      <a:srgbClr val="F5F7FA"/>
                    </a:solidFill>
                  </a:tcPr>
                </a:tc>
                <a:tc>
                  <a:txBody>
                    <a:bodyPr/>
                    <a:lstStyle/>
                    <a:p>
                      <a:pPr>
                        <a:spcAft>
                          <a:spcPts val="0"/>
                        </a:spcAft>
                        <a:defRPr sz="2100" b="0">
                          <a:solidFill>
                            <a:srgbClr val="18283B"/>
                          </a:solidFill>
                          <a:latin typeface="Aptos"/>
                        </a:defRPr>
                      </a:pPr>
                      <a:r>
                        <a:t>FP8 KV is not universally impossible</a:t>
                      </a:r>
                    </a:p>
                  </a:txBody>
                  <a:tcPr marL="146304" marR="109728" marT="73152" marB="54864" anchor="ctr">
                    <a:solidFill>
                      <a:srgbClr val="F5F7FA"/>
                    </a:solidFill>
                  </a:tcPr>
                </a:tc>
              </a:tr>
              <a:tr h="832104">
                <a:tc>
                  <a:txBody>
                    <a:bodyPr/>
                    <a:lstStyle/>
                    <a:p>
                      <a:pPr>
                        <a:spcAft>
                          <a:spcPts val="0"/>
                        </a:spcAft>
                        <a:defRPr sz="2100" b="0">
                          <a:solidFill>
                            <a:srgbClr val="18283B"/>
                          </a:solidFill>
                          <a:latin typeface="Aptos"/>
                        </a:defRPr>
                      </a:pPr>
                      <a:r>
                        <a:t>Paired BF16 348.8 → FP8 262.0 tok/s</a:t>
                      </a:r>
                    </a:p>
                  </a:txBody>
                  <a:tcPr marL="146304" marR="109728" marT="73152" marB="54864" anchor="ctr">
                    <a:solidFill>
                      <a:srgbClr val="FFFFFF"/>
                    </a:solidFill>
                  </a:tcPr>
                </a:tc>
                <a:tc>
                  <a:txBody>
                    <a:bodyPr/>
                    <a:lstStyle/>
                    <a:p>
                      <a:pPr>
                        <a:spcAft>
                          <a:spcPts val="0"/>
                        </a:spcAft>
                        <a:defRPr sz="2100" b="0">
                          <a:solidFill>
                            <a:srgbClr val="18283B"/>
                          </a:solidFill>
                          <a:latin typeface="Aptos"/>
                        </a:defRPr>
                      </a:pPr>
                      <a:r>
                        <a:t>25% throughput tradeoff on that stack</a:t>
                      </a:r>
                    </a:p>
                  </a:txBody>
                  <a:tcPr marL="146304" marR="109728" marT="73152" marB="54864" anchor="ctr">
                    <a:solidFill>
                      <a:srgbClr val="FFFFFF"/>
                    </a:solidFill>
                  </a:tcPr>
                </a:tc>
              </a:tr>
            </a:tbl>
          </a:graphicData>
        </a:graphic>
      </p:graphicFrame>
      <p:sp>
        <p:nvSpPr>
          <p:cNvPr id="8" name="Rectangle 7"/>
          <p:cNvSpPr/>
          <p:nvPr/>
        </p:nvSpPr>
        <p:spPr>
          <a:xfrm>
            <a:off x="548640" y="5276088"/>
            <a:ext cx="11064240" cy="658368"/>
          </a:xfrm>
          <a:prstGeom prst="rect">
            <a:avLst/>
          </a:prstGeom>
          <a:solidFill>
            <a:srgbClr val="ED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404103"/>
            <a:ext cx="10652760" cy="420624"/>
          </a:xfrm>
          <a:prstGeom prst="rect">
            <a:avLst/>
          </a:prstGeom>
          <a:noFill/>
        </p:spPr>
        <p:txBody>
          <a:bodyPr wrap="square" lIns="0" rIns="0" tIns="0" bIns="0">
            <a:spAutoFit/>
          </a:bodyPr>
          <a:lstStyle/>
          <a:p>
            <a:pPr>
              <a:spcAft>
                <a:spcPts val="1200"/>
              </a:spcAft>
              <a:defRPr sz="2300" b="1">
                <a:solidFill>
                  <a:srgbClr val="2463A6"/>
                </a:solidFill>
                <a:latin typeface="Aptos"/>
              </a:defRPr>
            </a:pPr>
            <a:r>
              <a:t>Separate geometry, layout, backend, dtype, and version.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Serving frontier MoE models on 8 H100s</dc:title>
  <dc:subject>ML systems experiments for Professor Kan Zhu and UW SyFI</dc:subject>
  <dc:creator>Tan Ngo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