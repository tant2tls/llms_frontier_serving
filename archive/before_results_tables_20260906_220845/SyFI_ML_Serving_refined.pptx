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Sheet1!$A$2:$A$5</c:f>
              <c:strCache>
                <c:ptCount val="4"/>
                <c:pt idx="0">
                  <c:v>1</c:v>
                </c:pt>
                <c:pt idx="1">
                  <c:v>4</c:v>
                </c:pt>
                <c:pt idx="2">
                  <c:v>16</c:v>
                </c:pt>
                <c:pt idx="3">
                  <c:v>64</c:v>
                </c:pt>
              </c:strCache>
            </c:strRef>
          </c:cat>
          <c:val>
            <c:numRef>
              <c:f>Sheet1!$B$2:$B$5</c:f>
              <c:numCache>
                <c:formatCode>General</c:formatCode>
                <c:ptCount val="4"/>
                <c:pt idx="0">
                  <c:v>85.03401010448958</c:v>
                </c:pt>
                <c:pt idx="1">
                  <c:v>219.8052802490994</c:v>
                </c:pt>
                <c:pt idx="2">
                  <c:v>330.8794368636109</c:v>
                </c:pt>
                <c:pt idx="3">
                  <c:v>389.3565488263399</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Sheet1!$A$2:$A$5</c:f>
              <c:strCache>
                <c:ptCount val="4"/>
                <c:pt idx="0">
                  <c:v>1</c:v>
                </c:pt>
                <c:pt idx="1">
                  <c:v>4</c:v>
                </c:pt>
                <c:pt idx="2">
                  <c:v>16</c:v>
                </c:pt>
                <c:pt idx="3">
                  <c:v>64</c:v>
                </c:pt>
              </c:strCache>
            </c:strRef>
          </c:cat>
          <c:val>
            <c:numRef>
              <c:f>Sheet1!$C$2:$C$5</c:f>
              <c:numCache>
                <c:formatCode>General</c:formatCode>
                <c:ptCount val="4"/>
                <c:pt idx="0">
                  <c:v>96.30941900404206</c:v>
                </c:pt>
                <c:pt idx="1">
                  <c:v>225.29681362584358</c:v>
                </c:pt>
                <c:pt idx="2">
                  <c:v>359.17155296265526</c:v>
                </c:pt>
                <c:pt idx="3">
                  <c:v>447.06656333044793</c:v>
                </c:pt>
              </c:numCache>
            </c:numRef>
          </c:val>
          <c:smooth val="0"/>
        </c:ser>
        <c:ser>
          <c:idx val="2"/>
          <c:order val="2"/>
          <c:tx>
            <c:strRef>
              <c:f>Sheet1!$D$1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Sheet1!$A$2:$A$5</c:f>
              <c:strCache>
                <c:ptCount val="4"/>
                <c:pt idx="0">
                  <c:v>1</c:v>
                </c:pt>
                <c:pt idx="1">
                  <c:v>4</c:v>
                </c:pt>
                <c:pt idx="2">
                  <c:v>16</c:v>
                </c:pt>
                <c:pt idx="3">
                  <c:v>64</c:v>
                </c:pt>
              </c:strCache>
            </c:strRef>
          </c:cat>
          <c:val>
            <c:numRef>
              <c:f>Sheet1!$D$2:$D$5</c:f>
              <c:numCache>
                <c:formatCode>General</c:formatCode>
                <c:ptCount val="4"/>
                <c:pt idx="0">
                  <c:v>106.23960342346348</c:v>
                </c:pt>
                <c:pt idx="1">
                  <c:v>256.83776482354426</c:v>
                </c:pt>
                <c:pt idx="2">
                  <c:v>420.16088529055645</c:v>
                </c:pt>
                <c:pt idx="3">
                  <c:v>517.7463133096054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60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20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Sheet1!$A$2:$A$5</c:f>
              <c:strCache>
                <c:ptCount val="4"/>
                <c:pt idx="0">
                  <c:v>1</c:v>
                </c:pt>
                <c:pt idx="1">
                  <c:v>4</c:v>
                </c:pt>
                <c:pt idx="2">
                  <c:v>16</c:v>
                </c:pt>
                <c:pt idx="3">
                  <c:v>64</c:v>
                </c:pt>
              </c:strCache>
            </c:strRef>
          </c:cat>
          <c:val>
            <c:numRef>
              <c:f>Sheet1!$B$2:$B$5</c:f>
              <c:numCache>
                <c:formatCode>General</c:formatCode>
                <c:ptCount val="4"/>
                <c:pt idx="0">
                  <c:v>7.93815566701632</c:v>
                </c:pt>
                <c:pt idx="1">
                  <c:v>10.721146782823636</c:v>
                </c:pt>
                <c:pt idx="2">
                  <c:v>32.40075688443932</c:v>
                </c:pt>
                <c:pt idx="3">
                  <c:v>148.469622097179</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Sheet1!$A$2:$A$5</c:f>
              <c:strCache>
                <c:ptCount val="4"/>
                <c:pt idx="0">
                  <c:v>1</c:v>
                </c:pt>
                <c:pt idx="1">
                  <c:v>4</c:v>
                </c:pt>
                <c:pt idx="2">
                  <c:v>16</c:v>
                </c:pt>
                <c:pt idx="3">
                  <c:v>64</c:v>
                </c:pt>
              </c:strCache>
            </c:strRef>
          </c:cat>
          <c:val>
            <c:numRef>
              <c:f>Sheet1!$C$2:$C$5</c:f>
              <c:numCache>
                <c:formatCode>General</c:formatCode>
                <c:ptCount val="4"/>
                <c:pt idx="0">
                  <c:v>7.05557944727879</c:v>
                </c:pt>
                <c:pt idx="1">
                  <c:v>10.932360092798868</c:v>
                </c:pt>
                <c:pt idx="2">
                  <c:v>33.57015370446093</c:v>
                </c:pt>
                <c:pt idx="3">
                  <c:v>129.51669973120386</c:v>
                </c:pt>
              </c:numCache>
            </c:numRef>
          </c:val>
          <c:smooth val="0"/>
        </c:ser>
        <c:ser>
          <c:idx val="2"/>
          <c:order val="2"/>
          <c:tx>
            <c:strRef>
              <c:f>Sheet1!$D$1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Sheet1!$A$2:$A$5</c:f>
              <c:strCache>
                <c:ptCount val="4"/>
                <c:pt idx="0">
                  <c:v>1</c:v>
                </c:pt>
                <c:pt idx="1">
                  <c:v>4</c:v>
                </c:pt>
                <c:pt idx="2">
                  <c:v>16</c:v>
                </c:pt>
                <c:pt idx="3">
                  <c:v>64</c:v>
                </c:pt>
              </c:strCache>
            </c:strRef>
          </c:cat>
          <c:val>
            <c:numRef>
              <c:f>Sheet1!$D$2:$D$5</c:f>
              <c:numCache>
                <c:formatCode>General</c:formatCode>
                <c:ptCount val="4"/>
                <c:pt idx="0">
                  <c:v>6.970381616231274</c:v>
                </c:pt>
                <c:pt idx="1">
                  <c:v>9.61598013253773</c:v>
                </c:pt>
                <c:pt idx="2">
                  <c:v>26.319584703328562</c:v>
                </c:pt>
                <c:pt idx="3">
                  <c:v>110.08028010746428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18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6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34.66572543414688</c:v>
                </c:pt>
                <c:pt idx="1">
                  <c:v>47.24317797740441</c:v>
                </c:pt>
                <c:pt idx="2">
                  <c:v>56.467593009506984</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7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26.66482410673052</c:v>
                </c:pt>
                <c:pt idx="1">
                  <c:v>12.891470643691719</c:v>
                </c:pt>
                <c:pt idx="2">
                  <c:v>19.835577487014234</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34.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Sheet1!$A$2:$A$4</c:f>
              <c:strCache>
                <c:ptCount val="3"/>
                <c:pt idx="0">
                  <c:v>1</c:v>
                </c:pt>
                <c:pt idx="1">
                  <c:v>4</c:v>
                </c:pt>
                <c:pt idx="2">
                  <c:v>16</c:v>
                </c:pt>
              </c:strCache>
            </c:strRef>
          </c:cat>
          <c:val>
            <c:numRef>
              <c:f>Sheet1!$B$2:$B$4</c:f>
              <c:numCache>
                <c:formatCode>General</c:formatCode>
                <c:ptCount val="3"/>
                <c:pt idx="0">
                  <c:v>198.2317561163796</c:v>
                </c:pt>
                <c:pt idx="1">
                  <c:v>391.64756526420064</c:v>
                </c:pt>
                <c:pt idx="2">
                  <c:v>114.60843789104882</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Sheet1!$A$2:$A$4</c:f>
              <c:strCache>
                <c:ptCount val="3"/>
                <c:pt idx="0">
                  <c:v>1</c:v>
                </c:pt>
                <c:pt idx="1">
                  <c:v>4</c:v>
                </c:pt>
                <c:pt idx="2">
                  <c:v>16</c:v>
                </c:pt>
              </c:strCache>
            </c:strRef>
          </c:cat>
          <c:val>
            <c:numRef>
              <c:f>Sheet1!$C$2:$C$4</c:f>
              <c:numCache>
                <c:formatCode>General</c:formatCode>
                <c:ptCount val="3"/>
                <c:pt idx="0">
                  <c:v>265.2830629077568</c:v>
                </c:pt>
                <c:pt idx="1">
                  <c:v>365.87467455504344</c:v>
                </c:pt>
                <c:pt idx="2">
                  <c:v>199.4401621848767</c:v>
                </c:pt>
              </c:numCache>
            </c:numRef>
          </c:val>
          <c:smooth val="0"/>
        </c:ser>
        <c:ser>
          <c:idx val="2"/>
          <c:order val="2"/>
          <c:tx>
            <c:strRef>
              <c:f>Sheet1!$D$1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Sheet1!$A$2:$A$4</c:f>
              <c:strCache>
                <c:ptCount val="3"/>
                <c:pt idx="0">
                  <c:v>1</c:v>
                </c:pt>
                <c:pt idx="1">
                  <c:v>4</c:v>
                </c:pt>
                <c:pt idx="2">
                  <c:v>16</c:v>
                </c:pt>
              </c:strCache>
            </c:strRef>
          </c:cat>
          <c:val>
            <c:numRef>
              <c:f>Sheet1!$D$2:$D$4</c:f>
              <c:numCache>
                <c:formatCode>General</c:formatCode>
                <c:ptCount val="3"/>
                <c:pt idx="0">
                  <c:v>453.92705047597997</c:v>
                </c:pt>
                <c:pt idx="1">
                  <c:v>398.0573892947342</c:v>
                </c:pt>
                <c:pt idx="2">
                  <c:v>262.23575902931714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60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20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Sheet1!$A$2:$A$5</c:f>
              <c:strCache>
                <c:ptCount val="4"/>
                <c:pt idx="0">
                  <c:v>1</c:v>
                </c:pt>
                <c:pt idx="1">
                  <c:v>4</c:v>
                </c:pt>
                <c:pt idx="2">
                  <c:v>16</c:v>
                </c:pt>
                <c:pt idx="3">
                  <c:v>64</c:v>
                </c:pt>
              </c:strCache>
            </c:strRef>
          </c:cat>
          <c:val>
            <c:numRef>
              <c:f>Sheet1!$B$2:$B$5</c:f>
              <c:numCache>
                <c:formatCode>General</c:formatCode>
                <c:ptCount val="4"/>
                <c:pt idx="0">
                  <c:v>1.2487791512454438</c:v>
                </c:pt>
                <c:pt idx="1">
                  <c:v>1.1340415311894456</c:v>
                </c:pt>
                <c:pt idx="2">
                  <c:v>1.1575811712973458</c:v>
                </c:pt>
                <c:pt idx="3">
                  <c:v>0.9914238997080064</c:v>
                </c:pt>
              </c:numCache>
            </c:numRef>
          </c:val>
          <c:smooth val="0"/>
        </c:ser>
        <c:ser>
          <c:idx val="1"/>
          <c:order val="1"/>
          <c:tx>
            <c:strRef>
              <c:f>Sheet1!$C$1</c:f>
              <c:strCache>
                <c:ptCount val="1"/>
                <c:pt idx="0">
                  <c:v>Base = 1×</c:v>
                </c:pt>
              </c:strCache>
            </c:strRef>
          </c:tx>
          <c:spPr>
            <a:solidFill>
              <a:srgbClr val="586A7C"/>
            </a:solidFill>
            <a:ln w="35560">
              <a:solidFill>
                <a:srgbClr val="586A7C"/>
              </a:solidFill>
            </a:ln>
          </c:spPr>
          <c:marker>
            <c:symbol val="circle"/>
            <c:size val="7"/>
            <c:spPr>
              <a:solidFill>
                <a:srgbClr val="586A7C"/>
              </a:solidFill>
              <a:ln>
                <a:solidFill>
                  <a:srgbClr val="586A7C"/>
                </a:solidFill>
              </a:ln>
            </c:spPr>
          </c:marker>
          <c:cat>
            <c:strRef>
              <c:f>Sheet1!$A$2:$A$5</c:f>
              <c:strCache>
                <c:ptCount val="4"/>
                <c:pt idx="0">
                  <c:v>1</c:v>
                </c:pt>
                <c:pt idx="1">
                  <c:v>4</c:v>
                </c:pt>
                <c:pt idx="2">
                  <c:v>16</c:v>
                </c:pt>
                <c:pt idx="3">
                  <c:v>64</c:v>
                </c:pt>
              </c:strCache>
            </c:strRef>
          </c:cat>
          <c:val>
            <c:numRef>
              <c:f>Sheet1!$C$2:$C$5</c:f>
              <c:numCache>
                <c:formatCode>General</c:formatCode>
                <c:ptCount val="4"/>
                <c:pt idx="0">
                  <c:v>1</c:v>
                </c:pt>
                <c:pt idx="1">
                  <c:v>1</c:v>
                </c:pt>
                <c:pt idx="2">
                  <c:v>1</c:v>
                </c:pt>
                <c:pt idx="3">
                  <c:v>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1.3"/>
          <c:min val="0.8"/>
        </c:scaling>
        <c:delete val="0"/>
        <c:axPos val="l"/>
        <c:majorGridlines>
          <c:spPr>
            <a:ln>
              <a:solidFill>
                <a:srgbClr val="DCE3E9"/>
              </a:solidFill>
            </a:ln>
          </c:spPr>
        </c:majorGridlines>
        <c:numFmt formatCode="0.0&quot;×&quot;" sourceLinked="0"/>
        <c:majorTickMark val="out"/>
        <c:minorTickMark val="none"/>
        <c:tickLblPos val="nextTo"/>
        <c:spPr>
          <a:ln>
            <a:solidFill>
              <a:srgbClr val="DCE3E9"/>
            </a:solidFill>
          </a:ln>
        </c:spPr>
        <c:txPr>
          <a:bodyPr/>
          <a:lstStyle/>
          <a:p>
            <a:pPr>
              <a:defRPr sz="1400"/>
            </a:pPr>
          </a:p>
        </c:txPr>
        <c:crossAx val="2118791784"/>
        <c:crosses val="autoZero"/>
        <c:majorUnit val="0.1"/>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Sheet1!$A$2:$A$5</c:f>
              <c:strCache>
                <c:ptCount val="4"/>
                <c:pt idx="0">
                  <c:v>1</c:v>
                </c:pt>
                <c:pt idx="1">
                  <c:v>4</c:v>
                </c:pt>
                <c:pt idx="2">
                  <c:v>16</c:v>
                </c:pt>
                <c:pt idx="3">
                  <c:v>64</c:v>
                </c:pt>
              </c:strCache>
            </c:strRef>
          </c:cat>
          <c:val>
            <c:numRef>
              <c:f>Sheet1!$B$2:$B$5</c:f>
              <c:numCache>
                <c:formatCode>General</c:formatCode>
                <c:ptCount val="4"/>
                <c:pt idx="0">
                  <c:v>1.2432606999119236</c:v>
                </c:pt>
                <c:pt idx="1">
                  <c:v>1.0643603605070768</c:v>
                </c:pt>
                <c:pt idx="2">
                  <c:v>0.9597129720584056</c:v>
                </c:pt>
                <c:pt idx="3">
                  <c:v>0.9884714588938885</c:v>
                </c:pt>
              </c:numCache>
            </c:numRef>
          </c:val>
          <c:smooth val="0"/>
        </c:ser>
        <c:ser>
          <c:idx val="1"/>
          <c:order val="1"/>
          <c:tx>
            <c:strRef>
              <c:f>Sheet1!$C$1</c:f>
              <c:strCache>
                <c:ptCount val="1"/>
                <c:pt idx="0">
                  <c:v>Base = 1×</c:v>
                </c:pt>
              </c:strCache>
            </c:strRef>
          </c:tx>
          <c:spPr>
            <a:solidFill>
              <a:srgbClr val="586A7C"/>
            </a:solidFill>
            <a:ln w="35560">
              <a:solidFill>
                <a:srgbClr val="586A7C"/>
              </a:solidFill>
            </a:ln>
          </c:spPr>
          <c:marker>
            <c:symbol val="circle"/>
            <c:size val="7"/>
            <c:spPr>
              <a:solidFill>
                <a:srgbClr val="586A7C"/>
              </a:solidFill>
              <a:ln>
                <a:solidFill>
                  <a:srgbClr val="586A7C"/>
                </a:solidFill>
              </a:ln>
            </c:spPr>
          </c:marker>
          <c:cat>
            <c:strRef>
              <c:f>Sheet1!$A$2:$A$5</c:f>
              <c:strCache>
                <c:ptCount val="4"/>
                <c:pt idx="0">
                  <c:v>1</c:v>
                </c:pt>
                <c:pt idx="1">
                  <c:v>4</c:v>
                </c:pt>
                <c:pt idx="2">
                  <c:v>16</c:v>
                </c:pt>
                <c:pt idx="3">
                  <c:v>64</c:v>
                </c:pt>
              </c:strCache>
            </c:strRef>
          </c:cat>
          <c:val>
            <c:numRef>
              <c:f>Sheet1!$C$2:$C$5</c:f>
              <c:numCache>
                <c:formatCode>General</c:formatCode>
                <c:ptCount val="4"/>
                <c:pt idx="0">
                  <c:v>1</c:v>
                </c:pt>
                <c:pt idx="1">
                  <c:v>1</c:v>
                </c:pt>
                <c:pt idx="2">
                  <c:v>1</c:v>
                </c:pt>
                <c:pt idx="3">
                  <c:v>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1.3"/>
          <c:min val="0.8"/>
        </c:scaling>
        <c:delete val="0"/>
        <c:axPos val="l"/>
        <c:majorGridlines>
          <c:spPr>
            <a:ln>
              <a:solidFill>
                <a:srgbClr val="DCE3E9"/>
              </a:solidFill>
            </a:ln>
          </c:spPr>
        </c:majorGridlines>
        <c:numFmt formatCode="0.0&quot;×&quot;" sourceLinked="0"/>
        <c:majorTickMark val="out"/>
        <c:minorTickMark val="none"/>
        <c:tickLblPos val="nextTo"/>
        <c:spPr>
          <a:ln>
            <a:solidFill>
              <a:srgbClr val="DCE3E9"/>
            </a:solidFill>
          </a:ln>
        </c:spPr>
        <c:txPr>
          <a:bodyPr/>
          <a:lstStyle/>
          <a:p>
            <a:pPr>
              <a:defRPr sz="1400"/>
            </a:pPr>
          </a:p>
        </c:txPr>
        <c:crossAx val="2118791784"/>
        <c:crosses val="autoZero"/>
        <c:majorUnit val="0.1"/>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Sheet1!$A$2:$A$5</c:f>
              <c:strCache>
                <c:ptCount val="4"/>
                <c:pt idx="0">
                  <c:v>1</c:v>
                </c:pt>
                <c:pt idx="1">
                  <c:v>4</c:v>
                </c:pt>
                <c:pt idx="2">
                  <c:v>16</c:v>
                </c:pt>
                <c:pt idx="3">
                  <c:v>64</c:v>
                </c:pt>
              </c:strCache>
            </c:strRef>
          </c:cat>
          <c:val>
            <c:numRef>
              <c:f>Sheet1!$B$2:$B$5</c:f>
              <c:numCache>
                <c:formatCode>General</c:formatCode>
                <c:ptCount val="4"/>
                <c:pt idx="0">
                  <c:v>1.1693069799968403</c:v>
                </c:pt>
                <c:pt idx="1">
                  <c:v>0.9204890278949976</c:v>
                </c:pt>
                <c:pt idx="2">
                  <c:v>0.8684474769918294</c:v>
                </c:pt>
                <c:pt idx="3">
                  <c:v>0.9298123064301351</c:v>
                </c:pt>
              </c:numCache>
            </c:numRef>
          </c:val>
          <c:smooth val="0"/>
        </c:ser>
        <c:ser>
          <c:idx val="1"/>
          <c:order val="1"/>
          <c:tx>
            <c:strRef>
              <c:f>Sheet1!$C$1</c:f>
              <c:strCache>
                <c:ptCount val="1"/>
                <c:pt idx="0">
                  <c:v>Base = 1×</c:v>
                </c:pt>
              </c:strCache>
            </c:strRef>
          </c:tx>
          <c:spPr>
            <a:solidFill>
              <a:srgbClr val="586A7C"/>
            </a:solidFill>
            <a:ln w="35560">
              <a:solidFill>
                <a:srgbClr val="586A7C"/>
              </a:solidFill>
            </a:ln>
          </c:spPr>
          <c:marker>
            <c:symbol val="circle"/>
            <c:size val="7"/>
            <c:spPr>
              <a:solidFill>
                <a:srgbClr val="586A7C"/>
              </a:solidFill>
              <a:ln>
                <a:solidFill>
                  <a:srgbClr val="586A7C"/>
                </a:solidFill>
              </a:ln>
            </c:spPr>
          </c:marker>
          <c:cat>
            <c:strRef>
              <c:f>Sheet1!$A$2:$A$5</c:f>
              <c:strCache>
                <c:ptCount val="4"/>
                <c:pt idx="0">
                  <c:v>1</c:v>
                </c:pt>
                <c:pt idx="1">
                  <c:v>4</c:v>
                </c:pt>
                <c:pt idx="2">
                  <c:v>16</c:v>
                </c:pt>
                <c:pt idx="3">
                  <c:v>64</c:v>
                </c:pt>
              </c:strCache>
            </c:strRef>
          </c:cat>
          <c:val>
            <c:numRef>
              <c:f>Sheet1!$C$2:$C$5</c:f>
              <c:numCache>
                <c:formatCode>General</c:formatCode>
                <c:ptCount val="4"/>
                <c:pt idx="0">
                  <c:v>1</c:v>
                </c:pt>
                <c:pt idx="1">
                  <c:v>1</c:v>
                </c:pt>
                <c:pt idx="2">
                  <c:v>1</c:v>
                </c:pt>
                <c:pt idx="3">
                  <c:v>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1.3"/>
          <c:min val="0.8"/>
        </c:scaling>
        <c:delete val="0"/>
        <c:axPos val="l"/>
        <c:majorGridlines>
          <c:spPr>
            <a:ln>
              <a:solidFill>
                <a:srgbClr val="DCE3E9"/>
              </a:solidFill>
            </a:ln>
          </c:spPr>
        </c:majorGridlines>
        <c:numFmt formatCode="0.0&quot;×&quot;" sourceLinked="0"/>
        <c:majorTickMark val="out"/>
        <c:minorTickMark val="none"/>
        <c:tickLblPos val="nextTo"/>
        <c:spPr>
          <a:ln>
            <a:solidFill>
              <a:srgbClr val="DCE3E9"/>
            </a:solidFill>
          </a:ln>
        </c:spPr>
        <c:txPr>
          <a:bodyPr/>
          <a:lstStyle/>
          <a:p>
            <a:pPr>
              <a:defRPr sz="1400"/>
            </a:pPr>
          </a:p>
        </c:txPr>
        <c:crossAx val="2118791784"/>
        <c:crosses val="autoZero"/>
        <c:majorUnit val="0.1"/>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Allocation cost</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65.33333602318534</c:v>
                </c:pt>
                <c:pt idx="1">
                  <c:v>57.68444678627323</c:v>
                </c:pt>
                <c:pt idx="2">
                  <c:v>52.292698546807515</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80.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Allocation cost</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14.26855557535115</c:v>
                </c:pt>
                <c:pt idx="1">
                  <c:v>12.426685445158606</c:v>
                </c:pt>
                <c:pt idx="2">
                  <c:v>10.730265793768014</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80.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GLM</c:v>
                </c:pt>
              </c:strCache>
            </c:strRef>
          </c:tx>
          <c:spPr>
            <a:solidFill>
              <a:srgbClr val="7251B5"/>
            </a:solidFill>
            <a:ln w="35560">
              <a:solidFill>
                <a:srgbClr val="7251B5"/>
              </a:solidFill>
            </a:ln>
          </c:spPr>
          <c:cat>
            <c:strRef>
              <c:f>Sheet1!$A$2:$A$4</c:f>
              <c:strCache>
                <c:ptCount val="3"/>
                <c:pt idx="0">
                  <c:v>Original BF16</c:v>
                </c:pt>
                <c:pt idx="1">
                  <c:v>Alternate BF16</c:v>
                </c:pt>
                <c:pt idx="2">
                  <c:v>Alternate FP8</c:v>
                </c:pt>
              </c:strCache>
            </c:strRef>
          </c:cat>
          <c:val>
            <c:numRef>
              <c:f>Sheet1!$B$2:$B$4</c:f>
              <c:numCache>
                <c:formatCode>General</c:formatCode>
                <c:ptCount val="3"/>
                <c:pt idx="0">
                  <c:v>447.06656333044793</c:v>
                </c:pt>
                <c:pt idx="1">
                  <c:v>348.77621063616044</c:v>
                </c:pt>
                <c:pt idx="2">
                  <c:v>262.004129318282</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55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0:40; cumulative 0:40.</a:t>
            </a:r>
          </a:p>
          <a:p/>
          <a:p>
            <a:r>
              <a:t>FULL SPOKEN SCRIPT</a:t>
            </a:r>
          </a:p>
          <a:p>
            <a:r>
              <a:t>Today I will connect frontier model design to measured serving behavior on eight H100 GPUs.</a:t>
            </a:r>
          </a:p>
          <a:p/>
          <a:p>
            <a:r>
              <a:t>The talk has two parts. First, I will explain how sparse attention, hybrid state, Muon and native speculation pursue efficiency. Then I will test the serving implications using DeepSeek, GLM and Qwen.</a:t>
            </a:r>
          </a:p>
          <a:p/>
          <a:p>
            <a:r>
              <a:t>My central question is: when does less model work become better performance for the user? The results show why throughput, latency and capacity can lead to different answers.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0:40; cumulative 1:20.</a:t>
            </a:r>
          </a:p>
          <a:p/>
          <a:p>
            <a:r>
              <a:t>FULL SPOKEN SCRIPT</a:t>
            </a:r>
          </a:p>
          <a:p>
            <a:r>
              <a:t>Part one asks where efficiency comes from: which work is removed, what new overhead appears, and whether the change affects training or inference.</a:t>
            </a:r>
          </a:p>
          <a:p/>
          <a:p>
            <a:r>
              <a:t>Part two asks where those savings survive in a deployed system. I vary concurrency, context and prefix sharing, and examine MTP and allocation cost.</a:t>
            </a:r>
          </a:p>
          <a:p/>
          <a:p>
            <a:r>
              <a:t>My approach is to move from a mechanism to a prediction, then to evidence and a possible correction. Across comparisons, DeepSeek comes first in orange, GLM second in purple, and Qwen third in teal. The measured contribution is their tradeoff map and the debugging evidence behind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1:20; cumulative 2:40.</a:t>
            </a:r>
          </a:p>
          <a:p/>
          <a:p>
            <a:r>
              <a:t>FULL SPOKEN SCRIPT</a:t>
            </a:r>
          </a:p>
          <a:p>
            <a:r>
              <a:t>[Point across the three designs.] Dense attention considers the full available history. Sparse attention selects a subset, while compression changes how history is represented. These are related but distinct ways to reduce work.</a:t>
            </a:r>
          </a:p>
          <a:p/>
          <a:p>
            <a:r>
              <a:t>For a sequence of length S, dense prefill attention-score work grows quadratically. If each query attends to K selected entries, that attention component is roughly proportional to S times K. But that expression does not include the indexer, top-k selection, gathers or state management. Index scoring can still grow with the history.</a:t>
            </a:r>
          </a:p>
          <a:p/>
          <a:p>
            <a:r>
              <a:t>DeepSeek V4 combines sparse selection with compressed representations. Qwen QSA also has a compressed indexer, while its recurrent layers supply a different memory mechanism.</a:t>
            </a:r>
          </a:p>
          <a:p/>
          <a:p>
            <a:r>
              <a:t>The prediction is a context-dependent crossover: savings become useful when they exceed selection and kernel overhead. Short contexts may not amortize that overhead. Selection quality also matters.</a:t>
            </a:r>
          </a:p>
          <a:p/>
          <a:p>
            <a:r>
              <a:t>Our local measurements can characterize the context regime. They do not isolate a sparse-versus-dense speedup because we have no matched dense control.</a:t>
            </a:r>
          </a:p>
          <a:p/>
          <a:p>
            <a:r>
              <a:t>PRIMARY REFERENCES (checked 6 September 2026)</a:t>
            </a:r>
          </a:p>
          <a:p>
            <a:r>
              <a:t>https://arxiv.org/html/2606.19348v1</a:t>
            </a:r>
          </a:p>
          <a:p>
            <a:r>
              <a:t>https://arxiv.org/html/2608.30320v1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1:10; cumulative 3:50.</a:t>
            </a:r>
          </a:p>
          <a:p/>
          <a:p>
            <a:r>
              <a:t>FULL SPOKEN SCRIPT</a:t>
            </a:r>
          </a:p>
          <a:p>
            <a:r>
              <a:t>[Read across the first row.] DeepSeek uses compressed history in a sparse-attention stack. GLM combines 34 recurrent KDA layers with 11 sparse layers. Qwen combines 36 recurrent GDN layers with 12 QSA layers.</a:t>
            </a:r>
          </a:p>
          <a:p/>
          <a:p>
            <a:r>
              <a:t>[Point to the next row.] DeepSeek must manage summaries, indices and local tails. GLM and Qwen must also manage recurrent checkpoints alongside retained history. This is the main state-management contrast.</a:t>
            </a:r>
          </a:p>
          <a:p/>
          <a:p>
            <a:r>
              <a:t>All three use MoE, selecting six, eight and ten routed experts respectively. Those counts alone do not rank computation because expert dimensions differ. The prior active GEMM estimates are about fourteen, seventeen and seven billion parameters, with Qwen also carrying a large lookup table.</a:t>
            </a:r>
          </a:p>
          <a:p/>
          <a:p>
            <a:r>
              <a:t>The comparison tells us which work and state to inspect. It does not isolate why one deployment is faster. Every memory budget still includes weights, workspace, graphs and runtime state.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1:15; cumulative 5:05.</a:t>
            </a:r>
          </a:p>
          <a:p/>
          <a:p>
            <a:r>
              <a:t>FULL SPOKEN SCRIPT</a:t>
            </a:r>
          </a:p>
          <a:p>
            <a:r>
              <a:t>Muon belongs in a frontier architecture talk because training efficiency influences which models are practical to build. But it is important to locate that effect correctly.</a:t>
            </a:r>
          </a:p>
          <a:p/>
          <a:p>
            <a:r>
              <a:t>[Point left.] AdamW uses coordinate-wise moment estimates and decoupled weight decay. [Point right.] Muon transforms a matrix momentum update through approximate orthogonalization, commonly using Newton-Schulz iterations. This changes update geometry and introduces matrix-operation and partitioning costs.</a:t>
            </a:r>
          </a:p>
          <a:p/>
          <a:p>
            <a:r>
              <a:t>It is not a blanket replacement. DeepSeek and Qwen document Muon for selected matrix groups and retain AdamW for other parameters. GLM's optimizer recipe is not established by the sources used here. That is a documentation limit, not evidence that it uses a particular alternative.</a:t>
            </a:r>
          </a:p>
          <a:p/>
          <a:p>
            <a:r>
              <a:t>The right evaluation is the quality reached for training time and resources, including optimizer overhead and stability. Muon is not executed in the serving forward pass. Therefore, it cannot directly explain our tokens-per-second ranking. We need to keep training savings separate from inference savings.</a:t>
            </a:r>
          </a:p>
          <a:p/>
          <a:p>
            <a:r>
              <a:t>PRIMARY REFERENCES (checked 6 September 2026)</a:t>
            </a:r>
          </a:p>
          <a:p>
            <a:r>
              <a:t>https://kellerjordan.github.io/posts/muon/</a:t>
            </a:r>
          </a:p>
          <a:p>
            <a:r>
              <a:t>https://arxiv.org/abs/1711.05101</a:t>
            </a:r>
          </a:p>
          <a:p>
            <a:r>
              <a:t>https://github.com/KellerJordan/Muon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1:10; cumulative 6:15.</a:t>
            </a:r>
          </a:p>
          <a:p/>
          <a:p>
            <a:r>
              <a:t>FULL SPOKEN SCRIPT</a:t>
            </a:r>
          </a:p>
          <a:p>
            <a:r>
              <a:t>I use zero-day here to mean that native drafting and runtime support are available around a model's release. It does not mean zero computation, and it is not a separate guarantee of speed.</a:t>
            </a:r>
          </a:p>
          <a:p/>
          <a:p>
            <a:r>
              <a:t>[Point across the three stages.] A native MTP module proposes future tokens. The target verifies the candidates. The runtime then commits valid progress and restores state for any rejected suffix. Proper rejection sampling is needed for the usual target-distribution guarantee; merely having a draft head is insufficient.</a:t>
            </a:r>
          </a:p>
          <a:p/>
          <a:p>
            <a:r>
              <a:t>Native MTP can avoid waiting for a separately trained draft model. Runtime engineering can reduce repeated indexing and synchronization, but those optimizations are version-specific.</a:t>
            </a:r>
          </a:p>
          <a:p/>
          <a:p>
            <a:r>
              <a:t>The break-even condition is simple: time per speculative round divided by expected committed tokens must beat ordinary time per token. Acceptance alone cannot answer that question, because drafting, verification and state handling all have costs.</a:t>
            </a:r>
          </a:p>
          <a:p/>
          <a:p>
            <a:r>
              <a:t>This predicts a load-dependent payoff. We will test that prediction with the controlled GLM comparison in part two.</a:t>
            </a:r>
          </a:p>
          <a:p/>
          <a:p>
            <a:r>
              <a:t>PRIMARY REFERENCES (checked 6 September 2026)</a:t>
            </a:r>
          </a:p>
          <a:p>
            <a:r>
              <a:t>https://github.com/deepseek-ai/DeepSeek-V3</a:t>
            </a:r>
          </a:p>
          <a:p>
            <a:r>
              <a:t>https://arxiv.org/abs/2211.17192</a:t>
            </a:r>
          </a:p>
          <a:p>
            <a:r>
              <a:t>https://www.lmsys.org/blog/2026-08-26-qwen-flash-next/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1:05; cumulative 7:20.</a:t>
            </a:r>
          </a:p>
          <a:p/>
          <a:p>
            <a:r>
              <a:t>FULL SPOKEN SCRIPT</a:t>
            </a:r>
          </a:p>
          <a:p>
            <a:r>
              <a:t>Before showing results, I want to make the causal reasoning explicit.</a:t>
            </a:r>
          </a:p>
          <a:p/>
          <a:p>
            <a:r>
              <a:t>Suppose attention accounts for thirty percent of a request's runtime and a new kernel makes attention ten times faster. If everything else stays unchanged, the whole request improves by only 1.37 times. This is an illustrative calculation, not our measured time breakdown.</a:t>
            </a:r>
          </a:p>
          <a:p/>
          <a:p>
            <a:r>
              <a:t>[Point to the right.] Each design therefore needs a discriminating prediction. Sparse or compressed state should affect context scaling. MoE should change the interaction between selected compute and communication. MTP should change committed progress per round. Memory-pool sizing should affect capacity and possibly scheduling.</a:t>
            </a:r>
          </a:p>
          <a:p/>
          <a:p>
            <a:r>
              <a:t>Part two maps these regimes using local measurements. Where we lack an operator trace or matched intervention, I will explain the plausible mechanism and identify what would falsify it instead of assigning the whole ranking to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1:05; cumulative 8:25.</a:t>
            </a:r>
          </a:p>
          <a:p/>
          <a:p>
            <a:r>
              <a:t>FULL SPOKEN SCRIPT</a:t>
            </a:r>
          </a:p>
          <a:p>
            <a:r>
              <a:t>Each deployment uses eight H100 80-gigabyte GPUs, TP8 and expert parallelism. Main comparisons have MTP off, synthetic text prompts and 256 target output tokens.</a:t>
            </a:r>
          </a:p>
          <a:p/>
          <a:p>
            <a:r>
              <a:t>The batch axis changes client concurrency at 16K input. The context axis changes input length at concurrency eight. The prefix axis changes sharing among sixty-four requests.</a:t>
            </a:r>
          </a:p>
          <a:p/>
          <a:p>
            <a:r>
              <a:t>Concurrency is a client cap, not the instantaneous server batch. Output throughput includes input work, and first-token latency includes queueing and prefill.</a:t>
            </a:r>
          </a:p>
          <a:p/>
          <a:p>
            <a:r>
              <a:t>[Point to the arm boundary.] Corrected Qwen batch results use base-util082. Its context and prefix data retain the earlier pool. Builds, precision and backends also differ across deployments. Most points have one retained run, with no repeat-based confidence intervals.</a:t>
            </a:r>
          </a:p>
          <a:p/>
          <a:p>
            <a:r>
              <a:t>These are named deployment comparisons, with the limits stated before we interpret the curves.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1:30; cumulative 9:55.</a:t>
            </a:r>
          </a:p>
          <a:p/>
          <a:p>
            <a:r>
              <a:t>FULL SPOKEN SCRIPT</a:t>
            </a:r>
          </a:p>
          <a:p>
            <a:r>
              <a:t>[Trace the teal curve.] Qwen leads every measured concurrency in the corrected 16K throughput grid. At concurrency sixty-four it produces about 518 output tokens per second, versus 447 for GLM and 389 for DeepSeek: roughly sixteen and thirty-three percent higher.</a:t>
            </a:r>
          </a:p>
          <a:p/>
          <a:p>
            <a:r>
              <a:t>The second result is diminishing return. Sixty-four times more concurrency produces less than five times more aggregate output.</a:t>
            </a:r>
          </a:p>
          <a:p/>
          <a:p>
            <a:r>
              <a:t>Why might Qwen be fast? Its smaller selected GEMM path and hybrid attention are plausible contributors. They can reduce work. But the result also depends on kernels, precision, runtime state and scheduling. We did not ablate those components, so this chart does not measure their individual contributions.</a:t>
            </a:r>
          </a:p>
          <a:p/>
          <a:p>
            <a:r>
              <a:t>That caution matters: the earlier Qwen concurrency-four result was 162 tokens per second, versus 257 in the corrected arm after the startup investigation. The checkpoint was unchanged.</a:t>
            </a:r>
          </a:p>
          <a:p/>
          <a:p>
            <a:r>
              <a:t>The defensible conclusion is a throughput lead for this grid, not a universal architecture or quality ranking. Next I will show the latency price of moving along these curves.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1:05; cumulative 11:00.</a:t>
            </a:r>
          </a:p>
          <a:p/>
          <a:p>
            <a:r>
              <a:t>FULL SPOKEN SCRIPT</a:t>
            </a:r>
          </a:p>
          <a:p>
            <a:r>
              <a:t>This chart uses exactly the same three main batch arms as the throughput slide. It shows median time per output token, so lower is better.</a:t>
            </a:r>
          </a:p>
          <a:p/>
          <a:p>
            <a:r>
              <a:t>[Read the c64 endpoints in model order.] DeepSeek is about 149 milliseconds, GLM about 130, and Qwen about 110. Qwen has the lowest observed token latency as well as the highest output throughput at that point.</a:t>
            </a:r>
          </a:p>
          <a:p/>
          <a:p>
            <a:r>
              <a:t>[Point to the growth summary.] For every model, moving from concurrency one to sixty-four buys less than five times the output rate while increasing token latency by about sixteen to nineteen times.</a:t>
            </a:r>
          </a:p>
          <a:p/>
          <a:p>
            <a:r>
              <a:t>Batching may improve utilization while requests compete for resources, but we still need phase measurements to identify the mechanism. The practical choice must satisfy a latency objective. A high aggregate rate does not guarantee a good interactive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1:05; cumulative 12:05.</a:t>
            </a:r>
          </a:p>
          <a:p/>
          <a:p>
            <a:r>
              <a:t>FULL SPOKEN SCRIPT</a:t>
            </a:r>
          </a:p>
          <a:p>
            <a:r>
              <a:t>[Read both charts in the same model order.] At 131K input and concurrency eight, output throughput is about 34.7 for DeepSeek, 47.2 for GLM, and 56.5 for Qwen. First-token latency is 26.66, 12.89, and 19.84 seconds respectively. Qwen leads output rate, while GLM gives the earliest median first token.</a:t>
            </a:r>
          </a:p>
          <a:p/>
          <a:p>
            <a:r>
              <a:t>The architecture lesson is that retained state, indexing and input processing influence different parts of a request. A smaller history representation does not automatically produce the earliest first token. Output throughput also includes input work, so this is not a decode-only curve.</a:t>
            </a:r>
          </a:p>
          <a:p/>
          <a:p>
            <a:r>
              <a:t>Qwen's context arm retains the smaller-pool confound. DeepSeek also has an unresolved discrepancy between its 16K context anchor and a later concurrency-eight batch point.</a:t>
            </a:r>
          </a:p>
          <a:p/>
          <a:p>
            <a:r>
              <a:t>These results identify what to investigate next. Phase-specific timing and matched startup would distinguish an input-work effect from scheduling or memory pressure.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1:05; cumulative 13:10.</a:t>
            </a:r>
          </a:p>
          <a:p/>
          <a:p>
            <a:r>
              <a:t>FULL SPOKEN SCRIPT</a:t>
            </a:r>
          </a:p>
          <a:p>
            <a:r>
              <a:t>Prefix caching is enabled in every condition here. We vary one, four or sixteen shared prefixes across sixty-four requests.</a:t>
            </a:r>
          </a:p>
          <a:p/>
          <a:p>
            <a:r>
              <a:t>[Compare all three curves.] DeepSeek and GLM peak at four prefixes, while Qwen peaks at one. There is no single best sharing pattern across the retained arms. Qwen still uses the earlier smaller pool. Fill order, eviction and scheduling are candidate explanations, but none is isolated by a trace.</a:t>
            </a:r>
          </a:p>
          <a:p/>
          <a:p>
            <a:r>
              <a:t>This is not a cache-on versus cache-off speedup.</a:t>
            </a:r>
          </a:p>
          <a:p/>
          <a:p>
            <a:r>
              <a:t>[Point to the state diagram.] The architectural challenge is restoring a consistent boundary. KV or compressed history must agree with recurrent checkpoints. A recurrent final state cannot be sliced backward to an arbitrary earlier prefix, but suitable checkpoints can be reused.</a:t>
            </a:r>
          </a:p>
          <a:p/>
          <a:p>
            <a:r>
              <a:t>Branching and speculative rejection then require safe copies or rollback. Finer checkpoints trade memory and copying for less recomputation. That makes prefix reuse a state-placement and scheduling problem as well as a lookup problem.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1:10; cumulative 14:20.</a:t>
            </a:r>
          </a:p>
          <a:p/>
          <a:p>
            <a:r>
              <a:t>FULL SPOKEN SCRIPT</a:t>
            </a:r>
          </a:p>
          <a:p>
            <a:r>
              <a:t>The panels use identical axes but different baseline pairs. Each ratio compares MTP with that model's own paired base; it is not an absolute throughput ranking.</a:t>
            </a:r>
          </a:p>
          <a:p/>
          <a:p>
            <a:r>
              <a:t>[Read left to right.] DeepSeek's historical pair gains at lighter loads and is approximately flat at concurrency sixty-four, but it uses an older runtime and lacks newer cold telemetry. GLM provides our strongest control: one draft gains twenty-four percent at concurrency one and is approximately flat at sixty-four. Qwen's original pair gains at one and loses at higher concurrency, but startup and pool differences confound that comparison.</a:t>
            </a:r>
          </a:p>
          <a:p/>
          <a:p>
            <a:r>
              <a:t>The shared question is whether committed progress pays for drafting, verification and state work. Similar curve shapes do not establish the same cause. I would use GLM for the strongest conclusion, and matched reruns for DeepSeek and Qwen before comparing MTP policies across models.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1:00; cumulative 15:20.</a:t>
            </a:r>
          </a:p>
          <a:p/>
          <a:p>
            <a:r>
              <a:t>FULL SPOKEN SCRIPT</a:t>
            </a:r>
          </a:p>
          <a:p>
            <a:r>
              <a:t>I assume two dollars fifty per GPU-hour, or twenty dollars for the eight-GPU node. Dividing that allocation cost by measured output throughput gives dollars per million output tokens, including all input work.</a:t>
            </a:r>
          </a:p>
          <a:p/>
          <a:p>
            <a:r>
              <a:t>At concurrency sixty-four, the costs in model order are about fourteen dollars twenty-seven for DeepSeek, twelve dollars forty-three for GLM, and ten dollars seventy-three for Qwen.</a:t>
            </a:r>
          </a:p>
          <a:p/>
          <a:p>
            <a:r>
              <a:t>[Point to GLM.] Raising concurrency reduces calculated token cost from about fifty-eight to twelve dollars per million, while median token latency rises from roughly seven to one hundred and thirty milliseconds.</a:t>
            </a:r>
          </a:p>
          <a:p/>
          <a:p>
            <a:r>
              <a:t>That is an allocation-efficiency result, not production cost per successful task. Quality, arrivals, idle time and the best GPU count remain unmeasured. My research objective would be useful completions within explicit latency targets, with task quality held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1:10; cumulative 16:30.</a:t>
            </a:r>
          </a:p>
          <a:p/>
          <a:p>
            <a:r>
              <a:t>FULL SPOKEN SCRIPT</a:t>
            </a:r>
          </a:p>
          <a:p>
            <a:r>
              <a:t>The Qwen startup case is a concrete example of revising a hypothesis when the evidence changes.</a:t>
            </a:r>
          </a:p>
          <a:p/>
          <a:p>
            <a:r>
              <a:t>[Point across the cards.] Recorded peak activation changed from 17.07 to 0.99 gigabytes. The reported cache pool increased from 2.05 million to 3.20 million tokens even though utilization was lowered. Concurrency-four throughput changed from 162.2 to 256.8 tokens per second.</a:t>
            </a:r>
          </a:p>
          <a:p/>
          <a:p>
            <a:r>
              <a:t>An architecture-only explanation for the earlier low throughput is therefore insufficient: the checkpoint stayed the same, while runtime conditions changed.</a:t>
            </a:r>
          </a:p>
          <a:p/>
          <a:p>
            <a:r>
              <a:t>This is not a clean utilization-only experiment, because startup changed too. Specific preemption causality is unmeasured. I use the corrected batch arm and retain the context, prefix and MTP caveats rather than transferring a correction factor across axes.</a:t>
            </a:r>
          </a:p>
          <a:p/>
          <a:p>
            <a:r>
              <a:t>For me, this is the methodological contribution: preserve the failed explanation, locate the confound, correct the comparison, and design the next experiment to separate causes.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1:30; cumulative 18:00.</a:t>
            </a:r>
          </a:p>
          <a:p/>
          <a:p>
            <a:r>
              <a:t>FULL SPOKEN SCRIPT</a:t>
            </a:r>
          </a:p>
          <a:p>
            <a:r>
              <a:t>The findings motivate a concrete research direction: can a serving policy budget speculation and hybrid state together to improve useful throughput under latency constraints?</a:t>
            </a:r>
          </a:p>
          <a:p/>
          <a:p>
            <a:r>
              <a:t>The hypothesis follows from two observations. GLM's MTP payoff changes with load, and Qwen's startup state changes the resources available to the scheduler. A fixed draft budget may therefore be a poor choice across changing request and memory conditions.</a:t>
            </a:r>
          </a:p>
          <a:p/>
          <a:p>
            <a:r>
              <a:t>I would first repair the pending measurement gates, match startup conditions, and repeat the qualified comparisons. Then I would collect accepted progress, draft and verification time, state-copy work, preemption and per-request latency.</a:t>
            </a:r>
          </a:p>
          <a:p/>
          <a:p>
            <a:r>
              <a:t>The intervention would compare MTP off, fixed draft budgets and a simple adaptive budget under the same workload, quality checks and latency targets. I would report useful completions, tails, policy overhead and failures, not just aggregate tokens.</a:t>
            </a:r>
          </a:p>
          <a:p/>
          <a:p>
            <a:r>
              <a:t>A clear negative result would be no useful gain over fixed policies after those controls. That would tell us to investigate another source of cost rather than defend the policy.</a:t>
            </a:r>
          </a:p>
          <a:p/>
          <a:p>
            <a:r>
              <a:t>This is the kind of work I want to pursue at SyFI: connect architectural mechanisms to measurements, correct weak explanations, and turn the remaining uncertainty into a falsifiable systems experiment. Thank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B1 — use only for relevant questions.</a:t>
            </a:r>
          </a:p>
          <a:p/>
          <a:p>
            <a:r>
              <a:t>FULL SPOKEN SCRIPT</a:t>
            </a:r>
          </a:p>
          <a:p>
            <a:r>
              <a:t>The comparison holds the GPU class and count, parallelism arrangement, and workload targets in common. MTP is off for the main cross-model comparison, and each point is tied to a named arm.</a:t>
            </a:r>
          </a:p>
          <a:p/>
          <a:p>
            <a:r>
              <a:t>However, precisions, tokenizers, backends, builds and some startup pools differ. We have not established identical physical topology or equal answer quality. So I describe this as a deployment comparison under a fixed GPU budget.</a:t>
            </a:r>
          </a:p>
          <a:p/>
          <a:p>
            <a:r>
              <a:t>The DeepSeek build bridge observed less than one percent throughput difference on its batch grid. That narrows one concern for that model and grid; it does not make every model and workload engine-matched. Repeated matched-startup comparisons are still needed.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B2 — use only for relevant questions.</a:t>
            </a:r>
          </a:p>
          <a:p/>
          <a:p>
            <a:r>
              <a:t>FULL SPOKEN SCRIPT</a:t>
            </a:r>
          </a:p>
          <a:p>
            <a:r>
              <a:t>The current request metrics identify regimes, not a dominant operator. Small GEMMs, expert dispatch, collectives, memory traffic and scheduling are all candidates, depending on the phase and load.</a:t>
            </a:r>
          </a:p>
          <a:p/>
          <a:p>
            <a:r>
              <a:t>To discriminate between them, I would first separate prefill and decode, collect operator durations and shapes, and inspect per-rank load. Hardware memory counters and a controlled TP or EP intervention would then test specific explanations.</a:t>
            </a:r>
          </a:p>
          <a:p/>
          <a:p>
            <a:r>
              <a:t>The engine estimates cannot substitute for this. GLM's recorded estimates omit attention, and the models have different estimator coverage. A low average modeled bandwidth over mixed request work cannot rule out individual bandwidth-bound kernels. Unknown telemetry is also not a zero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B3 — use only for relevant questions.</a:t>
            </a:r>
          </a:p>
          <a:p/>
          <a:p>
            <a:r>
              <a:t>FULL SPOKEN SCRIPT</a:t>
            </a:r>
          </a:p>
          <a:p>
            <a:r>
              <a:t>Yes, recurrent state can support prefix reuse through checkpoints. The limitation is that a state at the end of a long sequence does not reconstruct arbitrary earlier states.</a:t>
            </a:r>
          </a:p>
          <a:p/>
          <a:p>
            <a:r>
              <a:t>The cache key needs the same token prefix and relevant execution identity. At a hit, every layer must resume at a compatible boundary: retained history and recurrent checkpoints must agree on position.</a:t>
            </a:r>
          </a:p>
          <a:p/>
          <a:p>
            <a:r>
              <a:t>Immutable history can be shared, but requests that branch need protection for mutable state. Speculative rejection also requires a valid rollback point. The design tradeoff is checkpoint granularity: more checkpoints cost memory and copying, while fewer checkpoints can require more recomputation after a partial match. Our sharing sweep does not isolate those costs.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B4 — use only for relevant questions.</a:t>
            </a:r>
          </a:p>
          <a:p/>
          <a:p>
            <a:r>
              <a:t>FULL SPOKEN SCRIPT</a:t>
            </a:r>
          </a:p>
          <a:p>
            <a:r>
              <a:t>Resident weights and selected per-token arithmetic are different quantities. With MoE, different tokens can choose different experts, so a batch may touch many more experts than one token does.</a:t>
            </a:r>
          </a:p>
          <a:p/>
          <a:p>
            <a:r>
              <a:t>Qwen also has a large n-gram lookup table. Its prior analysis counts about 51 billion parameters in that table, but a lookup does not perform a dense multiplication over the entire table each token. Communication, indexing and state management add further costs.</a:t>
            </a:r>
          </a:p>
          <a:p/>
          <a:p>
            <a:r>
              <a:t>The counts shown are prior tensor analyses, not a new recount or a measured timing breakdown.</a:t>
            </a:r>
          </a:p>
          <a:p/>
          <a:p>
            <a:r>
              <a:t>The three columns also show a precision difference: DeepSeek uses MXFP4 experts with FP8 attention and dense weights, while GLM and Qwen use FP8 weights. DeepSeek's main KV is FP8; the other two use BF16 KV. Therefore even the same GPU count does not create a pure architecture comparison. Recorded disk size is not runtime HBM.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B5 — use only for relevant questions.</a:t>
            </a:r>
          </a:p>
          <a:p/>
          <a:p>
            <a:r>
              <a:t>FULL SPOKEN SCRIPT</a:t>
            </a:r>
          </a:p>
          <a:p>
            <a:r>
              <a:t>I would begin with the workload objective rather than enable every feature. GLM with one draft token is a promising light-load candidate: throughput improves and median token latency falls. At concurrency sixty-four, five drafts reduce throughput and recorded cache occupancy reaches 99.2 percent. Occupancy alone does not prove the mechanism.</a:t>
            </a:r>
          </a:p>
          <a:p/>
          <a:p>
            <a:r>
              <a:t>For FP8 KV, the alternate stack provides more reported capacity but loses about twenty-five percent throughput against its paired BF16 control at concurrency sixty-four. Its reported capacity comparison spans specific startup records, which must not be mixed with a later main pool.</a:t>
            </a:r>
          </a:p>
          <a:p/>
          <a:p>
            <a:r>
              <a:t>The alternate stack also bypasses a version check. Successful synthetic execution does not establish numerical parity or production suitability. Those checks remain necessary before making a deployment choice.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B6 — use only for relevant questions.</a:t>
            </a:r>
          </a:p>
          <a:p/>
          <a:p>
            <a:r>
              <a:t>FULL SPOKEN SCRIPT</a:t>
            </a:r>
          </a:p>
          <a:p>
            <a:r>
              <a:t>[If asked about error bars.] Most cells have one retained run. Within-run latency percentiles do not measure uncertainty across repeated runs. Randomized repeats are pending.</a:t>
            </a:r>
          </a:p>
          <a:p/>
          <a:p>
            <a:r>
              <a:t>[If asked about production cost.] We measured allocation cost for synthetic workloads. Quality, realistic arrivals, idle time and the best feasible GPU count remain unmeasured.</a:t>
            </a:r>
          </a:p>
          <a:p/>
          <a:p>
            <a:r>
              <a:t>[If asked about cache speedup.] We compared sharing patterns with caching enabled. We need an identical cache-off control to measure cache-on versus cache-off speedup.</a:t>
            </a:r>
          </a:p>
          <a:p/>
          <a:p>
            <a:r>
              <a:t>[If asked what might change the ranking.] Matched startup and pools, repeated runs, different workload lengths and quality requirements could all change the decision. I would test those explicitly rather than extend the ranking beyond the measured grid.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B7 — use only for relevant questions.</a:t>
            </a:r>
          </a:p>
          <a:p/>
          <a:p>
            <a:r>
              <a:t>FULL SPOKEN SCRIPT</a:t>
            </a:r>
          </a:p>
          <a:p>
            <a:r>
              <a:t>The visible symptom was a CUDA invalid-argument error during startup. Disabling graph-related paths and trying eager execution did not resolve it. That made a graph-only explanation insufficient.</a:t>
            </a:r>
          </a:p>
          <a:p/>
          <a:p>
            <a:r>
              <a:t>Reading earlier errors showed a compiler-cache write failure involving the TensorRT and DeepGEMM path. Eager and graph execution still shared that preparation dependency. Redirecting the additional backend-specific caches and adding a write preflight allowed graph-enabled startup.</a:t>
            </a:r>
          </a:p>
          <a:p/>
          <a:p>
            <a:r>
              <a:t>The lesson is to find the earliest relevant exception and test a hypothesis that distinguishes causes. Free space on a volume also does not establish available user quota. The logs support this failure chain, but they do not reveal every internal transition between the failed preparation and the CUDA error.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B8 — use only for relevant questions.</a:t>
            </a:r>
          </a:p>
          <a:p/>
          <a:p>
            <a:r>
              <a:t>FULL SPOKEN SCRIPT</a:t>
            </a:r>
          </a:p>
          <a:p>
            <a:r>
              <a:t>The original FP8 route failed because its layout required sixty-four positional dimensions while GLM's NoPE configuration had zero. That establishes an incompatible route, not a universal inability to use FP8 KV.</a:t>
            </a:r>
          </a:p>
          <a:p/>
          <a:p>
            <a:r>
              <a:t>The alternate stack ran, so the next task is to separate its effects. Original BF16 gives about 447 tokens per second. Alternate BF16 gives 349, a twenty-two percent loss associated with the software and backend change. Alternate FP8 gives 262, another twenty-five percent loss relative to that paired BF16 control.</a:t>
            </a:r>
          </a:p>
          <a:p/>
          <a:p>
            <a:r>
              <a:t>The ratios multiply: 0.780 times 0.751 is about 0.586. The combined reduction is about forty-one percent, not forty-seven percent, and it should not all be attributed to dtype.</a:t>
            </a:r>
          </a:p>
          <a:p/>
          <a:p>
            <a:r>
              <a:t>The successful route remains experimental. Geometry, layout, kernels, versions and numerical validation all matter. The result establishes a measured capacity–speed tradeoff, not a production recommendation.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html/2606.19348v1"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kellerjordan.github.io/posts/muon/"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eepseek-ai/DeepSeek-V3"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9.xml"/><Relationship Id="rId4" Type="http://schemas.openxmlformats.org/officeDocument/2006/relationships/chart" Target="../charts/char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THE THESIS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Three frontier models, one comparison framework</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DeepSeek-V4-Flash · GLM-5.3-Flash · Qwen3.8-Flash-Next-FP8</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Tan Ngo · Professor Kan Zhu and UW SyFI · 6 September 2026</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01</a:t>
            </a:r>
          </a:p>
        </p:txBody>
      </p:sp>
      <p:sp>
        <p:nvSpPr>
          <p:cNvPr id="9" name="TextBox 8"/>
          <p:cNvSpPr txBox="1"/>
          <p:nvPr/>
        </p:nvSpPr>
        <p:spPr>
          <a:xfrm>
            <a:off x="594360" y="2359152"/>
            <a:ext cx="6446520" cy="1847088"/>
          </a:xfrm>
          <a:prstGeom prst="rect">
            <a:avLst/>
          </a:prstGeom>
          <a:noFill/>
        </p:spPr>
        <p:txBody>
          <a:bodyPr wrap="square" lIns="0" rIns="0" tIns="0" bIns="0">
            <a:spAutoFit/>
          </a:bodyPr>
          <a:lstStyle/>
          <a:p>
            <a:pPr>
              <a:spcAft>
                <a:spcPts val="500"/>
              </a:spcAft>
              <a:defRPr sz="3100" b="1">
                <a:solidFill>
                  <a:srgbClr val="FFFFFF"/>
                </a:solidFill>
                <a:latin typeface="Aptos"/>
              </a:defRPr>
            </a:pPr>
            <a:r>
              <a:t>Throughput, latency</a:t>
            </a:r>
          </a:p>
          <a:p>
            <a:pPr>
              <a:spcAft>
                <a:spcPts val="500"/>
              </a:spcAft>
              <a:defRPr sz="3100" b="1">
                <a:solidFill>
                  <a:srgbClr val="FFFFFF"/>
                </a:solidFill>
                <a:latin typeface="Aptos"/>
              </a:defRPr>
            </a:pPr>
            <a:r>
              <a:t>and memory lead to</a:t>
            </a:r>
          </a:p>
          <a:p>
            <a:pPr>
              <a:spcAft>
                <a:spcPts val="500"/>
              </a:spcAft>
              <a:defRPr sz="3100" b="1">
                <a:solidFill>
                  <a:srgbClr val="FFFFFF"/>
                </a:solidFill>
                <a:latin typeface="Aptos"/>
              </a:defRPr>
            </a:pPr>
            <a:r>
              <a:t>different serving choices.</a:t>
            </a:r>
          </a:p>
        </p:txBody>
      </p:sp>
      <p:sp>
        <p:nvSpPr>
          <p:cNvPr id="10" name="TextBox 9"/>
          <p:cNvSpPr txBox="1"/>
          <p:nvPr/>
        </p:nvSpPr>
        <p:spPr>
          <a:xfrm>
            <a:off x="7360920" y="2267712"/>
            <a:ext cx="3931920" cy="493776"/>
          </a:xfrm>
          <a:prstGeom prst="rect">
            <a:avLst/>
          </a:prstGeom>
          <a:noFill/>
        </p:spPr>
        <p:txBody>
          <a:bodyPr wrap="square" lIns="0" rIns="0" tIns="0" bIns="0">
            <a:spAutoFit/>
          </a:bodyPr>
          <a:lstStyle/>
          <a:p>
            <a:pPr>
              <a:spcAft>
                <a:spcPts val="500"/>
              </a:spcAft>
              <a:defRPr sz="3000" b="1">
                <a:solidFill>
                  <a:srgbClr val="F1B38C"/>
                </a:solidFill>
                <a:latin typeface="Aptos"/>
              </a:defRPr>
            </a:pPr>
            <a:r>
              <a:t>389.4</a:t>
            </a:r>
          </a:p>
        </p:txBody>
      </p:sp>
      <p:sp>
        <p:nvSpPr>
          <p:cNvPr id="11" name="TextBox 10"/>
          <p:cNvSpPr txBox="1"/>
          <p:nvPr/>
        </p:nvSpPr>
        <p:spPr>
          <a:xfrm>
            <a:off x="7379208" y="2798064"/>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DeepSeek output tok/s · 16K, c64</a:t>
            </a:r>
          </a:p>
        </p:txBody>
      </p:sp>
      <p:sp>
        <p:nvSpPr>
          <p:cNvPr id="12" name="TextBox 11"/>
          <p:cNvSpPr txBox="1"/>
          <p:nvPr/>
        </p:nvSpPr>
        <p:spPr>
          <a:xfrm>
            <a:off x="7360920" y="3209544"/>
            <a:ext cx="3931920" cy="493776"/>
          </a:xfrm>
          <a:prstGeom prst="rect">
            <a:avLst/>
          </a:prstGeom>
          <a:noFill/>
        </p:spPr>
        <p:txBody>
          <a:bodyPr wrap="square" lIns="0" rIns="0" tIns="0" bIns="0">
            <a:spAutoFit/>
          </a:bodyPr>
          <a:lstStyle/>
          <a:p>
            <a:pPr>
              <a:spcAft>
                <a:spcPts val="500"/>
              </a:spcAft>
              <a:defRPr sz="3000" b="1">
                <a:solidFill>
                  <a:srgbClr val="C6AFE8"/>
                </a:solidFill>
                <a:latin typeface="Aptos"/>
              </a:defRPr>
            </a:pPr>
            <a:r>
              <a:t>447.1</a:t>
            </a:r>
          </a:p>
        </p:txBody>
      </p:sp>
      <p:sp>
        <p:nvSpPr>
          <p:cNvPr id="13" name="TextBox 12"/>
          <p:cNvSpPr txBox="1"/>
          <p:nvPr/>
        </p:nvSpPr>
        <p:spPr>
          <a:xfrm>
            <a:off x="7379208" y="3739896"/>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GLM output tok/s · 16K, c64</a:t>
            </a:r>
          </a:p>
        </p:txBody>
      </p:sp>
      <p:sp>
        <p:nvSpPr>
          <p:cNvPr id="14" name="TextBox 13"/>
          <p:cNvSpPr txBox="1"/>
          <p:nvPr/>
        </p:nvSpPr>
        <p:spPr>
          <a:xfrm>
            <a:off x="7360920" y="4151376"/>
            <a:ext cx="3931920" cy="493776"/>
          </a:xfrm>
          <a:prstGeom prst="rect">
            <a:avLst/>
          </a:prstGeom>
          <a:noFill/>
        </p:spPr>
        <p:txBody>
          <a:bodyPr wrap="square" lIns="0" rIns="0" tIns="0" bIns="0">
            <a:spAutoFit/>
          </a:bodyPr>
          <a:lstStyle/>
          <a:p>
            <a:pPr>
              <a:spcAft>
                <a:spcPts val="500"/>
              </a:spcAft>
              <a:defRPr sz="3000" b="1">
                <a:solidFill>
                  <a:srgbClr val="91D9C9"/>
                </a:solidFill>
                <a:latin typeface="Aptos"/>
              </a:defRPr>
            </a:pPr>
            <a:r>
              <a:t>517.7</a:t>
            </a:r>
          </a:p>
        </p:txBody>
      </p:sp>
      <p:sp>
        <p:nvSpPr>
          <p:cNvPr id="15" name="TextBox 14"/>
          <p:cNvSpPr txBox="1"/>
          <p:nvPr/>
        </p:nvSpPr>
        <p:spPr>
          <a:xfrm>
            <a:off x="7379208" y="4681728"/>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Qwen output tok/s · 16K, c64</a:t>
            </a:r>
          </a:p>
        </p:txBody>
      </p:sp>
      <p:sp>
        <p:nvSpPr>
          <p:cNvPr id="16" name="Rounded Rectangle 15"/>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8 × H100 80GB  |  Three measured deployments  |  Architecture + runtime + workload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RESEARCH MAP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Two parts: architecture, then evidence</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Research question: when does reduced model work become useful serving performance?</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task.md; report.md §§1–8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02</a:t>
            </a:r>
          </a:p>
        </p:txBody>
      </p:sp>
      <p:sp>
        <p:nvSpPr>
          <p:cNvPr id="9" name="Rounded Rectangle 8"/>
          <p:cNvSpPr/>
          <p:nvPr/>
        </p:nvSpPr>
        <p:spPr>
          <a:xfrm>
            <a:off x="54864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7744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PART I / FRONTIER DESIGN</a:t>
            </a:r>
          </a:p>
        </p:txBody>
      </p:sp>
      <p:sp>
        <p:nvSpPr>
          <p:cNvPr id="11" name="TextBox 10"/>
          <p:cNvSpPr txBox="1"/>
          <p:nvPr/>
        </p:nvSpPr>
        <p:spPr>
          <a:xfrm>
            <a:off x="73152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efficiency comes from</a:t>
            </a:r>
          </a:p>
        </p:txBody>
      </p:sp>
      <p:sp>
        <p:nvSpPr>
          <p:cNvPr id="12" name="TextBox 11"/>
          <p:cNvSpPr txBox="1"/>
          <p:nvPr/>
        </p:nvSpPr>
        <p:spPr>
          <a:xfrm>
            <a:off x="73152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Sparse attention, hybrid state, MoE, Muon and native MTP.</a:t>
            </a:r>
          </a:p>
        </p:txBody>
      </p:sp>
      <p:sp>
        <p:nvSpPr>
          <p:cNvPr id="13" name="Rounded Rectangle 12"/>
          <p:cNvSpPr/>
          <p:nvPr/>
        </p:nvSpPr>
        <p:spPr>
          <a:xfrm>
            <a:off x="621792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377440"/>
            <a:ext cx="5029200" cy="219456"/>
          </a:xfrm>
          <a:prstGeom prst="rect">
            <a:avLst/>
          </a:prstGeom>
          <a:noFill/>
        </p:spPr>
        <p:txBody>
          <a:bodyPr wrap="square" lIns="0" rIns="0" tIns="0" bIns="0">
            <a:spAutoFit/>
          </a:bodyPr>
          <a:lstStyle/>
          <a:p>
            <a:pPr>
              <a:spcAft>
                <a:spcPts val="500"/>
              </a:spcAft>
              <a:defRPr sz="1100" b="1">
                <a:solidFill>
                  <a:srgbClr val="7251B5"/>
                </a:solidFill>
                <a:latin typeface="Aptos"/>
              </a:defRPr>
            </a:pPr>
            <a:r>
              <a:t>PART II / LOCAL MEASUREMENTS</a:t>
            </a:r>
          </a:p>
        </p:txBody>
      </p:sp>
      <p:sp>
        <p:nvSpPr>
          <p:cNvPr id="15" name="TextBox 14"/>
          <p:cNvSpPr txBox="1"/>
          <p:nvPr/>
        </p:nvSpPr>
        <p:spPr>
          <a:xfrm>
            <a:off x="640080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the savings survive</a:t>
            </a:r>
          </a:p>
        </p:txBody>
      </p:sp>
      <p:sp>
        <p:nvSpPr>
          <p:cNvPr id="16" name="TextBox 15"/>
          <p:cNvSpPr txBox="1"/>
          <p:nvPr/>
        </p:nvSpPr>
        <p:spPr>
          <a:xfrm>
            <a:off x="640080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Concurrency, context, prefix sharing, speculation and cost.</a:t>
            </a:r>
          </a:p>
        </p:txBody>
      </p:sp>
      <p:sp>
        <p:nvSpPr>
          <p:cNvPr id="17" name="Rounded Rectangle 16"/>
          <p:cNvSpPr/>
          <p:nvPr/>
        </p:nvSpPr>
        <p:spPr>
          <a:xfrm>
            <a:off x="54864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840480"/>
            <a:ext cx="5029200" cy="219456"/>
          </a:xfrm>
          <a:prstGeom prst="rect">
            <a:avLst/>
          </a:prstGeom>
          <a:noFill/>
        </p:spPr>
        <p:txBody>
          <a:bodyPr wrap="square" lIns="0" rIns="0" tIns="0" bIns="0">
            <a:spAutoFit/>
          </a:bodyPr>
          <a:lstStyle/>
          <a:p>
            <a:pPr>
              <a:spcAft>
                <a:spcPts val="500"/>
              </a:spcAft>
              <a:defRPr sz="1100" b="1">
                <a:solidFill>
                  <a:srgbClr val="BB571E"/>
                </a:solidFill>
                <a:latin typeface="Aptos"/>
              </a:defRPr>
            </a:pPr>
            <a:r>
              <a:t>METHOD / RESEARCH REASONING</a:t>
            </a:r>
          </a:p>
        </p:txBody>
      </p:sp>
      <p:sp>
        <p:nvSpPr>
          <p:cNvPr id="19" name="TextBox 18"/>
          <p:cNvSpPr txBox="1"/>
          <p:nvPr/>
        </p:nvSpPr>
        <p:spPr>
          <a:xfrm>
            <a:off x="73152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Prediction → test → correction</a:t>
            </a:r>
          </a:p>
        </p:txBody>
      </p:sp>
      <p:sp>
        <p:nvSpPr>
          <p:cNvPr id="20" name="TextBox 19"/>
          <p:cNvSpPr txBox="1"/>
          <p:nvPr/>
        </p:nvSpPr>
        <p:spPr>
          <a:xfrm>
            <a:off x="73152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Separate published mechanisms, local observations and hypotheses.</a:t>
            </a:r>
          </a:p>
        </p:txBody>
      </p:sp>
      <p:sp>
        <p:nvSpPr>
          <p:cNvPr id="21" name="Rounded Rectangle 20"/>
          <p:cNvSpPr/>
          <p:nvPr/>
        </p:nvSpPr>
        <p:spPr>
          <a:xfrm>
            <a:off x="621792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84048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OUTCOME / A TESTABLE AGENDA</a:t>
            </a:r>
          </a:p>
        </p:txBody>
      </p:sp>
      <p:sp>
        <p:nvSpPr>
          <p:cNvPr id="23" name="TextBox 22"/>
          <p:cNvSpPr txBox="1"/>
          <p:nvPr/>
        </p:nvSpPr>
        <p:spPr>
          <a:xfrm>
            <a:off x="640080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Optimize useful completions</a:t>
            </a:r>
          </a:p>
        </p:txBody>
      </p:sp>
      <p:sp>
        <p:nvSpPr>
          <p:cNvPr id="24" name="TextBox 23"/>
          <p:cNvSpPr txBox="1"/>
          <p:nvPr/>
        </p:nvSpPr>
        <p:spPr>
          <a:xfrm>
            <a:off x="640080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Match runtime state; explain phase costs; test a serving policy.</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Compare in the same order throughout: DeepSeek → GLM → Qwen. Same questions, explicit controls.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SPARSE ATTENTION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Sparse attention reduces reads; selection has a cost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A query needs useful history; the system must find, gather and process it.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Conceptual operator diagram. Sparse kernel savings and vendor comparisons are not local end-to-end speedups.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DeepSeek-V4 report §2.3; Qwen3.8-Next report §2.1.2; report.md §2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03</a:t>
            </a:r>
          </a:p>
        </p:txBody>
      </p:sp>
      <p:sp>
        <p:nvSpPr>
          <p:cNvPr id="10" name="Rounded Rectangle 9"/>
          <p:cNvSpPr/>
          <p:nvPr/>
        </p:nvSpPr>
        <p:spPr>
          <a:xfrm>
            <a:off x="548640"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459736"/>
            <a:ext cx="3209544" cy="384048"/>
          </a:xfrm>
          <a:prstGeom prst="rect">
            <a:avLst/>
          </a:prstGeom>
          <a:noFill/>
        </p:spPr>
        <p:txBody>
          <a:bodyPr wrap="square" lIns="0" rIns="0" tIns="0" bIns="0">
            <a:spAutoFit/>
          </a:bodyPr>
          <a:lstStyle/>
          <a:p>
            <a:pPr>
              <a:spcAft>
                <a:spcPts val="500"/>
              </a:spcAft>
              <a:defRPr sz="2100" b="1">
                <a:solidFill>
                  <a:srgbClr val="586A7C"/>
                </a:solidFill>
                <a:latin typeface="Aptos"/>
              </a:defRPr>
            </a:pPr>
            <a:r>
              <a:t>Dense history</a:t>
            </a:r>
          </a:p>
        </p:txBody>
      </p:sp>
      <p:sp>
        <p:nvSpPr>
          <p:cNvPr id="12" name="Rectangle 11"/>
          <p:cNvSpPr/>
          <p:nvPr/>
        </p:nvSpPr>
        <p:spPr>
          <a:xfrm>
            <a:off x="713232" y="3072384"/>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313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9303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32941"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72844"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1274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52651"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92554"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32457"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72360"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 y="3212287"/>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3135" y="3212287"/>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9303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32941"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72844"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1274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552651"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92554"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32457"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972360"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3135"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93038"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2941"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72844"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12748"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552651"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692554"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32457"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972360"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13232"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53135"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3038"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32941"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272844"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412748"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552651"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692554"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832457"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972360"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13232"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3135"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93038"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132941"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272844"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412748"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552651"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692554"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832457"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972360"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13232"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53135"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93038"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132941"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272844"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412748"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552651"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692554"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832457"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972360"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13232"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53135"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93038"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132941"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272844"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412748"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552651"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692554"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832457"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972360"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13232"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53135"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93038"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132941"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272844"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412748"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552651"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692554"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832457"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972360"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13232"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53135"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93038"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132941"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272844"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412748"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552651"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692554"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832457"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972360"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13232"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53135"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93038"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32941"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272844"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412748"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552651"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692554"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832457"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972360"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13232"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113" name="TextBox 112"/>
          <p:cNvSpPr txBox="1"/>
          <p:nvPr/>
        </p:nvSpPr>
        <p:spPr>
          <a:xfrm>
            <a:off x="2340864"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All available</a:t>
            </a:r>
          </a:p>
          <a:p>
            <a:pPr>
              <a:spcAft>
                <a:spcPts val="500"/>
              </a:spcAft>
              <a:defRPr sz="1400" b="0">
                <a:solidFill>
                  <a:srgbClr val="586A7C"/>
                </a:solidFill>
                <a:latin typeface="Aptos"/>
              </a:defRPr>
            </a:pPr>
            <a:r>
              <a:t>positions</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Core prefill:</a:t>
            </a:r>
          </a:p>
          <a:p>
            <a:pPr>
              <a:spcAft>
                <a:spcPts val="500"/>
              </a:spcAft>
              <a:defRPr sz="1400" b="0">
                <a:solidFill>
                  <a:srgbClr val="586A7C"/>
                </a:solidFill>
                <a:latin typeface="Aptos"/>
              </a:defRPr>
            </a:pPr>
            <a:r>
              <a:t>O(S²)</a:t>
            </a:r>
          </a:p>
        </p:txBody>
      </p:sp>
      <p:sp>
        <p:nvSpPr>
          <p:cNvPr id="114" name="Rounded Rectangle 113"/>
          <p:cNvSpPr/>
          <p:nvPr/>
        </p:nvSpPr>
        <p:spPr>
          <a:xfrm>
            <a:off x="4315968"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4480559" y="2459736"/>
            <a:ext cx="3209544" cy="384048"/>
          </a:xfrm>
          <a:prstGeom prst="rect">
            <a:avLst/>
          </a:prstGeom>
          <a:noFill/>
        </p:spPr>
        <p:txBody>
          <a:bodyPr wrap="square" lIns="0" rIns="0" tIns="0" bIns="0">
            <a:spAutoFit/>
          </a:bodyPr>
          <a:lstStyle/>
          <a:p>
            <a:pPr>
              <a:spcAft>
                <a:spcPts val="500"/>
              </a:spcAft>
              <a:defRPr sz="2100" b="1">
                <a:solidFill>
                  <a:srgbClr val="007F78"/>
                </a:solidFill>
                <a:latin typeface="Aptos"/>
              </a:defRPr>
            </a:pPr>
            <a:r>
              <a:t>Sparse selection</a:t>
            </a:r>
          </a:p>
        </p:txBody>
      </p:sp>
      <p:sp>
        <p:nvSpPr>
          <p:cNvPr id="116" name="Rectangle 115"/>
          <p:cNvSpPr/>
          <p:nvPr/>
        </p:nvSpPr>
        <p:spPr>
          <a:xfrm>
            <a:off x="4480559" y="3072384"/>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4620463"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4760366"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900269"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040172"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518007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319979"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5459882"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59978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573968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4480559" y="3212287"/>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4620463" y="3212287"/>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760366"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4900269"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040172"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5180075"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319979"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459882"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599785"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73968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4480559"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620463"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4760366"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4900269"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040172"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5180075"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5319979"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5459882"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5599785"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739688"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4480559"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4620463"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4760366"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4900269"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040172"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5180075"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5319979"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5459882"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5599785"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5739688"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4480559"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4620463"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4760366"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4900269"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5040172"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180075"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319979"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5459882"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5599785"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5739688"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48055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4620463"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4760366"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490026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5040172"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5180075"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531997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5459882"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5599785"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739688"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80559"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4620463"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4760366"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4900269"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5040172"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5180075"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5319979"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5459882"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5599785"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5739688"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4480559"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4620463"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4760366"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4900269"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5040172"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5180075"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5319979"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459882"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599785"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5739688"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448055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4620463"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4760366"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490026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5040172"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5180075"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531997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459882"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5599785"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5739688"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448055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4620463"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760366"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490026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040172"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5180075"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531997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5459882"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5599785"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5739688"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4480559"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217" name="TextBox 216"/>
          <p:cNvSpPr txBox="1"/>
          <p:nvPr/>
        </p:nvSpPr>
        <p:spPr>
          <a:xfrm>
            <a:off x="6108192"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Selected entries</a:t>
            </a:r>
          </a:p>
          <a:p>
            <a:pPr>
              <a:spcAft>
                <a:spcPts val="500"/>
              </a:spcAft>
              <a:defRPr sz="1400" b="0">
                <a:solidFill>
                  <a:srgbClr val="586A7C"/>
                </a:solidFill>
                <a:latin typeface="Aptos"/>
              </a:defRPr>
            </a:pPr>
            <a:r>
              <a:t>plus index cost</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Core attention:</a:t>
            </a:r>
          </a:p>
          <a:p>
            <a:pPr>
              <a:spcAft>
                <a:spcPts val="500"/>
              </a:spcAft>
              <a:defRPr sz="1400" b="0">
                <a:solidFill>
                  <a:srgbClr val="586A7C"/>
                </a:solidFill>
                <a:latin typeface="Aptos"/>
              </a:defRPr>
            </a:pPr>
            <a:r>
              <a:t>O(SK)</a:t>
            </a:r>
          </a:p>
        </p:txBody>
      </p:sp>
      <p:sp>
        <p:nvSpPr>
          <p:cNvPr id="218" name="Rounded Rectangle 217"/>
          <p:cNvSpPr/>
          <p:nvPr/>
        </p:nvSpPr>
        <p:spPr>
          <a:xfrm>
            <a:off x="8083296"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8247888" y="2459736"/>
            <a:ext cx="3209544" cy="384048"/>
          </a:xfrm>
          <a:prstGeom prst="rect">
            <a:avLst/>
          </a:prstGeom>
          <a:noFill/>
        </p:spPr>
        <p:txBody>
          <a:bodyPr wrap="square" lIns="0" rIns="0" tIns="0" bIns="0">
            <a:spAutoFit/>
          </a:bodyPr>
          <a:lstStyle/>
          <a:p>
            <a:pPr>
              <a:spcAft>
                <a:spcPts val="500"/>
              </a:spcAft>
              <a:defRPr sz="2100" b="1">
                <a:solidFill>
                  <a:srgbClr val="7251B5"/>
                </a:solidFill>
                <a:latin typeface="Aptos"/>
              </a:defRPr>
            </a:pPr>
            <a:r>
              <a:t>Compressed history</a:t>
            </a:r>
          </a:p>
        </p:txBody>
      </p:sp>
      <p:sp>
        <p:nvSpPr>
          <p:cNvPr id="220" name="Rectangle 219"/>
          <p:cNvSpPr/>
          <p:nvPr/>
        </p:nvSpPr>
        <p:spPr>
          <a:xfrm>
            <a:off x="8247888" y="3072384"/>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8527694"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807500"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9087307"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9367113"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8247888" y="3212287"/>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8527694"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8807500"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9087307"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9367113"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247888" y="335219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527694" y="335219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8807500"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9087307"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367113"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8247888" y="349209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8527694" y="349209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8807500"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9087307"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9367113"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8247888"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8527694"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807500"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087307" y="363199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367113" y="363199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8247888"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527694"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807500"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087307" y="377190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367113" y="377190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8247888"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527694"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8807500"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087307"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9367113" y="391180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8247888"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8527694"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8807500"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9087307"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9367113" y="405170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8247888"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8527694"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8807500"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087307"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367113"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8247888"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8527694"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8807500"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9087307"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9367113"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8247888"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271" name="TextBox 270"/>
          <p:cNvSpPr txBox="1"/>
          <p:nvPr/>
        </p:nvSpPr>
        <p:spPr>
          <a:xfrm>
            <a:off x="9875520"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Summaries</a:t>
            </a:r>
          </a:p>
          <a:p>
            <a:pPr>
              <a:spcAft>
                <a:spcPts val="500"/>
              </a:spcAft>
              <a:defRPr sz="1400" b="0">
                <a:solidFill>
                  <a:srgbClr val="586A7C"/>
                </a:solidFill>
                <a:latin typeface="Aptos"/>
              </a:defRPr>
            </a:pPr>
            <a:r>
              <a:t>plus local tail</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Fewer entries;</a:t>
            </a:r>
          </a:p>
          <a:p>
            <a:pPr>
              <a:spcAft>
                <a:spcPts val="500"/>
              </a:spcAft>
              <a:defRPr sz="1400" b="0">
                <a:solidFill>
                  <a:srgbClr val="586A7C"/>
                </a:solidFill>
                <a:latin typeface="Aptos"/>
              </a:defRPr>
            </a:pPr>
            <a:r>
              <a:t>extra state</a:t>
            </a:r>
          </a:p>
        </p:txBody>
      </p:sp>
      <p:sp>
        <p:nvSpPr>
          <p:cNvPr id="272" name="TextBox 271"/>
          <p:cNvSpPr txBox="1"/>
          <p:nvPr/>
        </p:nvSpPr>
        <p:spPr>
          <a:xfrm>
            <a:off x="676656" y="5029200"/>
            <a:ext cx="10972800" cy="274320"/>
          </a:xfrm>
          <a:prstGeom prst="rect">
            <a:avLst/>
          </a:prstGeom>
          <a:noFill/>
        </p:spPr>
        <p:txBody>
          <a:bodyPr wrap="square" lIns="0" rIns="0" tIns="0" bIns="0">
            <a:spAutoFit/>
          </a:bodyPr>
          <a:lstStyle/>
          <a:p>
            <a:pPr>
              <a:spcAft>
                <a:spcPts val="500"/>
              </a:spcAft>
              <a:defRPr sz="1700" b="1">
                <a:solidFill>
                  <a:srgbClr val="BB571E"/>
                </a:solidFill>
                <a:latin typeface="Aptos"/>
              </a:defRPr>
            </a:pPr>
            <a:r>
              <a:t>Sparse path = indexer + top-k + gather + selected attention + state management</a:t>
            </a:r>
          </a:p>
        </p:txBody>
      </p:sp>
      <p:sp>
        <p:nvSpPr>
          <p:cNvPr id="273" name="Rounded Rectangle 272"/>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Prediction: the crossover depends on context length, selection overhead, kernel efficiency and quality.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ARCHITECTURE COMPARISON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Compare the same architectural dimensions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All three use MoE; the main contrast is how they represent and retrieve history.</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Configuration facts and prior tensor accounting; these do not isolate the cause of measured speed differences.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recorded configuration and tensor analyses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04</a:t>
            </a:r>
          </a:p>
        </p:txBody>
      </p:sp>
      <p:sp>
        <p:nvSpPr>
          <p:cNvPr id="10" name="Rounded Rectangle 9"/>
          <p:cNvSpPr/>
          <p:nvPr/>
        </p:nvSpPr>
        <p:spPr>
          <a:xfrm>
            <a:off x="2999232" y="2221992"/>
            <a:ext cx="2715768" cy="384048"/>
          </a:xfrm>
          <a:prstGeom prst="roundRect">
            <a:avLst>
              <a:gd name="adj" fmla="val 8000"/>
            </a:avLst>
          </a:prstGeom>
          <a:solidFill>
            <a:srgbClr val="BB5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7248"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DeepSeek</a:t>
            </a:r>
          </a:p>
        </p:txBody>
      </p:sp>
      <p:sp>
        <p:nvSpPr>
          <p:cNvPr id="12" name="Rounded Rectangle 11"/>
          <p:cNvSpPr/>
          <p:nvPr/>
        </p:nvSpPr>
        <p:spPr>
          <a:xfrm>
            <a:off x="5852160" y="2221992"/>
            <a:ext cx="2715768" cy="384048"/>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6"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GLM</a:t>
            </a:r>
          </a:p>
        </p:txBody>
      </p:sp>
      <p:sp>
        <p:nvSpPr>
          <p:cNvPr id="14" name="Rounded Rectangle 13"/>
          <p:cNvSpPr/>
          <p:nvPr/>
        </p:nvSpPr>
        <p:spPr>
          <a:xfrm>
            <a:off x="8705088" y="2221992"/>
            <a:ext cx="2715768" cy="384048"/>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33104"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Qwen</a:t>
            </a:r>
          </a:p>
        </p:txBody>
      </p:sp>
      <p:sp>
        <p:nvSpPr>
          <p:cNvPr id="16" name="TextBox 15"/>
          <p:cNvSpPr txBox="1"/>
          <p:nvPr/>
        </p:nvSpPr>
        <p:spPr>
          <a:xfrm>
            <a:off x="640080" y="2798064"/>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Attention layers</a:t>
            </a:r>
          </a:p>
        </p:txBody>
      </p:sp>
      <p:sp>
        <p:nvSpPr>
          <p:cNvPr id="17" name="Rounded Rectangle 16"/>
          <p:cNvSpPr/>
          <p:nvPr/>
        </p:nvSpPr>
        <p:spPr>
          <a:xfrm>
            <a:off x="2999232"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7248"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43 sparse;</a:t>
            </a:r>
          </a:p>
          <a:p>
            <a:pPr>
              <a:spcAft>
                <a:spcPts val="0"/>
              </a:spcAft>
              <a:defRPr sz="1600" b="0">
                <a:solidFill>
                  <a:srgbClr val="172C42"/>
                </a:solidFill>
                <a:latin typeface="Aptos"/>
              </a:defRPr>
            </a:pPr>
            <a:r>
              <a:t>compressed history</a:t>
            </a:r>
          </a:p>
        </p:txBody>
      </p:sp>
      <p:sp>
        <p:nvSpPr>
          <p:cNvPr id="19" name="Rounded Rectangle 18"/>
          <p:cNvSpPr/>
          <p:nvPr/>
        </p:nvSpPr>
        <p:spPr>
          <a:xfrm>
            <a:off x="5852160"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0176"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34 recurrent KDA</a:t>
            </a:r>
          </a:p>
          <a:p>
            <a:pPr>
              <a:spcAft>
                <a:spcPts val="0"/>
              </a:spcAft>
              <a:defRPr sz="1600" b="0">
                <a:solidFill>
                  <a:srgbClr val="172C42"/>
                </a:solidFill>
                <a:latin typeface="Aptos"/>
              </a:defRPr>
            </a:pPr>
            <a:r>
              <a:t>+ 11 sparse</a:t>
            </a:r>
          </a:p>
        </p:txBody>
      </p:sp>
      <p:sp>
        <p:nvSpPr>
          <p:cNvPr id="21" name="Rounded Rectangle 20"/>
          <p:cNvSpPr/>
          <p:nvPr/>
        </p:nvSpPr>
        <p:spPr>
          <a:xfrm>
            <a:off x="8705088"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3104"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36 recurrent GDN</a:t>
            </a:r>
          </a:p>
          <a:p>
            <a:pPr>
              <a:spcAft>
                <a:spcPts val="0"/>
              </a:spcAft>
              <a:defRPr sz="1600" b="0">
                <a:solidFill>
                  <a:srgbClr val="172C42"/>
                </a:solidFill>
                <a:latin typeface="Aptos"/>
              </a:defRPr>
            </a:pPr>
            <a:r>
              <a:t>+ 12 QSA</a:t>
            </a:r>
          </a:p>
        </p:txBody>
      </p:sp>
      <p:sp>
        <p:nvSpPr>
          <p:cNvPr id="23" name="TextBox 22"/>
          <p:cNvSpPr txBox="1"/>
          <p:nvPr/>
        </p:nvSpPr>
        <p:spPr>
          <a:xfrm>
            <a:off x="640080" y="3374136"/>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State to manage</a:t>
            </a:r>
          </a:p>
        </p:txBody>
      </p:sp>
      <p:sp>
        <p:nvSpPr>
          <p:cNvPr id="24" name="Rounded Rectangle 23"/>
          <p:cNvSpPr/>
          <p:nvPr/>
        </p:nvSpPr>
        <p:spPr>
          <a:xfrm>
            <a:off x="2999232"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27248"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Summaries, indices</a:t>
            </a:r>
          </a:p>
          <a:p>
            <a:pPr>
              <a:spcAft>
                <a:spcPts val="0"/>
              </a:spcAft>
              <a:defRPr sz="1600" b="0">
                <a:solidFill>
                  <a:srgbClr val="172C42"/>
                </a:solidFill>
                <a:latin typeface="Aptos"/>
              </a:defRPr>
            </a:pPr>
            <a:r>
              <a:t>and local tails</a:t>
            </a:r>
          </a:p>
        </p:txBody>
      </p:sp>
      <p:sp>
        <p:nvSpPr>
          <p:cNvPr id="26" name="Rounded Rectangle 25"/>
          <p:cNvSpPr/>
          <p:nvPr/>
        </p:nvSpPr>
        <p:spPr>
          <a:xfrm>
            <a:off x="5852160"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0176"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Recurrent checkpoints</a:t>
            </a:r>
          </a:p>
          <a:p>
            <a:pPr>
              <a:spcAft>
                <a:spcPts val="0"/>
              </a:spcAft>
              <a:defRPr sz="1600" b="0">
                <a:solidFill>
                  <a:srgbClr val="172C42"/>
                </a:solidFill>
                <a:latin typeface="Aptos"/>
              </a:defRPr>
            </a:pPr>
            <a:r>
              <a:t>+ retained history</a:t>
            </a:r>
          </a:p>
        </p:txBody>
      </p:sp>
      <p:sp>
        <p:nvSpPr>
          <p:cNvPr id="28" name="Rounded Rectangle 27"/>
          <p:cNvSpPr/>
          <p:nvPr/>
        </p:nvSpPr>
        <p:spPr>
          <a:xfrm>
            <a:off x="8705088"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33104"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Recurrent checkpoints</a:t>
            </a:r>
          </a:p>
          <a:p>
            <a:pPr>
              <a:spcAft>
                <a:spcPts val="0"/>
              </a:spcAft>
              <a:defRPr sz="1600" b="0">
                <a:solidFill>
                  <a:srgbClr val="172C42"/>
                </a:solidFill>
                <a:latin typeface="Aptos"/>
              </a:defRPr>
            </a:pPr>
            <a:r>
              <a:t>+ retained history</a:t>
            </a:r>
          </a:p>
        </p:txBody>
      </p:sp>
      <p:sp>
        <p:nvSpPr>
          <p:cNvPr id="30" name="TextBox 29"/>
          <p:cNvSpPr txBox="1"/>
          <p:nvPr/>
        </p:nvSpPr>
        <p:spPr>
          <a:xfrm>
            <a:off x="640080" y="3950207"/>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Experts / selected</a:t>
            </a:r>
          </a:p>
        </p:txBody>
      </p:sp>
      <p:sp>
        <p:nvSpPr>
          <p:cNvPr id="31" name="Rounded Rectangle 30"/>
          <p:cNvSpPr/>
          <p:nvPr/>
        </p:nvSpPr>
        <p:spPr>
          <a:xfrm>
            <a:off x="2999232"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27248"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256 / 6</a:t>
            </a:r>
          </a:p>
        </p:txBody>
      </p:sp>
      <p:sp>
        <p:nvSpPr>
          <p:cNvPr id="33" name="Rounded Rectangle 32"/>
          <p:cNvSpPr/>
          <p:nvPr/>
        </p:nvSpPr>
        <p:spPr>
          <a:xfrm>
            <a:off x="5852160"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80176"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288 / 8</a:t>
            </a:r>
          </a:p>
        </p:txBody>
      </p:sp>
      <p:sp>
        <p:nvSpPr>
          <p:cNvPr id="35" name="Rounded Rectangle 34"/>
          <p:cNvSpPr/>
          <p:nvPr/>
        </p:nvSpPr>
        <p:spPr>
          <a:xfrm>
            <a:off x="8705088"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33104"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512 / 10</a:t>
            </a:r>
          </a:p>
        </p:txBody>
      </p:sp>
      <p:sp>
        <p:nvSpPr>
          <p:cNvPr id="37" name="TextBox 36"/>
          <p:cNvSpPr txBox="1"/>
          <p:nvPr/>
        </p:nvSpPr>
        <p:spPr>
          <a:xfrm>
            <a:off x="640080" y="4526280"/>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Active GEMM path*</a:t>
            </a:r>
          </a:p>
        </p:txBody>
      </p:sp>
      <p:sp>
        <p:nvSpPr>
          <p:cNvPr id="38" name="Rounded Rectangle 37"/>
          <p:cNvSpPr/>
          <p:nvPr/>
        </p:nvSpPr>
        <p:spPr>
          <a:xfrm>
            <a:off x="2999232"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27248"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14.08B</a:t>
            </a:r>
          </a:p>
        </p:txBody>
      </p:sp>
      <p:sp>
        <p:nvSpPr>
          <p:cNvPr id="40" name="Rounded Rectangle 39"/>
          <p:cNvSpPr/>
          <p:nvPr/>
        </p:nvSpPr>
        <p:spPr>
          <a:xfrm>
            <a:off x="5852160"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0176"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17.38B</a:t>
            </a:r>
          </a:p>
        </p:txBody>
      </p:sp>
      <p:sp>
        <p:nvSpPr>
          <p:cNvPr id="42" name="Rounded Rectangle 41"/>
          <p:cNvSpPr/>
          <p:nvPr/>
        </p:nvSpPr>
        <p:spPr>
          <a:xfrm>
            <a:off x="8705088"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33104"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7.27B</a:t>
            </a:r>
          </a:p>
        </p:txBody>
      </p:sp>
      <p:sp>
        <p:nvSpPr>
          <p:cNvPr id="44" name="TextBox 43"/>
          <p:cNvSpPr txBox="1"/>
          <p:nvPr/>
        </p:nvSpPr>
        <p:spPr>
          <a:xfrm>
            <a:off x="658368" y="5138928"/>
            <a:ext cx="109728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*Prior tensor analysis; Qwen also has a 51.23B lookup table, not a full per-token GEMM.</a:t>
            </a:r>
          </a:p>
        </p:txBody>
      </p:sp>
      <p:sp>
        <p:nvSpPr>
          <p:cNvPr id="45" name="Rounded Rectangle 4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 compresses history; GLM and Qwen combine recurrence with history retrieval.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TRAINING EFFICIENCY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Muon changes training updates; AdamW still has a role</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A matrix-aware optimizer is a training design choice, not a decode kernel.</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Published optimizer recipes; no local training comparison. GLM optimizer recipe is not established by the sources used here.</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Jordan, Muon; Loshchilov &amp; Hutter, AdamW; DeepSeek and Qwen reports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05</a:t>
            </a:r>
          </a:p>
        </p:txBody>
      </p:sp>
      <p:sp>
        <p:nvSpPr>
          <p:cNvPr id="10" name="Rounded Rectangle 9"/>
          <p:cNvSpPr/>
          <p:nvPr/>
        </p:nvSpPr>
        <p:spPr>
          <a:xfrm>
            <a:off x="548640" y="2240280"/>
            <a:ext cx="5413248" cy="27157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377440"/>
            <a:ext cx="0" cy="2441448"/>
          </a:xfrm>
          <a:prstGeom prst="line">
            <a:avLst/>
          </a:prstGeom>
          <a:ln w="38100">
            <a:solidFill>
              <a:srgbClr val="586A7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04872"/>
            <a:ext cx="5047488" cy="320040"/>
          </a:xfrm>
          <a:prstGeom prst="rect">
            <a:avLst/>
          </a:prstGeom>
          <a:noFill/>
        </p:spPr>
        <p:txBody>
          <a:bodyPr wrap="square" lIns="0" rIns="0" tIns="0" bIns="0">
            <a:spAutoFit/>
          </a:bodyPr>
          <a:lstStyle/>
          <a:p>
            <a:pPr>
              <a:spcAft>
                <a:spcPts val="500"/>
              </a:spcAft>
              <a:defRPr sz="1200" b="1">
                <a:solidFill>
                  <a:srgbClr val="586A7C"/>
                </a:solidFill>
                <a:latin typeface="Aptos"/>
              </a:defRPr>
            </a:pPr>
            <a:r>
              <a:t>ADAMW</a:t>
            </a:r>
          </a:p>
        </p:txBody>
      </p:sp>
      <p:sp>
        <p:nvSpPr>
          <p:cNvPr id="13" name="TextBox 12"/>
          <p:cNvSpPr txBox="1"/>
          <p:nvPr/>
        </p:nvSpPr>
        <p:spPr>
          <a:xfrm>
            <a:off x="731520" y="2862072"/>
            <a:ext cx="504748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Coordinate-wise scaling</a:t>
            </a:r>
          </a:p>
        </p:txBody>
      </p:sp>
      <p:sp>
        <p:nvSpPr>
          <p:cNvPr id="14" name="TextBox 13"/>
          <p:cNvSpPr txBox="1"/>
          <p:nvPr/>
        </p:nvSpPr>
        <p:spPr>
          <a:xfrm>
            <a:off x="731520" y="3657600"/>
            <a:ext cx="5047488" cy="1188720"/>
          </a:xfrm>
          <a:prstGeom prst="rect">
            <a:avLst/>
          </a:prstGeom>
          <a:noFill/>
        </p:spPr>
        <p:txBody>
          <a:bodyPr wrap="square" lIns="0" rIns="0" tIns="0" bIns="0">
            <a:spAutoFit/>
          </a:bodyPr>
          <a:lstStyle/>
          <a:p>
            <a:pPr>
              <a:spcAft>
                <a:spcPts val="500"/>
              </a:spcAft>
              <a:defRPr sz="1600" b="0">
                <a:solidFill>
                  <a:srgbClr val="586A7C"/>
                </a:solidFill>
                <a:latin typeface="Aptos"/>
              </a:defRPr>
            </a:pPr>
            <a:r>
              <a:t>Momentum + second-moment scaling</a:t>
            </a:r>
          </a:p>
          <a:p>
            <a:pPr>
              <a:spcAft>
                <a:spcPts val="500"/>
              </a:spcAft>
              <a:defRPr sz="1600" b="0">
                <a:solidFill>
                  <a:srgbClr val="586A7C"/>
                </a:solidFill>
                <a:latin typeface="Aptos"/>
              </a:defRPr>
            </a:pPr>
            <a:r>
              <a:t>Decoupled weight decay</a:t>
            </a:r>
          </a:p>
          <a:p>
            <a:pPr>
              <a:spcAft>
                <a:spcPts val="500"/>
              </a:spcAft>
              <a:defRPr sz="1600" b="0">
                <a:solidFill>
                  <a:srgbClr val="586A7C"/>
                </a:solidFill>
                <a:latin typeface="Aptos"/>
              </a:defRPr>
            </a:pPr>
            <a:r>
              <a:t>Embeddings and other selected groups</a:t>
            </a:r>
          </a:p>
        </p:txBody>
      </p:sp>
      <p:sp>
        <p:nvSpPr>
          <p:cNvPr id="15" name="Rounded Rectangle 14"/>
          <p:cNvSpPr/>
          <p:nvPr/>
        </p:nvSpPr>
        <p:spPr>
          <a:xfrm>
            <a:off x="6181344" y="2240280"/>
            <a:ext cx="5413248" cy="27157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6199631" y="2377440"/>
            <a:ext cx="0" cy="2441448"/>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64224" y="2404872"/>
            <a:ext cx="504748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MUON</a:t>
            </a:r>
          </a:p>
        </p:txBody>
      </p:sp>
      <p:sp>
        <p:nvSpPr>
          <p:cNvPr id="18" name="TextBox 17"/>
          <p:cNvSpPr txBox="1"/>
          <p:nvPr/>
        </p:nvSpPr>
        <p:spPr>
          <a:xfrm>
            <a:off x="6364224" y="2862072"/>
            <a:ext cx="504748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Matrix update geometry</a:t>
            </a:r>
          </a:p>
        </p:txBody>
      </p:sp>
      <p:sp>
        <p:nvSpPr>
          <p:cNvPr id="19" name="TextBox 18"/>
          <p:cNvSpPr txBox="1"/>
          <p:nvPr/>
        </p:nvSpPr>
        <p:spPr>
          <a:xfrm>
            <a:off x="6364224" y="3657600"/>
            <a:ext cx="5047488" cy="1188720"/>
          </a:xfrm>
          <a:prstGeom prst="rect">
            <a:avLst/>
          </a:prstGeom>
          <a:noFill/>
        </p:spPr>
        <p:txBody>
          <a:bodyPr wrap="square" lIns="0" rIns="0" tIns="0" bIns="0">
            <a:spAutoFit/>
          </a:bodyPr>
          <a:lstStyle/>
          <a:p>
            <a:pPr>
              <a:spcAft>
                <a:spcPts val="500"/>
              </a:spcAft>
              <a:defRPr sz="1600" b="0">
                <a:solidFill>
                  <a:srgbClr val="586A7C"/>
                </a:solidFill>
                <a:latin typeface="Aptos"/>
              </a:defRPr>
            </a:pPr>
            <a:r>
              <a:t>Momentum → approximate orthogonalization</a:t>
            </a:r>
          </a:p>
          <a:p>
            <a:pPr>
              <a:spcAft>
                <a:spcPts val="500"/>
              </a:spcAft>
              <a:defRPr sz="1600" b="0">
                <a:solidFill>
                  <a:srgbClr val="586A7C"/>
                </a:solidFill>
                <a:latin typeface="Aptos"/>
              </a:defRPr>
            </a:pPr>
            <a:r>
              <a:t>Newton–Schulz matrix operations</a:t>
            </a:r>
          </a:p>
          <a:p>
            <a:pPr>
              <a:spcAft>
                <a:spcPts val="500"/>
              </a:spcAft>
              <a:defRPr sz="1600" b="0">
                <a:solidFill>
                  <a:srgbClr val="586A7C"/>
                </a:solidFill>
                <a:latin typeface="Aptos"/>
              </a:defRPr>
            </a:pPr>
            <a:r>
              <a:t>Matrix-aware partitioning and batching</a:t>
            </a:r>
          </a:p>
        </p:txBody>
      </p:sp>
      <p:sp>
        <p:nvSpPr>
          <p:cNvPr id="20" name="TextBox 19"/>
          <p:cNvSpPr txBox="1"/>
          <p:nvPr/>
        </p:nvSpPr>
        <p:spPr>
          <a:xfrm>
            <a:off x="667512" y="5010912"/>
            <a:ext cx="10972800" cy="283464"/>
          </a:xfrm>
          <a:prstGeom prst="rect">
            <a:avLst/>
          </a:prstGeom>
          <a:noFill/>
        </p:spPr>
        <p:txBody>
          <a:bodyPr wrap="square" lIns="0" rIns="0" tIns="0" bIns="0">
            <a:spAutoFit/>
          </a:bodyPr>
          <a:lstStyle/>
          <a:p>
            <a:pPr>
              <a:spcAft>
                <a:spcPts val="500"/>
              </a:spcAft>
              <a:defRPr sz="1500" b="1">
                <a:solidFill>
                  <a:srgbClr val="172C42"/>
                </a:solidFill>
                <a:latin typeface="Aptos"/>
              </a:defRPr>
            </a:pPr>
            <a:r>
              <a:t>DeepSeek: mixed Muon/AdamW   |   GLM: not established here   |   Qwen: mixed Muon/AdamW</a:t>
            </a:r>
          </a:p>
        </p:txBody>
      </p:sp>
      <p:sp>
        <p:nvSpPr>
          <p:cNvPr id="21" name="Rounded Rectangle 20"/>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Evaluate quality reached per training GPU-hour; the optimizer update is absent from serving.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NATIVE MTP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Day-0 speculation: ship a draft, still pay for verification</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Here “zero-day” means native drafting and runtime support at release, not zero overhead.</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Runtime support is version-specific. Target-distribution preservation requires correct acceptance/resampling and state handling.</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DeepSeek-V3 MTP; Leviathan et al., speculative decoding; SGLang Qwen day-0 support</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06</a:t>
            </a:r>
          </a:p>
        </p:txBody>
      </p:sp>
      <p:sp>
        <p:nvSpPr>
          <p:cNvPr id="10" name="Rounded Rectangle 9"/>
          <p:cNvSpPr/>
          <p:nvPr/>
        </p:nvSpPr>
        <p:spPr>
          <a:xfrm>
            <a:off x="548640"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5915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01 / DRAFT</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Propose future tokens</a:t>
            </a:r>
          </a:p>
        </p:txBody>
      </p:sp>
      <p:sp>
        <p:nvSpPr>
          <p:cNvPr id="14" name="TextBox 13"/>
          <p:cNvSpPr txBox="1"/>
          <p:nvPr/>
        </p:nvSpPr>
        <p:spPr>
          <a:xfrm>
            <a:off x="731520"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Native MTP can avoid waiting for a separately trained draft model.</a:t>
            </a:r>
          </a:p>
        </p:txBody>
      </p:sp>
      <p:sp>
        <p:nvSpPr>
          <p:cNvPr id="15" name="Rounded Rectangle 14"/>
          <p:cNvSpPr/>
          <p:nvPr/>
        </p:nvSpPr>
        <p:spPr>
          <a:xfrm>
            <a:off x="4315968"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59152"/>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02 / VERIFY</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Target checks candidates</a:t>
            </a:r>
          </a:p>
        </p:txBody>
      </p:sp>
      <p:sp>
        <p:nvSpPr>
          <p:cNvPr id="19" name="TextBox 18"/>
          <p:cNvSpPr txBox="1"/>
          <p:nvPr/>
        </p:nvSpPr>
        <p:spPr>
          <a:xfrm>
            <a:off x="4498848"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Batch candidate verification; keep valid progress and resample as required.</a:t>
            </a:r>
          </a:p>
        </p:txBody>
      </p:sp>
      <p:sp>
        <p:nvSpPr>
          <p:cNvPr id="20" name="Rounded Rectangle 19"/>
          <p:cNvSpPr/>
          <p:nvPr/>
        </p:nvSpPr>
        <p:spPr>
          <a:xfrm>
            <a:off x="8083296"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59152"/>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03 / COMMIT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Restore consistent state</a:t>
            </a:r>
          </a:p>
        </p:txBody>
      </p:sp>
      <p:sp>
        <p:nvSpPr>
          <p:cNvPr id="24" name="TextBox 23"/>
          <p:cNvSpPr txBox="1"/>
          <p:nvPr/>
        </p:nvSpPr>
        <p:spPr>
          <a:xfrm>
            <a:off x="8266175"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Discard rejected suffix state; commit KV, indices and recurrent updates.</a:t>
            </a:r>
          </a:p>
        </p:txBody>
      </p:sp>
      <p:sp>
        <p:nvSpPr>
          <p:cNvPr id="25" name="TextBox 24"/>
          <p:cNvSpPr txBox="1"/>
          <p:nvPr/>
        </p:nvSpPr>
        <p:spPr>
          <a:xfrm>
            <a:off x="658368" y="5029200"/>
            <a:ext cx="10972800" cy="274320"/>
          </a:xfrm>
          <a:prstGeom prst="rect">
            <a:avLst/>
          </a:prstGeom>
          <a:noFill/>
        </p:spPr>
        <p:txBody>
          <a:bodyPr wrap="square" lIns="0" rIns="0" tIns="0" bIns="0">
            <a:spAutoFit/>
          </a:bodyPr>
          <a:lstStyle/>
          <a:p>
            <a:pPr>
              <a:spcAft>
                <a:spcPts val="500"/>
              </a:spcAft>
              <a:defRPr sz="1700" b="1">
                <a:solidFill>
                  <a:srgbClr val="007F78"/>
                </a:solidFill>
                <a:latin typeface="Aptos"/>
              </a:defRPr>
            </a:pPr>
            <a:r>
              <a:t>Break-even:  round time / expected committed tokens  &lt;  ordinary time / token</a:t>
            </a:r>
          </a:p>
        </p:txBody>
      </p:sp>
      <p:sp>
        <p:nvSpPr>
          <p:cNvPr id="26" name="Rounded Rectangle 2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Availability does not guarantee acceleration: acceptance, draft cost, verification and load set the payoff.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 / FROM DESIGN TO HYPOTHESES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An architectural saving must survive the whole request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Analytical lens: phase-local improvements compete with input work, state, communication and scheduling.</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BCD0DF"/>
                </a:solidFill>
                <a:latin typeface="Aptos"/>
              </a:defRPr>
            </a:pPr>
            <a:r>
              <a:t>Illustrative Amdahl calculation, not a measured time breakdown. No dense control or local operator attribution is available.</a:t>
            </a:r>
          </a:p>
        </p:txBody>
      </p:sp>
      <p:cxnSp>
        <p:nvCxnSpPr>
          <p:cNvPr id="7" name="Connector 6"/>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§2 analytical framework; §8 proposed experiments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07</a:t>
            </a:r>
          </a:p>
        </p:txBody>
      </p:sp>
      <p:sp>
        <p:nvSpPr>
          <p:cNvPr id="10" name="TextBox 9"/>
          <p:cNvSpPr txBox="1"/>
          <p:nvPr/>
        </p:nvSpPr>
        <p:spPr>
          <a:xfrm>
            <a:off x="640080" y="2350008"/>
            <a:ext cx="6583680" cy="1005840"/>
          </a:xfrm>
          <a:prstGeom prst="rect">
            <a:avLst/>
          </a:prstGeom>
          <a:noFill/>
        </p:spPr>
        <p:txBody>
          <a:bodyPr wrap="square" lIns="0" rIns="0" tIns="0" bIns="0">
            <a:spAutoFit/>
          </a:bodyPr>
          <a:lstStyle/>
          <a:p>
            <a:pPr>
              <a:spcAft>
                <a:spcPts val="500"/>
              </a:spcAft>
              <a:defRPr sz="2800" b="1">
                <a:solidFill>
                  <a:srgbClr val="FFFFFF"/>
                </a:solidFill>
                <a:latin typeface="Aptos"/>
              </a:defRPr>
            </a:pPr>
            <a:r>
              <a:t>If attention is 30% of runtime,</a:t>
            </a:r>
          </a:p>
          <a:p>
            <a:pPr>
              <a:spcAft>
                <a:spcPts val="500"/>
              </a:spcAft>
              <a:defRPr sz="2800" b="1">
                <a:solidFill>
                  <a:srgbClr val="FFFFFF"/>
                </a:solidFill>
                <a:latin typeface="Aptos"/>
              </a:defRPr>
            </a:pPr>
            <a:r>
              <a:t>a 10× attention speedup gives…</a:t>
            </a:r>
          </a:p>
        </p:txBody>
      </p:sp>
      <p:sp>
        <p:nvSpPr>
          <p:cNvPr id="11" name="TextBox 10"/>
          <p:cNvSpPr txBox="1"/>
          <p:nvPr/>
        </p:nvSpPr>
        <p:spPr>
          <a:xfrm>
            <a:off x="667512" y="3630168"/>
            <a:ext cx="6720840" cy="594360"/>
          </a:xfrm>
          <a:prstGeom prst="rect">
            <a:avLst/>
          </a:prstGeom>
          <a:noFill/>
        </p:spPr>
        <p:txBody>
          <a:bodyPr wrap="square" lIns="0" rIns="0" tIns="0" bIns="0">
            <a:spAutoFit/>
          </a:bodyPr>
          <a:lstStyle/>
          <a:p>
            <a:pPr>
              <a:spcAft>
                <a:spcPts val="500"/>
              </a:spcAft>
              <a:defRPr sz="2700" b="1">
                <a:solidFill>
                  <a:srgbClr val="91D9C9"/>
                </a:solidFill>
                <a:latin typeface="Aptos"/>
              </a:defRPr>
            </a:pPr>
            <a:r>
              <a:t>1 / (0.70 + 0.30 / 10) = 1.37×</a:t>
            </a:r>
          </a:p>
        </p:txBody>
      </p:sp>
      <p:sp>
        <p:nvSpPr>
          <p:cNvPr id="12" name="Rounded Rectangle 11"/>
          <p:cNvSpPr/>
          <p:nvPr/>
        </p:nvSpPr>
        <p:spPr>
          <a:xfrm>
            <a:off x="7818120" y="2276856"/>
            <a:ext cx="3749039" cy="2816352"/>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836408" y="2414016"/>
            <a:ext cx="0" cy="254203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01000" y="2441448"/>
            <a:ext cx="3383279"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TESTABLE PREDICTIONS</a:t>
            </a:r>
          </a:p>
        </p:txBody>
      </p:sp>
      <p:sp>
        <p:nvSpPr>
          <p:cNvPr id="15" name="TextBox 14"/>
          <p:cNvSpPr txBox="1"/>
          <p:nvPr/>
        </p:nvSpPr>
        <p:spPr>
          <a:xfrm>
            <a:off x="8001000" y="2898648"/>
            <a:ext cx="3383279"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Measure what moved</a:t>
            </a:r>
          </a:p>
        </p:txBody>
      </p:sp>
      <p:sp>
        <p:nvSpPr>
          <p:cNvPr id="16" name="TextBox 15"/>
          <p:cNvSpPr txBox="1"/>
          <p:nvPr/>
        </p:nvSpPr>
        <p:spPr>
          <a:xfrm>
            <a:off x="8001000" y="3694176"/>
            <a:ext cx="3383279" cy="1289304"/>
          </a:xfrm>
          <a:prstGeom prst="rect">
            <a:avLst/>
          </a:prstGeom>
          <a:noFill/>
        </p:spPr>
        <p:txBody>
          <a:bodyPr wrap="square" lIns="0" rIns="0" tIns="0" bIns="0">
            <a:spAutoFit/>
          </a:bodyPr>
          <a:lstStyle/>
          <a:p>
            <a:pPr>
              <a:spcAft>
                <a:spcPts val="500"/>
              </a:spcAft>
              <a:defRPr sz="1600" b="0">
                <a:solidFill>
                  <a:srgbClr val="C4D1DE"/>
                </a:solidFill>
                <a:latin typeface="Aptos"/>
              </a:defRPr>
            </a:pPr>
            <a:r>
              <a:t>Sparse state → context scaling</a:t>
            </a:r>
          </a:p>
          <a:p>
            <a:pPr>
              <a:spcAft>
                <a:spcPts val="500"/>
              </a:spcAft>
              <a:defRPr sz="1600" b="0">
                <a:solidFill>
                  <a:srgbClr val="C4D1DE"/>
                </a:solidFill>
                <a:latin typeface="Aptos"/>
              </a:defRPr>
            </a:pPr>
            <a:r>
              <a:t>MoE → load / communication</a:t>
            </a:r>
          </a:p>
          <a:p>
            <a:pPr>
              <a:spcAft>
                <a:spcPts val="500"/>
              </a:spcAft>
              <a:defRPr sz="1600" b="0">
                <a:solidFill>
                  <a:srgbClr val="C4D1DE"/>
                </a:solidFill>
                <a:latin typeface="Aptos"/>
              </a:defRPr>
            </a:pPr>
            <a:r>
              <a:t>MTP → accepted progress / round</a:t>
            </a:r>
          </a:p>
          <a:p>
            <a:pPr>
              <a:spcAft>
                <a:spcPts val="500"/>
              </a:spcAft>
              <a:defRPr sz="1600" b="0">
                <a:solidFill>
                  <a:srgbClr val="C4D1DE"/>
                </a:solidFill>
                <a:latin typeface="Aptos"/>
              </a:defRPr>
            </a:pPr>
            <a:r>
              <a:t>Pool sizing → capacity / preemption</a:t>
            </a:r>
          </a:p>
        </p:txBody>
      </p:sp>
      <p:sp>
        <p:nvSpPr>
          <p:cNvPr id="17" name="Rounded Rectangle 16"/>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Part II tests the operating regimes; a causal speedup claim still needs a matched intervention.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EXPERIMENTAL DESIGN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fixed GPU budget; three workload axes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8 × H100 80GB · TP8 + expert parallelism · 256 output tokens · synthetic text prompts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Mostly one retained run per point. GPU class/count match; builds, backends and some startup pools differ.</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bench.sh; experiments.md; report.md §1</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08</a:t>
            </a:r>
          </a:p>
        </p:txBody>
      </p:sp>
      <p:sp>
        <p:nvSpPr>
          <p:cNvPr id="10" name="Rounded Rectangle 9"/>
          <p:cNvSpPr/>
          <p:nvPr/>
        </p:nvSpPr>
        <p:spPr>
          <a:xfrm>
            <a:off x="548640"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395728"/>
            <a:ext cx="0" cy="219456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23160"/>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BATCH</a:t>
            </a:r>
          </a:p>
        </p:txBody>
      </p:sp>
      <p:sp>
        <p:nvSpPr>
          <p:cNvPr id="13" name="TextBox 12"/>
          <p:cNvSpPr txBox="1"/>
          <p:nvPr/>
        </p:nvSpPr>
        <p:spPr>
          <a:xfrm>
            <a:off x="731520"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input</a:t>
            </a:r>
          </a:p>
        </p:txBody>
      </p:sp>
      <p:sp>
        <p:nvSpPr>
          <p:cNvPr id="14" name="TextBox 13"/>
          <p:cNvSpPr txBox="1"/>
          <p:nvPr/>
        </p:nvSpPr>
        <p:spPr>
          <a:xfrm>
            <a:off x="731520"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1, 4, 16, 64</a:t>
            </a:r>
          </a:p>
          <a:p>
            <a:pPr>
              <a:spcAft>
                <a:spcPts val="500"/>
              </a:spcAft>
              <a:defRPr sz="1600" b="0">
                <a:solidFill>
                  <a:srgbClr val="586A7C"/>
                </a:solidFill>
                <a:latin typeface="Aptos"/>
              </a:defRPr>
            </a:pPr>
            <a:r>
              <a:t>8, 8, 32, 128 requests</a:t>
            </a:r>
          </a:p>
        </p:txBody>
      </p:sp>
      <p:sp>
        <p:nvSpPr>
          <p:cNvPr id="15" name="Rounded Rectangle 14"/>
          <p:cNvSpPr/>
          <p:nvPr/>
        </p:nvSpPr>
        <p:spPr>
          <a:xfrm>
            <a:off x="4315968"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395728"/>
            <a:ext cx="0" cy="219456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23160"/>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CONTEXT</a:t>
            </a:r>
          </a:p>
        </p:txBody>
      </p:sp>
      <p:sp>
        <p:nvSpPr>
          <p:cNvPr id="18" name="TextBox 17"/>
          <p:cNvSpPr txBox="1"/>
          <p:nvPr/>
        </p:nvSpPr>
        <p:spPr>
          <a:xfrm>
            <a:off x="4498848"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 260K input</a:t>
            </a:r>
          </a:p>
        </p:txBody>
      </p:sp>
      <p:sp>
        <p:nvSpPr>
          <p:cNvPr id="19" name="TextBox 18"/>
          <p:cNvSpPr txBox="1"/>
          <p:nvPr/>
        </p:nvSpPr>
        <p:spPr>
          <a:xfrm>
            <a:off x="4498848"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8</a:t>
            </a:r>
          </a:p>
          <a:p>
            <a:pPr>
              <a:spcAft>
                <a:spcPts val="500"/>
              </a:spcAft>
              <a:defRPr sz="1600" b="0">
                <a:solidFill>
                  <a:srgbClr val="586A7C"/>
                </a:solidFill>
                <a:latin typeface="Aptos"/>
              </a:defRPr>
            </a:pPr>
            <a:r>
              <a:t>16 requests per point</a:t>
            </a:r>
          </a:p>
        </p:txBody>
      </p:sp>
      <p:sp>
        <p:nvSpPr>
          <p:cNvPr id="20" name="Rounded Rectangle 19"/>
          <p:cNvSpPr/>
          <p:nvPr/>
        </p:nvSpPr>
        <p:spPr>
          <a:xfrm>
            <a:off x="8083296"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395728"/>
            <a:ext cx="0" cy="219456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23160"/>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PREFIX</a:t>
            </a:r>
          </a:p>
        </p:txBody>
      </p:sp>
      <p:sp>
        <p:nvSpPr>
          <p:cNvPr id="23" name="TextBox 22"/>
          <p:cNvSpPr txBox="1"/>
          <p:nvPr/>
        </p:nvSpPr>
        <p:spPr>
          <a:xfrm>
            <a:off x="8266175"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64K shared + 2K suffix</a:t>
            </a:r>
          </a:p>
        </p:txBody>
      </p:sp>
      <p:sp>
        <p:nvSpPr>
          <p:cNvPr id="24" name="TextBox 23"/>
          <p:cNvSpPr txBox="1"/>
          <p:nvPr/>
        </p:nvSpPr>
        <p:spPr>
          <a:xfrm>
            <a:off x="8266175"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1, 4, 16 distinct prefixes</a:t>
            </a:r>
          </a:p>
          <a:p>
            <a:pPr>
              <a:spcAft>
                <a:spcPts val="500"/>
              </a:spcAft>
              <a:defRPr sz="1600" b="0">
                <a:solidFill>
                  <a:srgbClr val="586A7C"/>
                </a:solidFill>
                <a:latin typeface="Aptos"/>
              </a:defRPr>
            </a:pPr>
            <a:r>
              <a:t>c = 8 · 64 requests</a:t>
            </a:r>
          </a:p>
        </p:txBody>
      </p:sp>
      <p:sp>
        <p:nvSpPr>
          <p:cNvPr id="25" name="TextBox 24"/>
          <p:cNvSpPr txBox="1"/>
          <p:nvPr/>
        </p:nvSpPr>
        <p:spPr>
          <a:xfrm>
            <a:off x="594360" y="4919472"/>
            <a:ext cx="1645920" cy="228600"/>
          </a:xfrm>
          <a:prstGeom prst="rect">
            <a:avLst/>
          </a:prstGeom>
          <a:noFill/>
        </p:spPr>
        <p:txBody>
          <a:bodyPr wrap="square" lIns="0" rIns="0" tIns="0" bIns="0">
            <a:spAutoFit/>
          </a:bodyPr>
          <a:lstStyle/>
          <a:p>
            <a:pPr>
              <a:spcAft>
                <a:spcPts val="500"/>
              </a:spcAft>
              <a:defRPr sz="1100" b="1">
                <a:solidFill>
                  <a:srgbClr val="BB571E"/>
                </a:solidFill>
                <a:latin typeface="Aptos"/>
              </a:defRPr>
            </a:pPr>
            <a:r>
              <a:t>ARM BOUNDARY</a:t>
            </a:r>
          </a:p>
        </p:txBody>
      </p:sp>
      <p:sp>
        <p:nvSpPr>
          <p:cNvPr id="26" name="TextBox 25"/>
          <p:cNvSpPr txBox="1"/>
          <p:nvPr/>
        </p:nvSpPr>
        <p:spPr>
          <a:xfrm>
            <a:off x="2231136" y="4864608"/>
            <a:ext cx="9235440" cy="365760"/>
          </a:xfrm>
          <a:prstGeom prst="rect">
            <a:avLst/>
          </a:prstGeom>
          <a:noFill/>
        </p:spPr>
        <p:txBody>
          <a:bodyPr wrap="square" lIns="0" rIns="0" tIns="0" bIns="0">
            <a:spAutoFit/>
          </a:bodyPr>
          <a:lstStyle/>
          <a:p>
            <a:pPr>
              <a:spcAft>
                <a:spcPts val="500"/>
              </a:spcAft>
              <a:defRPr sz="1700" b="1">
                <a:solidFill>
                  <a:srgbClr val="172C42"/>
                </a:solidFill>
                <a:latin typeface="Aptos"/>
              </a:defRPr>
            </a:pPr>
            <a:r>
              <a:t>Qwen batch: base-util082   |   Qwen context/prefix: earlier base pool</a:t>
            </a:r>
          </a:p>
        </p:txBody>
      </p:sp>
      <p:sp>
        <p:nvSpPr>
          <p:cNvPr id="27" name="Rounded Rectangle 26"/>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Concurrency caps client requests; output tok/s includes input work; TTFT includes queueing.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THROUGHPUT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Qwen leads the corrected 16K throughput grid</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Output tokens/s ↑ · 16,384 input / 256 output · MTP off</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Deployment comparison; quality unmeasured. Lines connect measured concurrency categories, not evenly spaced numeric intervals.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main batch JSONs — Qwen base-util082; GLM bf16kv; DeepSeek mtp-off-image</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09</a:t>
            </a:r>
          </a:p>
        </p:txBody>
      </p:sp>
      <p:graphicFrame>
        <p:nvGraphicFramePr>
          <p:cNvPr id="10" name="Chart 9"/>
          <p:cNvGraphicFramePr>
            <a:graphicFrameLocks noGrp="1"/>
          </p:cNvGraphicFramePr>
          <p:nvPr/>
        </p:nvGraphicFramePr>
        <p:xfrm>
          <a:off x="502920" y="2194560"/>
          <a:ext cx="7772400" cy="2990088"/>
        </p:xfrm>
        <a:graphic>
          <a:graphicData uri="http://schemas.openxmlformats.org/drawingml/2006/chart">
            <c:chart xmlns:c="http://schemas.openxmlformats.org/drawingml/2006/chart" r:id="rId3"/>
          </a:graphicData>
        </a:graphic>
      </p:graphicFrame>
      <p:sp>
        <p:nvSpPr>
          <p:cNvPr id="11" name="TextBox 10"/>
          <p:cNvSpPr txBox="1"/>
          <p:nvPr/>
        </p:nvSpPr>
        <p:spPr>
          <a:xfrm>
            <a:off x="2743200" y="5138928"/>
            <a:ext cx="36576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Client concurrency cap</a:t>
            </a:r>
          </a:p>
        </p:txBody>
      </p:sp>
      <p:sp>
        <p:nvSpPr>
          <p:cNvPr id="12" name="Rounded Rectangle 11"/>
          <p:cNvSpPr/>
          <p:nvPr/>
        </p:nvSpPr>
        <p:spPr>
          <a:xfrm>
            <a:off x="8558784" y="2322576"/>
            <a:ext cx="3017520" cy="27157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8577072" y="2459736"/>
            <a:ext cx="0" cy="2441447"/>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741663" y="2487168"/>
            <a:ext cx="2651760"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AT CONCURRENCY 64</a:t>
            </a:r>
          </a:p>
        </p:txBody>
      </p:sp>
      <p:sp>
        <p:nvSpPr>
          <p:cNvPr id="15" name="TextBox 14"/>
          <p:cNvSpPr txBox="1"/>
          <p:nvPr/>
        </p:nvSpPr>
        <p:spPr>
          <a:xfrm>
            <a:off x="8741663" y="2944368"/>
            <a:ext cx="2651760"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517.7 tok/s</a:t>
            </a:r>
          </a:p>
        </p:txBody>
      </p:sp>
      <p:sp>
        <p:nvSpPr>
          <p:cNvPr id="16" name="TextBox 15"/>
          <p:cNvSpPr txBox="1"/>
          <p:nvPr/>
        </p:nvSpPr>
        <p:spPr>
          <a:xfrm>
            <a:off x="8741663" y="3739896"/>
            <a:ext cx="2651760" cy="1188720"/>
          </a:xfrm>
          <a:prstGeom prst="rect">
            <a:avLst/>
          </a:prstGeom>
          <a:noFill/>
        </p:spPr>
        <p:txBody>
          <a:bodyPr wrap="square" lIns="0" rIns="0" tIns="0" bIns="0">
            <a:spAutoFit/>
          </a:bodyPr>
          <a:lstStyle/>
          <a:p>
            <a:pPr>
              <a:spcAft>
                <a:spcPts val="500"/>
              </a:spcAft>
              <a:defRPr sz="1600" b="0">
                <a:solidFill>
                  <a:srgbClr val="586A7C"/>
                </a:solidFill>
                <a:latin typeface="Aptos"/>
              </a:defRPr>
            </a:pPr>
            <a:r>
              <a:t>Qwen / GLM       1.16×</a:t>
            </a:r>
          </a:p>
          <a:p>
            <a:pPr>
              <a:spcAft>
                <a:spcPts val="500"/>
              </a:spcAft>
              <a:defRPr sz="1600" b="0">
                <a:solidFill>
                  <a:srgbClr val="586A7C"/>
                </a:solidFill>
                <a:latin typeface="Aptos"/>
              </a:defRPr>
            </a:pPr>
            <a:r>
              <a:t>Qwen / DeepSeek 1.33×</a:t>
            </a:r>
          </a:p>
          <a:p>
            <a:pPr>
              <a:spcAft>
                <a:spcPts val="500"/>
              </a:spcAft>
              <a:defRPr sz="1600" b="0">
                <a:solidFill>
                  <a:srgbClr val="586A7C"/>
                </a:solidFill>
                <a:latin typeface="Aptos"/>
              </a:defRPr>
            </a:pPr>
          </a:p>
          <a:p>
            <a:pPr>
              <a:spcAft>
                <a:spcPts val="500"/>
              </a:spcAft>
              <a:defRPr sz="1600" b="0">
                <a:solidFill>
                  <a:srgbClr val="586A7C"/>
                </a:solidFill>
                <a:latin typeface="Aptos"/>
              </a:defRPr>
            </a:pPr>
            <a:r>
              <a:t>Observed throughput lead</a:t>
            </a:r>
          </a:p>
        </p:txBody>
      </p:sp>
      <p:sp>
        <p:nvSpPr>
          <p:cNvPr id="17" name="Rounded Rectangle 16"/>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64× more concurrency yields only 4.6–4.9× more output throughput.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OPERATING POINT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All three buy throughput with higher token latency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Median time per output token, milliseconds ↓ · same 16K batch arms as the preceding slide</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Median TPOT describes output spacing, not first-token latency or an SLO pass rate. Concurrency positions are categories.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main batch JSONs — DeepSeek mtp-off-image; GLM bf16kv; Qwen base-util082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10</a:t>
            </a:r>
          </a:p>
        </p:txBody>
      </p:sp>
      <p:graphicFrame>
        <p:nvGraphicFramePr>
          <p:cNvPr id="10" name="Chart 9"/>
          <p:cNvGraphicFramePr>
            <a:graphicFrameLocks noGrp="1"/>
          </p:cNvGraphicFramePr>
          <p:nvPr/>
        </p:nvGraphicFramePr>
        <p:xfrm>
          <a:off x="502920" y="2221992"/>
          <a:ext cx="7680960" cy="2962656"/>
        </p:xfrm>
        <a:graphic>
          <a:graphicData uri="http://schemas.openxmlformats.org/drawingml/2006/chart">
            <c:chart xmlns:c="http://schemas.openxmlformats.org/drawingml/2006/chart" r:id="rId3"/>
          </a:graphicData>
        </a:graphic>
      </p:graphicFrame>
      <p:sp>
        <p:nvSpPr>
          <p:cNvPr id="11" name="TextBox 10"/>
          <p:cNvSpPr txBox="1"/>
          <p:nvPr/>
        </p:nvSpPr>
        <p:spPr>
          <a:xfrm>
            <a:off x="8321040" y="2295144"/>
            <a:ext cx="3200400" cy="365760"/>
          </a:xfrm>
          <a:prstGeom prst="rect">
            <a:avLst/>
          </a:prstGeom>
          <a:noFill/>
        </p:spPr>
        <p:txBody>
          <a:bodyPr wrap="square" lIns="0" rIns="0" tIns="0" bIns="0">
            <a:spAutoFit/>
          </a:bodyPr>
          <a:lstStyle/>
          <a:p>
            <a:pPr>
              <a:spcAft>
                <a:spcPts val="500"/>
              </a:spcAft>
              <a:defRPr sz="2100" b="1">
                <a:solidFill>
                  <a:srgbClr val="172C42"/>
                </a:solidFill>
                <a:latin typeface="Aptos"/>
              </a:defRPr>
            </a:pPr>
            <a:r>
              <a:t>c1 → c64 growth</a:t>
            </a:r>
          </a:p>
        </p:txBody>
      </p:sp>
      <p:sp>
        <p:nvSpPr>
          <p:cNvPr id="12" name="TextBox 11"/>
          <p:cNvSpPr txBox="1"/>
          <p:nvPr/>
        </p:nvSpPr>
        <p:spPr>
          <a:xfrm>
            <a:off x="8321040" y="2752344"/>
            <a:ext cx="3200400" cy="274320"/>
          </a:xfrm>
          <a:prstGeom prst="rect">
            <a:avLst/>
          </a:prstGeom>
          <a:noFill/>
        </p:spPr>
        <p:txBody>
          <a:bodyPr wrap="square" lIns="0" rIns="0" tIns="0" bIns="0">
            <a:spAutoFit/>
          </a:bodyPr>
          <a:lstStyle/>
          <a:p>
            <a:pPr>
              <a:spcAft>
                <a:spcPts val="500"/>
              </a:spcAft>
              <a:defRPr sz="1300" b="0">
                <a:solidFill>
                  <a:srgbClr val="586A7C"/>
                </a:solidFill>
                <a:latin typeface="Aptos"/>
              </a:defRPr>
            </a:pPr>
            <a:r>
              <a:t>Output rate / median TPOT</a:t>
            </a:r>
          </a:p>
        </p:txBody>
      </p:sp>
      <p:sp>
        <p:nvSpPr>
          <p:cNvPr id="13" name="TextBox 12"/>
          <p:cNvSpPr txBox="1"/>
          <p:nvPr/>
        </p:nvSpPr>
        <p:spPr>
          <a:xfrm>
            <a:off x="8321040" y="3172968"/>
            <a:ext cx="1115568" cy="274320"/>
          </a:xfrm>
          <a:prstGeom prst="rect">
            <a:avLst/>
          </a:prstGeom>
          <a:noFill/>
        </p:spPr>
        <p:txBody>
          <a:bodyPr wrap="square" lIns="0" rIns="0" tIns="0" bIns="0">
            <a:spAutoFit/>
          </a:bodyPr>
          <a:lstStyle/>
          <a:p>
            <a:pPr>
              <a:spcAft>
                <a:spcPts val="500"/>
              </a:spcAft>
              <a:defRPr sz="1400" b="1">
                <a:solidFill>
                  <a:srgbClr val="BB571E"/>
                </a:solidFill>
                <a:latin typeface="Aptos"/>
              </a:defRPr>
            </a:pPr>
            <a:r>
              <a:t>DeepSeek</a:t>
            </a:r>
          </a:p>
        </p:txBody>
      </p:sp>
      <p:sp>
        <p:nvSpPr>
          <p:cNvPr id="14" name="TextBox 13"/>
          <p:cNvSpPr txBox="1"/>
          <p:nvPr/>
        </p:nvSpPr>
        <p:spPr>
          <a:xfrm>
            <a:off x="9473184" y="3172968"/>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4.58× / 18.70×</a:t>
            </a:r>
          </a:p>
        </p:txBody>
      </p:sp>
      <p:sp>
        <p:nvSpPr>
          <p:cNvPr id="15" name="TextBox 14"/>
          <p:cNvSpPr txBox="1"/>
          <p:nvPr/>
        </p:nvSpPr>
        <p:spPr>
          <a:xfrm>
            <a:off x="8321040" y="3785616"/>
            <a:ext cx="1115568" cy="274320"/>
          </a:xfrm>
          <a:prstGeom prst="rect">
            <a:avLst/>
          </a:prstGeom>
          <a:noFill/>
        </p:spPr>
        <p:txBody>
          <a:bodyPr wrap="square" lIns="0" rIns="0" tIns="0" bIns="0">
            <a:spAutoFit/>
          </a:bodyPr>
          <a:lstStyle/>
          <a:p>
            <a:pPr>
              <a:spcAft>
                <a:spcPts val="500"/>
              </a:spcAft>
              <a:defRPr sz="1400" b="1">
                <a:solidFill>
                  <a:srgbClr val="7251B5"/>
                </a:solidFill>
                <a:latin typeface="Aptos"/>
              </a:defRPr>
            </a:pPr>
            <a:r>
              <a:t>GLM</a:t>
            </a:r>
          </a:p>
        </p:txBody>
      </p:sp>
      <p:sp>
        <p:nvSpPr>
          <p:cNvPr id="16" name="TextBox 15"/>
          <p:cNvSpPr txBox="1"/>
          <p:nvPr/>
        </p:nvSpPr>
        <p:spPr>
          <a:xfrm>
            <a:off x="9473184" y="3785616"/>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4.64× / 18.36×</a:t>
            </a:r>
          </a:p>
        </p:txBody>
      </p:sp>
      <p:sp>
        <p:nvSpPr>
          <p:cNvPr id="17" name="TextBox 16"/>
          <p:cNvSpPr txBox="1"/>
          <p:nvPr/>
        </p:nvSpPr>
        <p:spPr>
          <a:xfrm>
            <a:off x="8321040" y="4398264"/>
            <a:ext cx="1115568" cy="274320"/>
          </a:xfrm>
          <a:prstGeom prst="rect">
            <a:avLst/>
          </a:prstGeom>
          <a:noFill/>
        </p:spPr>
        <p:txBody>
          <a:bodyPr wrap="square" lIns="0" rIns="0" tIns="0" bIns="0">
            <a:spAutoFit/>
          </a:bodyPr>
          <a:lstStyle/>
          <a:p>
            <a:pPr>
              <a:spcAft>
                <a:spcPts val="500"/>
              </a:spcAft>
              <a:defRPr sz="1400" b="1">
                <a:solidFill>
                  <a:srgbClr val="007F78"/>
                </a:solidFill>
                <a:latin typeface="Aptos"/>
              </a:defRPr>
            </a:pPr>
            <a:r>
              <a:t>Qwen</a:t>
            </a:r>
          </a:p>
        </p:txBody>
      </p:sp>
      <p:sp>
        <p:nvSpPr>
          <p:cNvPr id="18" name="TextBox 17"/>
          <p:cNvSpPr txBox="1"/>
          <p:nvPr/>
        </p:nvSpPr>
        <p:spPr>
          <a:xfrm>
            <a:off x="9473184" y="4398264"/>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4.87× / 15.79×</a:t>
            </a:r>
          </a:p>
        </p:txBody>
      </p:sp>
      <p:sp>
        <p:nvSpPr>
          <p:cNvPr id="19" name="TextBox 18"/>
          <p:cNvSpPr txBox="1"/>
          <p:nvPr/>
        </p:nvSpPr>
        <p:spPr>
          <a:xfrm>
            <a:off x="2743200" y="5138928"/>
            <a:ext cx="36576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Client concurrency cap</a:t>
            </a:r>
          </a:p>
        </p:txBody>
      </p:sp>
      <p:sp>
        <p:nvSpPr>
          <p:cNvPr id="20" name="Rounded Rectangle 1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Read throughput and latency together: less than 5× more output, about 16–19× more token latency.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CONTEXT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Long input changes which metric wins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131,072 input / 256 output · c8 · 16 requests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Qwen uses the earlier smaller pool. Rerun matched startup before interpreting long-context capacity as architectural.</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ctx_isl131072_c8.json — GLM bf16kv; DeepSeek mtp-off-image; Qwen base</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11</a:t>
            </a:r>
          </a:p>
        </p:txBody>
      </p:sp>
      <p:sp>
        <p:nvSpPr>
          <p:cNvPr id="10" name="TextBox 9"/>
          <p:cNvSpPr txBox="1"/>
          <p:nvPr/>
        </p:nvSpPr>
        <p:spPr>
          <a:xfrm>
            <a:off x="640080"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48640" y="2761488"/>
          <a:ext cx="54406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Median first-token latency, seconds ↓</a:t>
            </a:r>
          </a:p>
        </p:txBody>
      </p:sp>
      <p:graphicFrame>
        <p:nvGraphicFramePr>
          <p:cNvPr id="13" name="Chart 12"/>
          <p:cNvGraphicFramePr>
            <a:graphicFrameLocks noGrp="1"/>
          </p:cNvGraphicFramePr>
          <p:nvPr/>
        </p:nvGraphicFramePr>
        <p:xfrm>
          <a:off x="6236207" y="2761488"/>
          <a:ext cx="5440680" cy="2359152"/>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Qwen has the highest observed output rate; GLM has the lowest observed median TTFT.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02 / PREFIX CACHING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The best sharing pattern differs across models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64 requests · 64K shared + 2K unique · c8 · prefix caching enabled throughout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Sharing patterns, not cache-on/off speedups. Qwen retains the earlier smaller pool; mechanisms remain hypotheses.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DeepSeek mtp-off-image; GLM bf16kv; Qwen base prefix_p64k_n*.json; report.md §4</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12</a:t>
            </a:r>
          </a:p>
        </p:txBody>
      </p:sp>
      <p:sp>
        <p:nvSpPr>
          <p:cNvPr id="10" name="TextBox 9"/>
          <p:cNvSpPr txBox="1"/>
          <p:nvPr/>
        </p:nvSpPr>
        <p:spPr>
          <a:xfrm>
            <a:off x="640080" y="2221992"/>
            <a:ext cx="5486400" cy="320040"/>
          </a:xfrm>
          <a:prstGeom prst="rect">
            <a:avLst/>
          </a:prstGeom>
          <a:noFill/>
        </p:spPr>
        <p:txBody>
          <a:bodyPr wrap="square" lIns="0" rIns="0" tIns="0" bIns="0">
            <a:spAutoFit/>
          </a:bodyPr>
          <a:lstStyle/>
          <a:p>
            <a:pPr>
              <a:spcAft>
                <a:spcPts val="500"/>
              </a:spcAft>
              <a:defRPr sz="18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02920" y="2651760"/>
          <a:ext cx="5806440" cy="2487168"/>
        </p:xfrm>
        <a:graphic>
          <a:graphicData uri="http://schemas.openxmlformats.org/drawingml/2006/chart">
            <c:chart xmlns:c="http://schemas.openxmlformats.org/drawingml/2006/chart" r:id="rId3"/>
          </a:graphicData>
        </a:graphic>
      </p:graphicFrame>
      <p:sp>
        <p:nvSpPr>
          <p:cNvPr id="12" name="TextBox 11"/>
          <p:cNvSpPr txBox="1"/>
          <p:nvPr/>
        </p:nvSpPr>
        <p:spPr>
          <a:xfrm>
            <a:off x="1645920" y="5148072"/>
            <a:ext cx="438912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Distinct shared prefixes (categories)</a:t>
            </a:r>
          </a:p>
        </p:txBody>
      </p:sp>
      <p:sp>
        <p:nvSpPr>
          <p:cNvPr id="13" name="Rounded Rectangle 12"/>
          <p:cNvSpPr/>
          <p:nvPr/>
        </p:nvSpPr>
        <p:spPr>
          <a:xfrm>
            <a:off x="6656832" y="2295144"/>
            <a:ext cx="4892040" cy="2834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2496312"/>
            <a:ext cx="4498848" cy="384048"/>
          </a:xfrm>
          <a:prstGeom prst="rect">
            <a:avLst/>
          </a:prstGeom>
          <a:noFill/>
        </p:spPr>
        <p:txBody>
          <a:bodyPr wrap="square" lIns="0" rIns="0" tIns="0" bIns="0">
            <a:spAutoFit/>
          </a:bodyPr>
          <a:lstStyle/>
          <a:p>
            <a:pPr>
              <a:spcAft>
                <a:spcPts val="500"/>
              </a:spcAft>
              <a:defRPr sz="2000" b="1">
                <a:solidFill>
                  <a:srgbClr val="172C42"/>
                </a:solidFill>
                <a:latin typeface="Aptos"/>
              </a:defRPr>
            </a:pPr>
            <a:r>
              <a:t>Restore the same prefix boundary</a:t>
            </a:r>
          </a:p>
        </p:txBody>
      </p:sp>
      <p:sp>
        <p:nvSpPr>
          <p:cNvPr id="15" name="Rounded Rectangle 14"/>
          <p:cNvSpPr/>
          <p:nvPr/>
        </p:nvSpPr>
        <p:spPr>
          <a:xfrm>
            <a:off x="6885432" y="3127248"/>
            <a:ext cx="4251960" cy="393192"/>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0" y="3191256"/>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Retained KV / compressed history</a:t>
            </a:r>
          </a:p>
        </p:txBody>
      </p:sp>
      <p:sp>
        <p:nvSpPr>
          <p:cNvPr id="17" name="Rounded Rectangle 16"/>
          <p:cNvSpPr/>
          <p:nvPr/>
        </p:nvSpPr>
        <p:spPr>
          <a:xfrm>
            <a:off x="6885432" y="3685032"/>
            <a:ext cx="4251960" cy="393192"/>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3749040"/>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Recurrent-state checkpoint</a:t>
            </a:r>
          </a:p>
        </p:txBody>
      </p:sp>
      <p:cxnSp>
        <p:nvCxnSpPr>
          <p:cNvPr id="19" name="Connector 18"/>
          <p:cNvCxnSpPr/>
          <p:nvPr/>
        </p:nvCxnSpPr>
        <p:spPr>
          <a:xfrm>
            <a:off x="10881360" y="2926080"/>
            <a:ext cx="0" cy="1325880"/>
          </a:xfrm>
          <a:prstGeom prst="line">
            <a:avLst/>
          </a:prstGeom>
          <a:ln w="254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67144" y="4407408"/>
            <a:ext cx="4343400" cy="521207"/>
          </a:xfrm>
          <a:prstGeom prst="rect">
            <a:avLst/>
          </a:prstGeom>
          <a:noFill/>
        </p:spPr>
        <p:txBody>
          <a:bodyPr wrap="square" lIns="0" rIns="0" tIns="0" bIns="0">
            <a:spAutoFit/>
          </a:bodyPr>
          <a:lstStyle/>
          <a:p>
            <a:pPr>
              <a:spcAft>
                <a:spcPts val="500"/>
              </a:spcAft>
              <a:defRPr sz="1600" b="0">
                <a:solidFill>
                  <a:srgbClr val="586A7C"/>
                </a:solidFill>
                <a:latin typeface="Aptos"/>
              </a:defRPr>
            </a:pPr>
            <a:r>
              <a:t>Then branch safely; copy or restore mutable state.</a:t>
            </a:r>
          </a:p>
        </p:txBody>
      </p:sp>
      <p:sp>
        <p:nvSpPr>
          <p:cNvPr id="21" name="Rounded Rectangle 20"/>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 and GLM peak at four prefixes; Qwen peaks at one in its qualified arm.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03 / MTP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Compare MTP within each model’s own baseline</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Output-throughput ratio: MTP ÷ paired base · 16K input / 256 output · identical axes, different control strength</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These are not an equally controlled three-model A/B. Do not substitute corrected Qwen batch or newer DeepSeek baselines.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§5; DeepSeek historical off/on-noreuse; GLM bf16kv/n1; Qwen original base/mtp-n1</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13</a:t>
            </a:r>
          </a:p>
        </p:txBody>
      </p:sp>
      <p:sp>
        <p:nvSpPr>
          <p:cNvPr id="10" name="TextBox 9"/>
          <p:cNvSpPr txBox="1"/>
          <p:nvPr/>
        </p:nvSpPr>
        <p:spPr>
          <a:xfrm>
            <a:off x="667512" y="2212848"/>
            <a:ext cx="3383280" cy="347472"/>
          </a:xfrm>
          <a:prstGeom prst="rect">
            <a:avLst/>
          </a:prstGeom>
          <a:noFill/>
        </p:spPr>
        <p:txBody>
          <a:bodyPr wrap="square" lIns="0" rIns="0" tIns="0" bIns="0">
            <a:spAutoFit/>
          </a:bodyPr>
          <a:lstStyle/>
          <a:p>
            <a:pPr>
              <a:spcAft>
                <a:spcPts val="500"/>
              </a:spcAft>
              <a:defRPr sz="2200" b="1">
                <a:solidFill>
                  <a:srgbClr val="BB571E"/>
                </a:solidFill>
                <a:latin typeface="Aptos"/>
              </a:defRPr>
            </a:pPr>
            <a:r>
              <a:t>DeepSeek</a:t>
            </a:r>
          </a:p>
        </p:txBody>
      </p:sp>
      <p:graphicFrame>
        <p:nvGraphicFramePr>
          <p:cNvPr id="11" name="Chart 10"/>
          <p:cNvGraphicFramePr>
            <a:graphicFrameLocks noGrp="1"/>
          </p:cNvGraphicFramePr>
          <p:nvPr/>
        </p:nvGraphicFramePr>
        <p:xfrm>
          <a:off x="502920" y="2724912"/>
          <a:ext cx="3675887" cy="2048256"/>
        </p:xfrm>
        <a:graphic>
          <a:graphicData uri="http://schemas.openxmlformats.org/drawingml/2006/chart">
            <c:chart xmlns:c="http://schemas.openxmlformats.org/drawingml/2006/chart" r:id="rId3"/>
          </a:graphicData>
        </a:graphic>
      </p:graphicFrame>
      <p:sp>
        <p:nvSpPr>
          <p:cNvPr id="12" name="TextBox 11"/>
          <p:cNvSpPr txBox="1"/>
          <p:nvPr/>
        </p:nvSpPr>
        <p:spPr>
          <a:xfrm>
            <a:off x="667512" y="4837176"/>
            <a:ext cx="3337560" cy="457200"/>
          </a:xfrm>
          <a:prstGeom prst="rect">
            <a:avLst/>
          </a:prstGeom>
          <a:noFill/>
        </p:spPr>
        <p:txBody>
          <a:bodyPr wrap="square" lIns="0" rIns="0" tIns="0" bIns="0">
            <a:spAutoFit/>
          </a:bodyPr>
          <a:lstStyle/>
          <a:p>
            <a:pPr>
              <a:spcAft>
                <a:spcPts val="500"/>
              </a:spcAft>
              <a:defRPr sz="1300" b="1">
                <a:solidFill>
                  <a:srgbClr val="586A7C"/>
                </a:solidFill>
                <a:latin typeface="Aptos"/>
              </a:defRPr>
            </a:pPr>
            <a:r>
              <a:t>Historical runtime;</a:t>
            </a:r>
          </a:p>
          <a:p>
            <a:pPr>
              <a:spcAft>
                <a:spcPts val="500"/>
              </a:spcAft>
              <a:defRPr sz="1300" b="1">
                <a:solidFill>
                  <a:srgbClr val="586A7C"/>
                </a:solidFill>
                <a:latin typeface="Aptos"/>
              </a:defRPr>
            </a:pPr>
            <a:r>
              <a:t>newer cold telemetry absent</a:t>
            </a:r>
          </a:p>
        </p:txBody>
      </p:sp>
      <p:sp>
        <p:nvSpPr>
          <p:cNvPr id="13" name="TextBox 12"/>
          <p:cNvSpPr txBox="1"/>
          <p:nvPr/>
        </p:nvSpPr>
        <p:spPr>
          <a:xfrm>
            <a:off x="4453127" y="2212848"/>
            <a:ext cx="3383280" cy="347472"/>
          </a:xfrm>
          <a:prstGeom prst="rect">
            <a:avLst/>
          </a:prstGeom>
          <a:noFill/>
        </p:spPr>
        <p:txBody>
          <a:bodyPr wrap="square" lIns="0" rIns="0" tIns="0" bIns="0">
            <a:spAutoFit/>
          </a:bodyPr>
          <a:lstStyle/>
          <a:p>
            <a:pPr>
              <a:spcAft>
                <a:spcPts val="500"/>
              </a:spcAft>
              <a:defRPr sz="2200" b="1">
                <a:solidFill>
                  <a:srgbClr val="7251B5"/>
                </a:solidFill>
                <a:latin typeface="Aptos"/>
              </a:defRPr>
            </a:pPr>
            <a:r>
              <a:t>GLM</a:t>
            </a:r>
          </a:p>
        </p:txBody>
      </p:sp>
      <p:graphicFrame>
        <p:nvGraphicFramePr>
          <p:cNvPr id="14" name="Chart 13"/>
          <p:cNvGraphicFramePr>
            <a:graphicFrameLocks noGrp="1"/>
          </p:cNvGraphicFramePr>
          <p:nvPr/>
        </p:nvGraphicFramePr>
        <p:xfrm>
          <a:off x="4288536" y="2724912"/>
          <a:ext cx="3675887" cy="2048256"/>
        </p:xfrm>
        <a:graphic>
          <a:graphicData uri="http://schemas.openxmlformats.org/drawingml/2006/chart">
            <c:chart xmlns:c="http://schemas.openxmlformats.org/drawingml/2006/chart" r:id="rId4"/>
          </a:graphicData>
        </a:graphic>
      </p:graphicFrame>
      <p:sp>
        <p:nvSpPr>
          <p:cNvPr id="15" name="TextBox 14"/>
          <p:cNvSpPr txBox="1"/>
          <p:nvPr/>
        </p:nvSpPr>
        <p:spPr>
          <a:xfrm>
            <a:off x="4453127" y="4837176"/>
            <a:ext cx="3337560" cy="457200"/>
          </a:xfrm>
          <a:prstGeom prst="rect">
            <a:avLst/>
          </a:prstGeom>
          <a:noFill/>
        </p:spPr>
        <p:txBody>
          <a:bodyPr wrap="square" lIns="0" rIns="0" tIns="0" bIns="0">
            <a:spAutoFit/>
          </a:bodyPr>
          <a:lstStyle/>
          <a:p>
            <a:pPr>
              <a:spcAft>
                <a:spcPts val="500"/>
              </a:spcAft>
              <a:defRPr sz="1300" b="1">
                <a:solidFill>
                  <a:srgbClr val="586A7C"/>
                </a:solidFill>
                <a:latin typeface="Aptos"/>
              </a:defRPr>
            </a:pPr>
            <a:r>
              <a:t>Strongest control;</a:t>
            </a:r>
          </a:p>
          <a:p>
            <a:pPr>
              <a:spcAft>
                <a:spcPts val="500"/>
              </a:spcAft>
              <a:defRPr sz="1300" b="1">
                <a:solidFill>
                  <a:srgbClr val="586A7C"/>
                </a:solidFill>
                <a:latin typeface="Aptos"/>
              </a:defRPr>
            </a:pPr>
            <a:r>
              <a:t>one draft token</a:t>
            </a:r>
          </a:p>
        </p:txBody>
      </p:sp>
      <p:sp>
        <p:nvSpPr>
          <p:cNvPr id="16" name="TextBox 15"/>
          <p:cNvSpPr txBox="1"/>
          <p:nvPr/>
        </p:nvSpPr>
        <p:spPr>
          <a:xfrm>
            <a:off x="8238744" y="2212848"/>
            <a:ext cx="3383280" cy="347472"/>
          </a:xfrm>
          <a:prstGeom prst="rect">
            <a:avLst/>
          </a:prstGeom>
          <a:noFill/>
        </p:spPr>
        <p:txBody>
          <a:bodyPr wrap="square" lIns="0" rIns="0" tIns="0" bIns="0">
            <a:spAutoFit/>
          </a:bodyPr>
          <a:lstStyle/>
          <a:p>
            <a:pPr>
              <a:spcAft>
                <a:spcPts val="500"/>
              </a:spcAft>
              <a:defRPr sz="2200" b="1">
                <a:solidFill>
                  <a:srgbClr val="007F78"/>
                </a:solidFill>
                <a:latin typeface="Aptos"/>
              </a:defRPr>
            </a:pPr>
            <a:r>
              <a:t>Qwen</a:t>
            </a:r>
          </a:p>
        </p:txBody>
      </p:sp>
      <p:graphicFrame>
        <p:nvGraphicFramePr>
          <p:cNvPr id="17" name="Chart 16"/>
          <p:cNvGraphicFramePr>
            <a:graphicFrameLocks noGrp="1"/>
          </p:cNvGraphicFramePr>
          <p:nvPr/>
        </p:nvGraphicFramePr>
        <p:xfrm>
          <a:off x="8074152" y="2724912"/>
          <a:ext cx="3675887" cy="2048256"/>
        </p:xfrm>
        <a:graphic>
          <a:graphicData uri="http://schemas.openxmlformats.org/drawingml/2006/chart">
            <c:chart xmlns:c="http://schemas.openxmlformats.org/drawingml/2006/chart" r:id="rId5"/>
          </a:graphicData>
        </a:graphic>
      </p:graphicFrame>
      <p:sp>
        <p:nvSpPr>
          <p:cNvPr id="18" name="TextBox 17"/>
          <p:cNvSpPr txBox="1"/>
          <p:nvPr/>
        </p:nvSpPr>
        <p:spPr>
          <a:xfrm>
            <a:off x="8238744" y="4837176"/>
            <a:ext cx="3337560" cy="457200"/>
          </a:xfrm>
          <a:prstGeom prst="rect">
            <a:avLst/>
          </a:prstGeom>
          <a:noFill/>
        </p:spPr>
        <p:txBody>
          <a:bodyPr wrap="square" lIns="0" rIns="0" tIns="0" bIns="0">
            <a:spAutoFit/>
          </a:bodyPr>
          <a:lstStyle/>
          <a:p>
            <a:pPr>
              <a:spcAft>
                <a:spcPts val="500"/>
              </a:spcAft>
              <a:defRPr sz="1300" b="1">
                <a:solidFill>
                  <a:srgbClr val="586A7C"/>
                </a:solidFill>
                <a:latin typeface="Aptos"/>
              </a:defRPr>
            </a:pPr>
            <a:r>
              <a:t>Pool/startup confounded;</a:t>
            </a:r>
          </a:p>
          <a:p>
            <a:pPr>
              <a:spcAft>
                <a:spcPts val="500"/>
              </a:spcAft>
              <a:defRPr sz="1300" b="1">
                <a:solidFill>
                  <a:srgbClr val="586A7C"/>
                </a:solidFill>
                <a:latin typeface="Aptos"/>
              </a:defRPr>
            </a:pPr>
            <a:r>
              <a:t>one draft token</a:t>
            </a:r>
          </a:p>
        </p:txBody>
      </p:sp>
      <p:sp>
        <p:nvSpPr>
          <p:cNvPr id="19" name="Rounded Rectangle 18"/>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Read each curve with its control status. GLM establishes the clearest load-dependent MTP tradeoff.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04 / ALLOCATION COST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Lower token cost is purchased with higher latency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Illustrative $2.50/GPU-hour × 8 GPUs = $20/node-hour · 16K input / 256 output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Includes input work. No quality adjustment, idle-time model, price quote or measured cost per successful task.</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exact main batch JSONs; report.md §6. Cost = 20 × 1,000,000 / (3,600 × tok/s)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14</a:t>
            </a:r>
          </a:p>
        </p:txBody>
      </p:sp>
      <p:sp>
        <p:nvSpPr>
          <p:cNvPr id="10" name="TextBox 9"/>
          <p:cNvSpPr txBox="1"/>
          <p:nvPr/>
        </p:nvSpPr>
        <p:spPr>
          <a:xfrm>
            <a:off x="640080" y="2231136"/>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c1: dollars / million output tokens ↓</a:t>
            </a:r>
          </a:p>
        </p:txBody>
      </p:sp>
      <p:graphicFrame>
        <p:nvGraphicFramePr>
          <p:cNvPr id="11" name="Chart 10"/>
          <p:cNvGraphicFramePr>
            <a:graphicFrameLocks noGrp="1"/>
          </p:cNvGraphicFramePr>
          <p:nvPr/>
        </p:nvGraphicFramePr>
        <p:xfrm>
          <a:off x="548640" y="2761488"/>
          <a:ext cx="54406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31136"/>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c64: dollars / million output tokens ↓</a:t>
            </a:r>
          </a:p>
        </p:txBody>
      </p:sp>
      <p:graphicFrame>
        <p:nvGraphicFramePr>
          <p:cNvPr id="13" name="Chart 12"/>
          <p:cNvGraphicFramePr>
            <a:graphicFrameLocks noGrp="1"/>
          </p:cNvGraphicFramePr>
          <p:nvPr/>
        </p:nvGraphicFramePr>
        <p:xfrm>
          <a:off x="6236207" y="2761488"/>
          <a:ext cx="5440680" cy="2359152"/>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GLM: $57.68 → $12.43 per million outputs, but median TPOT rises from 7.1 → 129.5 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DEBUGGING / BUG 12</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Startup state can impersonate an architecture effect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Qwen c4: 162.2 tok/s in the earlier arm → 256.8 tok/s in the corrected batch arm.</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Startup and utilization changed together. Preemption causality is unmeasured; the batch correction does not transfer to other axes.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Qwen base-util082/RESULT-util-ab.md, both c4 JSONs; fix_bug.md Bug 12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15</a:t>
            </a:r>
          </a:p>
        </p:txBody>
      </p:sp>
      <p:sp>
        <p:nvSpPr>
          <p:cNvPr id="10" name="Rounded Rectangle 9"/>
          <p:cNvSpPr/>
          <p:nvPr/>
        </p:nvSpPr>
        <p:spPr>
          <a:xfrm>
            <a:off x="548640"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40863"/>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STARTUP ACCOUNTING</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17.07 → 0.99 GiB</a:t>
            </a:r>
          </a:p>
        </p:txBody>
      </p:sp>
      <p:sp>
        <p:nvSpPr>
          <p:cNvPr id="14" name="TextBox 13"/>
          <p:cNvSpPr txBox="1"/>
          <p:nvPr/>
        </p:nvSpPr>
        <p:spPr>
          <a:xfrm>
            <a:off x="731520"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Recorded peak activation</a:t>
            </a:r>
          </a:p>
          <a:p>
            <a:pPr>
              <a:spcAft>
                <a:spcPts val="500"/>
              </a:spcAft>
              <a:defRPr sz="1600" b="0">
                <a:solidFill>
                  <a:srgbClr val="586A7C"/>
                </a:solidFill>
                <a:latin typeface="Aptos"/>
              </a:defRPr>
            </a:pPr>
            <a:r>
              <a:t>Cold → warm compile cache</a:t>
            </a:r>
          </a:p>
        </p:txBody>
      </p:sp>
      <p:sp>
        <p:nvSpPr>
          <p:cNvPr id="15" name="Rounded Rectangle 14"/>
          <p:cNvSpPr/>
          <p:nvPr/>
        </p:nvSpPr>
        <p:spPr>
          <a:xfrm>
            <a:off x="4315968"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40863"/>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REPORTED CACHE POOL</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2.05M → 3.20M</a:t>
            </a:r>
          </a:p>
        </p:txBody>
      </p:sp>
      <p:sp>
        <p:nvSpPr>
          <p:cNvPr id="19" name="TextBox 18"/>
          <p:cNvSpPr txBox="1"/>
          <p:nvPr/>
        </p:nvSpPr>
        <p:spPr>
          <a:xfrm>
            <a:off x="4498848"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Token capacity</a:t>
            </a:r>
          </a:p>
          <a:p>
            <a:pPr>
              <a:spcAft>
                <a:spcPts val="500"/>
              </a:spcAft>
              <a:defRPr sz="1600" b="0">
                <a:solidFill>
                  <a:srgbClr val="586A7C"/>
                </a:solidFill>
                <a:latin typeface="Aptos"/>
              </a:defRPr>
            </a:pPr>
            <a:r>
              <a:t>Utilization 0.85 → 0.82</a:t>
            </a:r>
          </a:p>
        </p:txBody>
      </p:sp>
      <p:sp>
        <p:nvSpPr>
          <p:cNvPr id="20" name="Rounded Rectangle 19"/>
          <p:cNvSpPr/>
          <p:nvPr/>
        </p:nvSpPr>
        <p:spPr>
          <a:xfrm>
            <a:off x="8083296"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40863"/>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C4 RESULT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162.2 → 256.8</a:t>
            </a:r>
          </a:p>
        </p:txBody>
      </p:sp>
      <p:sp>
        <p:nvSpPr>
          <p:cNvPr id="24" name="TextBox 23"/>
          <p:cNvSpPr txBox="1"/>
          <p:nvPr/>
        </p:nvSpPr>
        <p:spPr>
          <a:xfrm>
            <a:off x="8266175"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Output tokens/s</a:t>
            </a:r>
          </a:p>
          <a:p>
            <a:pPr>
              <a:spcAft>
                <a:spcPts val="500"/>
              </a:spcAft>
              <a:defRPr sz="1600" b="0">
                <a:solidFill>
                  <a:srgbClr val="586A7C"/>
                </a:solidFill>
                <a:latin typeface="Aptos"/>
              </a:defRPr>
            </a:pPr>
            <a:r>
              <a:t>Checkpoint unchanged</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Inspect runtime state before assigning an architectural cause to a changed ranking.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II / CONCLUSIONS / DISCUSSION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Research direction: budget state and speculation together</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Hypothesis: load-aware draft budgets can improve goodput when hybrid-state capacity is constrained.</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§8; fix_bug.md §6. Research hypothesis and evaluation below are proposed.</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16</a:t>
            </a:r>
          </a:p>
        </p:txBody>
      </p:sp>
      <p:sp>
        <p:nvSpPr>
          <p:cNvPr id="9" name="Rounded Rectangle 8"/>
          <p:cNvSpPr/>
          <p:nvPr/>
        </p:nvSpPr>
        <p:spPr>
          <a:xfrm>
            <a:off x="548640"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04872"/>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MY EVIDENCE</a:t>
            </a:r>
          </a:p>
        </p:txBody>
      </p:sp>
      <p:sp>
        <p:nvSpPr>
          <p:cNvPr id="12" name="TextBox 11"/>
          <p:cNvSpPr txBox="1"/>
          <p:nvPr/>
        </p:nvSpPr>
        <p:spPr>
          <a:xfrm>
            <a:off x="731520"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Operating points matter</a:t>
            </a:r>
          </a:p>
        </p:txBody>
      </p:sp>
      <p:sp>
        <p:nvSpPr>
          <p:cNvPr id="13" name="TextBox 12"/>
          <p:cNvSpPr txBox="1"/>
          <p:nvPr/>
        </p:nvSpPr>
        <p:spPr>
          <a:xfrm>
            <a:off x="731520"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GLM MTP helps at light load.</a:t>
            </a:r>
          </a:p>
          <a:p>
            <a:pPr>
              <a:spcAft>
                <a:spcPts val="500"/>
              </a:spcAft>
              <a:defRPr sz="1600" b="0">
                <a:solidFill>
                  <a:srgbClr val="C4D1DE"/>
                </a:solidFill>
                <a:latin typeface="Aptos"/>
              </a:defRPr>
            </a:pPr>
            <a:r>
              <a:t>Qwen startup changes the ranking.</a:t>
            </a:r>
          </a:p>
          <a:p>
            <a:pPr>
              <a:spcAft>
                <a:spcPts val="500"/>
              </a:spcAft>
              <a:defRPr sz="1600" b="0">
                <a:solidFill>
                  <a:srgbClr val="C4D1DE"/>
                </a:solidFill>
                <a:latin typeface="Aptos"/>
              </a:defRPr>
            </a:pPr>
            <a:r>
              <a:t>Latency and token cost diverge.</a:t>
            </a:r>
          </a:p>
        </p:txBody>
      </p:sp>
      <p:sp>
        <p:nvSpPr>
          <p:cNvPr id="14" name="Rounded Rectangle 13"/>
          <p:cNvSpPr/>
          <p:nvPr/>
        </p:nvSpPr>
        <p:spPr>
          <a:xfrm>
            <a:off x="4315968"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04872"/>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FIRST / ESTABLISH</a:t>
            </a:r>
          </a:p>
        </p:txBody>
      </p:sp>
      <p:sp>
        <p:nvSpPr>
          <p:cNvPr id="17" name="TextBox 16"/>
          <p:cNvSpPr txBox="1"/>
          <p:nvPr/>
        </p:nvSpPr>
        <p:spPr>
          <a:xfrm>
            <a:off x="4498848"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Match and profile</a:t>
            </a:r>
          </a:p>
        </p:txBody>
      </p:sp>
      <p:sp>
        <p:nvSpPr>
          <p:cNvPr id="18" name="TextBox 17"/>
          <p:cNvSpPr txBox="1"/>
          <p:nvPr/>
        </p:nvSpPr>
        <p:spPr>
          <a:xfrm>
            <a:off x="4498848"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Repair gates; repeat matched arms.</a:t>
            </a:r>
          </a:p>
          <a:p>
            <a:pPr>
              <a:spcAft>
                <a:spcPts val="500"/>
              </a:spcAft>
              <a:defRPr sz="1600" b="0">
                <a:solidFill>
                  <a:srgbClr val="C4D1DE"/>
                </a:solidFill>
                <a:latin typeface="Aptos"/>
              </a:defRPr>
            </a:pPr>
            <a:r>
              <a:t>Separate prefill / decode costs.</a:t>
            </a:r>
          </a:p>
          <a:p>
            <a:pPr>
              <a:spcAft>
                <a:spcPts val="500"/>
              </a:spcAft>
              <a:defRPr sz="1600" b="0">
                <a:solidFill>
                  <a:srgbClr val="C4D1DE"/>
                </a:solidFill>
                <a:latin typeface="Aptos"/>
              </a:defRPr>
            </a:pPr>
            <a:r>
              <a:t>Measure acceptance and state work.</a:t>
            </a:r>
          </a:p>
        </p:txBody>
      </p:sp>
      <p:sp>
        <p:nvSpPr>
          <p:cNvPr id="19" name="Rounded Rectangle 18"/>
          <p:cNvSpPr/>
          <p:nvPr/>
        </p:nvSpPr>
        <p:spPr>
          <a:xfrm>
            <a:off x="8083296"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04872"/>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THEN / TEST</a:t>
            </a:r>
          </a:p>
        </p:txBody>
      </p:sp>
      <p:sp>
        <p:nvSpPr>
          <p:cNvPr id="22" name="TextBox 21"/>
          <p:cNvSpPr txBox="1"/>
          <p:nvPr/>
        </p:nvSpPr>
        <p:spPr>
          <a:xfrm>
            <a:off x="8266175"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Adaptive draft budget</a:t>
            </a:r>
          </a:p>
        </p:txBody>
      </p:sp>
      <p:sp>
        <p:nvSpPr>
          <p:cNvPr id="23" name="TextBox 22"/>
          <p:cNvSpPr txBox="1"/>
          <p:nvPr/>
        </p:nvSpPr>
        <p:spPr>
          <a:xfrm>
            <a:off x="8266175"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Compare off, fixed, adaptive.</a:t>
            </a:r>
          </a:p>
          <a:p>
            <a:pPr>
              <a:spcAft>
                <a:spcPts val="500"/>
              </a:spcAft>
              <a:defRPr sz="1600" b="0">
                <a:solidFill>
                  <a:srgbClr val="C4D1DE"/>
                </a:solidFill>
                <a:latin typeface="Aptos"/>
              </a:defRPr>
            </a:pPr>
            <a:r>
              <a:t>Useful completions under SLOs.</a:t>
            </a:r>
          </a:p>
          <a:p>
            <a:pPr>
              <a:spcAft>
                <a:spcPts val="500"/>
              </a:spcAft>
              <a:defRPr sz="1600" b="0">
                <a:solidFill>
                  <a:srgbClr val="C4D1DE"/>
                </a:solidFill>
                <a:latin typeface="Aptos"/>
              </a:defRPr>
            </a:pPr>
            <a:r>
              <a:t>Quality, overhead and tails.</a:t>
            </a:r>
          </a:p>
        </p:txBody>
      </p:sp>
      <p:sp>
        <p:nvSpPr>
          <p:cNvPr id="24" name="Rounded Rectangle 23"/>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Falsifier: no useful gain over fixed policies after matching quality, latency targets and runtime state.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COMPARABILITY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What is controlled, and what remains different?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§1; experiments.md</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B1</a:t>
            </a:r>
          </a:p>
        </p:txBody>
      </p:sp>
      <p:graphicFrame>
        <p:nvGraphicFramePr>
          <p:cNvPr id="8" name="Table 7"/>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Held or documented</a:t>
                      </a:r>
                    </a:p>
                  </a:txBody>
                  <a:tcPr marL="146304" marR="109728" marT="45720" marB="45720" anchor="ctr">
                    <a:solidFill>
                      <a:srgbClr val="101F33"/>
                    </a:solidFill>
                  </a:tcPr>
                </a:tc>
                <a:tc>
                  <a:txBody>
                    <a:bodyPr/>
                    <a:lstStyle/>
                    <a:p>
                      <a:pPr>
                        <a:defRPr sz="1800" b="1">
                          <a:solidFill>
                            <a:srgbClr val="FFFFFF"/>
                          </a:solidFill>
                          <a:latin typeface="Aptos"/>
                        </a:defRPr>
                      </a:pPr>
                      <a:r>
                        <a:t>Different / missing</a:t>
                      </a:r>
                    </a:p>
                  </a:txBody>
                  <a:tcPr marL="146304" marR="109728" marT="45720" marB="45720" anchor="ctr">
                    <a:solidFill>
                      <a:srgbClr val="101F33"/>
                    </a:solidFill>
                  </a:tcPr>
                </a:tc>
              </a:tr>
              <a:tr h="612648">
                <a:tc>
                  <a:txBody>
                    <a:bodyPr/>
                    <a:lstStyle/>
                    <a:p>
                      <a:pPr>
                        <a:defRPr sz="1800" b="0">
                          <a:solidFill>
                            <a:srgbClr val="172C42"/>
                          </a:solidFill>
                          <a:latin typeface="Aptos"/>
                        </a:defRPr>
                      </a:pPr>
                      <a:r>
                        <a:t>8 × H100 80GB; TP8 + EP</a:t>
                      </a:r>
                    </a:p>
                  </a:txBody>
                  <a:tcPr marL="146304" marR="109728" marT="45720" marB="45720" anchor="ctr">
                    <a:solidFill>
                      <a:srgbClr val="FFFFFF"/>
                    </a:solidFill>
                  </a:tcPr>
                </a:tc>
                <a:tc>
                  <a:txBody>
                    <a:bodyPr/>
                    <a:lstStyle/>
                    <a:p>
                      <a:pPr>
                        <a:defRPr sz="1800" b="0">
                          <a:solidFill>
                            <a:srgbClr val="172C42"/>
                          </a:solidFill>
                          <a:latin typeface="Aptos"/>
                        </a:defRPr>
                      </a:pPr>
                      <a:r>
                        <a:t>Physical node/topology equivalence unestablished</a:t>
                      </a:r>
                    </a:p>
                  </a:txBody>
                  <a:tcPr marL="146304" marR="109728" marT="45720" marB="45720" anchor="ctr">
                    <a:solidFill>
                      <a:srgbClr val="FFFFFF"/>
                    </a:solidFill>
                  </a:tcPr>
                </a:tc>
              </a:tr>
              <a:tr h="612648">
                <a:tc>
                  <a:txBody>
                    <a:bodyPr/>
                    <a:lstStyle/>
                    <a:p>
                      <a:pPr>
                        <a:defRPr sz="1800" b="0">
                          <a:solidFill>
                            <a:srgbClr val="172C42"/>
                          </a:solidFill>
                          <a:latin typeface="Aptos"/>
                        </a:defRPr>
                      </a:pPr>
                      <a:r>
                        <a:t>Synthetic input/output length targets</a:t>
                      </a:r>
                    </a:p>
                  </a:txBody>
                  <a:tcPr marL="146304" marR="109728" marT="45720" marB="45720" anchor="ctr">
                    <a:solidFill>
                      <a:srgbClr val="EAF0F4"/>
                    </a:solidFill>
                  </a:tcPr>
                </a:tc>
                <a:tc>
                  <a:txBody>
                    <a:bodyPr/>
                    <a:lstStyle/>
                    <a:p>
                      <a:pPr>
                        <a:defRPr sz="1800" b="0">
                          <a:solidFill>
                            <a:srgbClr val="172C42"/>
                          </a:solidFill>
                          <a:latin typeface="Aptos"/>
                        </a:defRPr>
                      </a:pPr>
                      <a:r>
                        <a:t>Tokenizers, actual counts and task quality</a:t>
                      </a:r>
                    </a:p>
                  </a:txBody>
                  <a:tcPr marL="146304" marR="109728" marT="45720" marB="45720" anchor="ctr">
                    <a:solidFill>
                      <a:srgbClr val="EAF0F4"/>
                    </a:solidFill>
                  </a:tcPr>
                </a:tc>
              </a:tr>
              <a:tr h="612648">
                <a:tc>
                  <a:txBody>
                    <a:bodyPr/>
                    <a:lstStyle/>
                    <a:p>
                      <a:pPr>
                        <a:defRPr sz="1800" b="0">
                          <a:solidFill>
                            <a:srgbClr val="172C42"/>
                          </a:solidFill>
                          <a:latin typeface="Aptos"/>
                        </a:defRPr>
                      </a:pPr>
                      <a:r>
                        <a:t>MTP off in main comparison</a:t>
                      </a:r>
                    </a:p>
                  </a:txBody>
                  <a:tcPr marL="146304" marR="109728" marT="45720" marB="45720" anchor="ctr">
                    <a:solidFill>
                      <a:srgbClr val="FFFFFF"/>
                    </a:solidFill>
                  </a:tcPr>
                </a:tc>
                <a:tc>
                  <a:txBody>
                    <a:bodyPr/>
                    <a:lstStyle/>
                    <a:p>
                      <a:pPr>
                        <a:defRPr sz="1800" b="0">
                          <a:solidFill>
                            <a:srgbClr val="172C42"/>
                          </a:solidFill>
                          <a:latin typeface="Aptos"/>
                        </a:defRPr>
                      </a:pPr>
                      <a:r>
                        <a:t>Weight/KV precision, builds and backends</a:t>
                      </a:r>
                    </a:p>
                  </a:txBody>
                  <a:tcPr marL="146304" marR="109728" marT="45720" marB="45720" anchor="ctr">
                    <a:solidFill>
                      <a:srgbClr val="FFFFFF"/>
                    </a:solidFill>
                  </a:tcPr>
                </a:tc>
              </a:tr>
              <a:tr h="612648">
                <a:tc>
                  <a:txBody>
                    <a:bodyPr/>
                    <a:lstStyle/>
                    <a:p>
                      <a:pPr>
                        <a:defRPr sz="1800" b="0">
                          <a:solidFill>
                            <a:srgbClr val="172C42"/>
                          </a:solidFill>
                          <a:latin typeface="Aptos"/>
                        </a:defRPr>
                      </a:pPr>
                      <a:r>
                        <a:t>Named arm and per-point evidence</a:t>
                      </a:r>
                    </a:p>
                  </a:txBody>
                  <a:tcPr marL="146304" marR="109728" marT="45720" marB="45720" anchor="ctr">
                    <a:solidFill>
                      <a:srgbClr val="EAF0F4"/>
                    </a:solidFill>
                  </a:tcPr>
                </a:tc>
                <a:tc>
                  <a:txBody>
                    <a:bodyPr/>
                    <a:lstStyle/>
                    <a:p>
                      <a:pPr>
                        <a:defRPr sz="1800" b="0">
                          <a:solidFill>
                            <a:srgbClr val="172C42"/>
                          </a:solidFill>
                          <a:latin typeface="Aptos"/>
                        </a:defRPr>
                      </a:pPr>
                      <a:r>
                        <a:t>Some startup pools; session/repeat coverage</a:t>
                      </a:r>
                    </a:p>
                  </a:txBody>
                  <a:tcPr marL="146304" marR="109728" marT="45720" marB="45720" anchor="ctr">
                    <a:solidFill>
                      <a:srgbClr val="EAF0F4"/>
                    </a:solidFill>
                  </a:tcPr>
                </a:tc>
              </a:tr>
            </a:tbl>
          </a:graphicData>
        </a:graphic>
      </p:graphicFrame>
      <p:sp>
        <p:nvSpPr>
          <p:cNvPr id="9" name="Rounded Rectangle 8"/>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DeepSeek’s build bridge applies to its batch grid only; all models are not engine-matched.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BOTTLENECK ATTRIBUTION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workload curve does not identify a dominant kernel</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GLM engine estimates omit attention. Whole-request averages can hide bandwidth-bound individual kernels.</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§3; fix_bug.md Bug 13</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B2</a:t>
            </a:r>
          </a:p>
        </p:txBody>
      </p:sp>
      <p:graphicFrame>
        <p:nvGraphicFramePr>
          <p:cNvPr id="9" name="Table 8"/>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Candidate mechanism</a:t>
                      </a:r>
                    </a:p>
                  </a:txBody>
                  <a:tcPr marL="146304" marR="109728" marT="45720" marB="45720" anchor="ctr">
                    <a:solidFill>
                      <a:srgbClr val="101F33"/>
                    </a:solidFill>
                  </a:tcPr>
                </a:tc>
                <a:tc>
                  <a:txBody>
                    <a:bodyPr/>
                    <a:lstStyle/>
                    <a:p>
                      <a:pPr>
                        <a:defRPr sz="1800" b="1">
                          <a:solidFill>
                            <a:srgbClr val="FFFFFF"/>
                          </a:solidFill>
                          <a:latin typeface="Aptos"/>
                        </a:defRPr>
                      </a:pPr>
                      <a:r>
                        <a:t>Discriminating evidence needed</a:t>
                      </a:r>
                    </a:p>
                  </a:txBody>
                  <a:tcPr marL="146304" marR="109728" marT="45720" marB="45720" anchor="ctr">
                    <a:solidFill>
                      <a:srgbClr val="101F33"/>
                    </a:solidFill>
                  </a:tcPr>
                </a:tc>
              </a:tr>
              <a:tr h="612648">
                <a:tc>
                  <a:txBody>
                    <a:bodyPr/>
                    <a:lstStyle/>
                    <a:p>
                      <a:pPr>
                        <a:defRPr sz="1800" b="0">
                          <a:solidFill>
                            <a:srgbClr val="172C42"/>
                          </a:solidFill>
                          <a:latin typeface="Aptos"/>
                        </a:defRPr>
                      </a:pPr>
                      <a:r>
                        <a:t>Small GEMMs / expert routing</a:t>
                      </a:r>
                    </a:p>
                  </a:txBody>
                  <a:tcPr marL="146304" marR="109728" marT="45720" marB="45720" anchor="ctr">
                    <a:solidFill>
                      <a:srgbClr val="FFFFFF"/>
                    </a:solidFill>
                  </a:tcPr>
                </a:tc>
                <a:tc>
                  <a:txBody>
                    <a:bodyPr/>
                    <a:lstStyle/>
                    <a:p>
                      <a:pPr>
                        <a:defRPr sz="1800" b="0">
                          <a:solidFill>
                            <a:srgbClr val="172C42"/>
                          </a:solidFill>
                          <a:latin typeface="Aptos"/>
                        </a:defRPr>
                      </a:pPr>
                      <a:r>
                        <a:t>Operator durations, shapes and per-rank expert load</a:t>
                      </a:r>
                    </a:p>
                  </a:txBody>
                  <a:tcPr marL="146304" marR="109728" marT="45720" marB="45720" anchor="ctr">
                    <a:solidFill>
                      <a:srgbClr val="FFFFFF"/>
                    </a:solidFill>
                  </a:tcPr>
                </a:tc>
              </a:tr>
              <a:tr h="612648">
                <a:tc>
                  <a:txBody>
                    <a:bodyPr/>
                    <a:lstStyle/>
                    <a:p>
                      <a:pPr>
                        <a:defRPr sz="1800" b="0">
                          <a:solidFill>
                            <a:srgbClr val="172C42"/>
                          </a:solidFill>
                          <a:latin typeface="Aptos"/>
                        </a:defRPr>
                      </a:pPr>
                      <a:r>
                        <a:t>Collectives / launch overhead</a:t>
                      </a:r>
                    </a:p>
                  </a:txBody>
                  <a:tcPr marL="146304" marR="109728" marT="45720" marB="45720" anchor="ctr">
                    <a:solidFill>
                      <a:srgbClr val="EAF0F4"/>
                    </a:solidFill>
                  </a:tcPr>
                </a:tc>
                <a:tc>
                  <a:txBody>
                    <a:bodyPr/>
                    <a:lstStyle/>
                    <a:p>
                      <a:pPr>
                        <a:defRPr sz="1800" b="0">
                          <a:solidFill>
                            <a:srgbClr val="172C42"/>
                          </a:solidFill>
                          <a:latin typeface="Aptos"/>
                        </a:defRPr>
                      </a:pPr>
                      <a:r>
                        <a:t>Timeline and controlled TP/EP or graph intervention</a:t>
                      </a:r>
                    </a:p>
                  </a:txBody>
                  <a:tcPr marL="146304" marR="109728" marT="45720" marB="45720" anchor="ctr">
                    <a:solidFill>
                      <a:srgbClr val="EAF0F4"/>
                    </a:solidFill>
                  </a:tcPr>
                </a:tc>
              </a:tr>
              <a:tr h="612648">
                <a:tc>
                  <a:txBody>
                    <a:bodyPr/>
                    <a:lstStyle/>
                    <a:p>
                      <a:pPr>
                        <a:defRPr sz="1800" b="0">
                          <a:solidFill>
                            <a:srgbClr val="172C42"/>
                          </a:solidFill>
                          <a:latin typeface="Aptos"/>
                        </a:defRPr>
                      </a:pPr>
                      <a:r>
                        <a:t>HBM traffic</a:t>
                      </a:r>
                    </a:p>
                  </a:txBody>
                  <a:tcPr marL="146304" marR="109728" marT="45720" marB="45720" anchor="ctr">
                    <a:solidFill>
                      <a:srgbClr val="FFFFFF"/>
                    </a:solidFill>
                  </a:tcPr>
                </a:tc>
                <a:tc>
                  <a:txBody>
                    <a:bodyPr/>
                    <a:lstStyle/>
                    <a:p>
                      <a:pPr>
                        <a:defRPr sz="1800" b="0">
                          <a:solidFill>
                            <a:srgbClr val="172C42"/>
                          </a:solidFill>
                          <a:latin typeface="Aptos"/>
                        </a:defRPr>
                      </a:pPr>
                      <a:r>
                        <a:t>Hardware counters within prefill/decode intervals</a:t>
                      </a:r>
                    </a:p>
                  </a:txBody>
                  <a:tcPr marL="146304" marR="109728" marT="45720" marB="45720" anchor="ctr">
                    <a:solidFill>
                      <a:srgbClr val="FFFFFF"/>
                    </a:solidFill>
                  </a:tcPr>
                </a:tc>
              </a:tr>
              <a:tr h="612648">
                <a:tc>
                  <a:txBody>
                    <a:bodyPr/>
                    <a:lstStyle/>
                    <a:p>
                      <a:pPr>
                        <a:defRPr sz="1800" b="0">
                          <a:solidFill>
                            <a:srgbClr val="172C42"/>
                          </a:solidFill>
                          <a:latin typeface="Aptos"/>
                        </a:defRPr>
                      </a:pPr>
                      <a:r>
                        <a:t>Scheduler / cache pressure</a:t>
                      </a:r>
                    </a:p>
                  </a:txBody>
                  <a:tcPr marL="146304" marR="109728" marT="45720" marB="45720" anchor="ctr">
                    <a:solidFill>
                      <a:srgbClr val="EAF0F4"/>
                    </a:solidFill>
                  </a:tcPr>
                </a:tc>
                <a:tc>
                  <a:txBody>
                    <a:bodyPr/>
                    <a:lstStyle/>
                    <a:p>
                      <a:pPr>
                        <a:defRPr sz="1800" b="0">
                          <a:solidFill>
                            <a:srgbClr val="172C42"/>
                          </a:solidFill>
                          <a:latin typeface="Aptos"/>
                        </a:defRPr>
                      </a:pPr>
                      <a:r>
                        <a:t>Per-step batches, preemption and matched-pool controls</a:t>
                      </a:r>
                    </a:p>
                  </a:txBody>
                  <a:tcPr marL="146304" marR="109728" marT="45720" marB="45720" anchor="ctr">
                    <a:solidFill>
                      <a:srgbClr val="EAF0F4"/>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Enabled → implemented → emitted → scraped → aligned → saved: audit the metric chain.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HYBRID CACHE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reusable prefix needs a complete state checkpoint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§4; fix_bug.md Bug 6</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B3</a:t>
            </a:r>
          </a:p>
        </p:txBody>
      </p:sp>
      <p:sp>
        <p:nvSpPr>
          <p:cNvPr id="8" name="Rounded Rectangle 7"/>
          <p:cNvSpPr/>
          <p:nvPr/>
        </p:nvSpPr>
        <p:spPr>
          <a:xfrm>
            <a:off x="548640"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566928" y="2386584"/>
            <a:ext cx="0" cy="2514599"/>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2414016"/>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IDENTITY</a:t>
            </a:r>
          </a:p>
        </p:txBody>
      </p:sp>
      <p:sp>
        <p:nvSpPr>
          <p:cNvPr id="11" name="TextBox 10"/>
          <p:cNvSpPr txBox="1"/>
          <p:nvPr/>
        </p:nvSpPr>
        <p:spPr>
          <a:xfrm>
            <a:off x="731520"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Same token prefix</a:t>
            </a:r>
          </a:p>
        </p:txBody>
      </p:sp>
      <p:sp>
        <p:nvSpPr>
          <p:cNvPr id="12" name="TextBox 11"/>
          <p:cNvSpPr txBox="1"/>
          <p:nvPr/>
        </p:nvSpPr>
        <p:spPr>
          <a:xfrm>
            <a:off x="731520"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Model revision, adapter, positions and relevant execution state must match.</a:t>
            </a:r>
          </a:p>
        </p:txBody>
      </p:sp>
      <p:sp>
        <p:nvSpPr>
          <p:cNvPr id="13" name="Rounded Rectangle 12"/>
          <p:cNvSpPr/>
          <p:nvPr/>
        </p:nvSpPr>
        <p:spPr>
          <a:xfrm>
            <a:off x="4315968"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334255" y="2386584"/>
            <a:ext cx="0" cy="2514599"/>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98848" y="2414016"/>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BOUNDARY</a:t>
            </a:r>
          </a:p>
        </p:txBody>
      </p:sp>
      <p:sp>
        <p:nvSpPr>
          <p:cNvPr id="16" name="TextBox 15"/>
          <p:cNvSpPr txBox="1"/>
          <p:nvPr/>
        </p:nvSpPr>
        <p:spPr>
          <a:xfrm>
            <a:off x="4498848"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All layers agree</a:t>
            </a:r>
          </a:p>
        </p:txBody>
      </p:sp>
      <p:sp>
        <p:nvSpPr>
          <p:cNvPr id="17" name="TextBox 16"/>
          <p:cNvSpPr txBox="1"/>
          <p:nvPr/>
        </p:nvSpPr>
        <p:spPr>
          <a:xfrm>
            <a:off x="4498848"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KV/history and recurrent state resume at the same compatible position.</a:t>
            </a:r>
          </a:p>
        </p:txBody>
      </p:sp>
      <p:sp>
        <p:nvSpPr>
          <p:cNvPr id="18" name="Rounded Rectangle 17"/>
          <p:cNvSpPr/>
          <p:nvPr/>
        </p:nvSpPr>
        <p:spPr>
          <a:xfrm>
            <a:off x="8083296"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8101583" y="2386584"/>
            <a:ext cx="0" cy="2514599"/>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66175" y="2414016"/>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BRANCH / ROLLBACK</a:t>
            </a:r>
          </a:p>
        </p:txBody>
      </p:sp>
      <p:sp>
        <p:nvSpPr>
          <p:cNvPr id="21" name="TextBox 20"/>
          <p:cNvSpPr txBox="1"/>
          <p:nvPr/>
        </p:nvSpPr>
        <p:spPr>
          <a:xfrm>
            <a:off x="8266175"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Protect mutable state</a:t>
            </a:r>
          </a:p>
        </p:txBody>
      </p:sp>
      <p:sp>
        <p:nvSpPr>
          <p:cNvPr id="22" name="TextBox 21"/>
          <p:cNvSpPr txBox="1"/>
          <p:nvPr/>
        </p:nvSpPr>
        <p:spPr>
          <a:xfrm>
            <a:off x="8266175"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Share immutable history; copy or restore state when requests diverge.</a:t>
            </a:r>
          </a:p>
        </p:txBody>
      </p:sp>
      <p:sp>
        <p:nvSpPr>
          <p:cNvPr id="23" name="Rounded Rectangle 22"/>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Finer checkpoints trade additional memory/copy work for less recomputation after partial matches.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WEIGHT ACCOUNTING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Resident parameters are not per-token arithmetic</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Historical tensor analyses, not a new recount. Disk size is not runtime HBM or a validated deployment lower bound.</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prior tensor analyses</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B4</a:t>
            </a:r>
          </a:p>
        </p:txBody>
      </p:sp>
      <p:sp>
        <p:nvSpPr>
          <p:cNvPr id="9" name="Rounded Rectangle 8"/>
          <p:cNvSpPr/>
          <p:nvPr/>
        </p:nvSpPr>
        <p:spPr>
          <a:xfrm>
            <a:off x="2999232" y="2221992"/>
            <a:ext cx="2715768" cy="384048"/>
          </a:xfrm>
          <a:prstGeom prst="roundRect">
            <a:avLst>
              <a:gd name="adj" fmla="val 8000"/>
            </a:avLst>
          </a:prstGeom>
          <a:solidFill>
            <a:srgbClr val="BB5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27248"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DeepSeek</a:t>
            </a:r>
          </a:p>
        </p:txBody>
      </p:sp>
      <p:sp>
        <p:nvSpPr>
          <p:cNvPr id="11" name="Rounded Rectangle 10"/>
          <p:cNvSpPr/>
          <p:nvPr/>
        </p:nvSpPr>
        <p:spPr>
          <a:xfrm>
            <a:off x="5852160" y="2221992"/>
            <a:ext cx="2715768" cy="384048"/>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0176"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GLM</a:t>
            </a:r>
          </a:p>
        </p:txBody>
      </p:sp>
      <p:sp>
        <p:nvSpPr>
          <p:cNvPr id="13" name="Rounded Rectangle 12"/>
          <p:cNvSpPr/>
          <p:nvPr/>
        </p:nvSpPr>
        <p:spPr>
          <a:xfrm>
            <a:off x="8705088" y="2221992"/>
            <a:ext cx="2715768" cy="384048"/>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33104"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Qwen</a:t>
            </a:r>
          </a:p>
        </p:txBody>
      </p:sp>
      <p:sp>
        <p:nvSpPr>
          <p:cNvPr id="15" name="TextBox 14"/>
          <p:cNvSpPr txBox="1"/>
          <p:nvPr/>
        </p:nvSpPr>
        <p:spPr>
          <a:xfrm>
            <a:off x="640080" y="2798064"/>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Served total / GEMM</a:t>
            </a:r>
          </a:p>
        </p:txBody>
      </p:sp>
      <p:sp>
        <p:nvSpPr>
          <p:cNvPr id="16" name="Rounded Rectangle 15"/>
          <p:cNvSpPr/>
          <p:nvPr/>
        </p:nvSpPr>
        <p:spPr>
          <a:xfrm>
            <a:off x="2999232"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27248"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290.91B / 14.08B</a:t>
            </a:r>
          </a:p>
        </p:txBody>
      </p:sp>
      <p:sp>
        <p:nvSpPr>
          <p:cNvPr id="18" name="Rounded Rectangle 17"/>
          <p:cNvSpPr/>
          <p:nvPr/>
        </p:nvSpPr>
        <p:spPr>
          <a:xfrm>
            <a:off x="5852160"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80176"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321.34B / 17.38B</a:t>
            </a:r>
          </a:p>
        </p:txBody>
      </p:sp>
      <p:sp>
        <p:nvSpPr>
          <p:cNvPr id="20" name="Rounded Rectangle 19"/>
          <p:cNvSpPr/>
          <p:nvPr/>
        </p:nvSpPr>
        <p:spPr>
          <a:xfrm>
            <a:off x="8705088"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33104"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176.94B / 7.27B</a:t>
            </a:r>
          </a:p>
        </p:txBody>
      </p:sp>
      <p:sp>
        <p:nvSpPr>
          <p:cNvPr id="22" name="TextBox 21"/>
          <p:cNvSpPr txBox="1"/>
          <p:nvPr/>
        </p:nvSpPr>
        <p:spPr>
          <a:xfrm>
            <a:off x="640080" y="3374136"/>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Recorded disk size</a:t>
            </a:r>
          </a:p>
        </p:txBody>
      </p:sp>
      <p:sp>
        <p:nvSpPr>
          <p:cNvPr id="23" name="Rounded Rectangle 22"/>
          <p:cNvSpPr/>
          <p:nvPr/>
        </p:nvSpPr>
        <p:spPr>
          <a:xfrm>
            <a:off x="2999232"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27248"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148.6 GiB</a:t>
            </a:r>
          </a:p>
        </p:txBody>
      </p:sp>
      <p:sp>
        <p:nvSpPr>
          <p:cNvPr id="25" name="Rounded Rectangle 24"/>
          <p:cNvSpPr/>
          <p:nvPr/>
        </p:nvSpPr>
        <p:spPr>
          <a:xfrm>
            <a:off x="5852160"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6"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305.8 GiB</a:t>
            </a:r>
          </a:p>
        </p:txBody>
      </p:sp>
      <p:sp>
        <p:nvSpPr>
          <p:cNvPr id="27" name="Rounded Rectangle 26"/>
          <p:cNvSpPr/>
          <p:nvPr/>
        </p:nvSpPr>
        <p:spPr>
          <a:xfrm>
            <a:off x="8705088"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33104"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172.8 GiB</a:t>
            </a:r>
          </a:p>
        </p:txBody>
      </p:sp>
      <p:sp>
        <p:nvSpPr>
          <p:cNvPr id="29" name="TextBox 28"/>
          <p:cNvSpPr txBox="1"/>
          <p:nvPr/>
        </p:nvSpPr>
        <p:spPr>
          <a:xfrm>
            <a:off x="640080" y="3950207"/>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Main weight format</a:t>
            </a:r>
          </a:p>
        </p:txBody>
      </p:sp>
      <p:sp>
        <p:nvSpPr>
          <p:cNvPr id="30" name="Rounded Rectangle 29"/>
          <p:cNvSpPr/>
          <p:nvPr/>
        </p:nvSpPr>
        <p:spPr>
          <a:xfrm>
            <a:off x="2999232"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27248"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MXFP4 experts;</a:t>
            </a:r>
          </a:p>
          <a:p>
            <a:pPr>
              <a:spcAft>
                <a:spcPts val="0"/>
              </a:spcAft>
              <a:defRPr sz="1600" b="0">
                <a:solidFill>
                  <a:srgbClr val="172C42"/>
                </a:solidFill>
                <a:latin typeface="Aptos"/>
              </a:defRPr>
            </a:pPr>
            <a:r>
              <a:t>FP8 attention/dense</a:t>
            </a:r>
          </a:p>
        </p:txBody>
      </p:sp>
      <p:sp>
        <p:nvSpPr>
          <p:cNvPr id="32" name="Rounded Rectangle 31"/>
          <p:cNvSpPr/>
          <p:nvPr/>
        </p:nvSpPr>
        <p:spPr>
          <a:xfrm>
            <a:off x="5852160"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0176"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weights</a:t>
            </a:r>
          </a:p>
        </p:txBody>
      </p:sp>
      <p:sp>
        <p:nvSpPr>
          <p:cNvPr id="34" name="Rounded Rectangle 33"/>
          <p:cNvSpPr/>
          <p:nvPr/>
        </p:nvSpPr>
        <p:spPr>
          <a:xfrm>
            <a:off x="8705088"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33104"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weights</a:t>
            </a:r>
          </a:p>
        </p:txBody>
      </p:sp>
      <p:sp>
        <p:nvSpPr>
          <p:cNvPr id="36" name="TextBox 35"/>
          <p:cNvSpPr txBox="1"/>
          <p:nvPr/>
        </p:nvSpPr>
        <p:spPr>
          <a:xfrm>
            <a:off x="640080" y="4526280"/>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Main cache precision</a:t>
            </a:r>
          </a:p>
        </p:txBody>
      </p:sp>
      <p:sp>
        <p:nvSpPr>
          <p:cNvPr id="37" name="Rounded Rectangle 36"/>
          <p:cNvSpPr/>
          <p:nvPr/>
        </p:nvSpPr>
        <p:spPr>
          <a:xfrm>
            <a:off x="2999232"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27248"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KV</a:t>
            </a:r>
          </a:p>
        </p:txBody>
      </p:sp>
      <p:sp>
        <p:nvSpPr>
          <p:cNvPr id="39" name="Rounded Rectangle 38"/>
          <p:cNvSpPr/>
          <p:nvPr/>
        </p:nvSpPr>
        <p:spPr>
          <a:xfrm>
            <a:off x="5852160"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80176"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BF16 KV</a:t>
            </a:r>
          </a:p>
        </p:txBody>
      </p:sp>
      <p:sp>
        <p:nvSpPr>
          <p:cNvPr id="41" name="Rounded Rectangle 40"/>
          <p:cNvSpPr/>
          <p:nvPr/>
        </p:nvSpPr>
        <p:spPr>
          <a:xfrm>
            <a:off x="8705088"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33104"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BF16 KV</a:t>
            </a:r>
          </a:p>
        </p:txBody>
      </p:sp>
      <p:sp>
        <p:nvSpPr>
          <p:cNvPr id="43" name="TextBox 42"/>
          <p:cNvSpPr txBox="1"/>
          <p:nvPr/>
        </p:nvSpPr>
        <p:spPr>
          <a:xfrm>
            <a:off x="640080" y="5129784"/>
            <a:ext cx="10972800" cy="219456"/>
          </a:xfrm>
          <a:prstGeom prst="rect">
            <a:avLst/>
          </a:prstGeom>
          <a:noFill/>
        </p:spPr>
        <p:txBody>
          <a:bodyPr wrap="square" lIns="0" rIns="0" tIns="0" bIns="0">
            <a:spAutoFit/>
          </a:bodyPr>
          <a:lstStyle/>
          <a:p>
            <a:pPr>
              <a:spcAft>
                <a:spcPts val="500"/>
              </a:spcAft>
              <a:defRPr sz="1200" b="0">
                <a:solidFill>
                  <a:srgbClr val="586A7C"/>
                </a:solidFill>
                <a:latin typeface="Aptos"/>
              </a:defRPr>
            </a:pPr>
            <a:r>
              <a:t>Qwen’s 51.23B lookup table adds resident capacity without a full-table GEMM per token.</a:t>
            </a:r>
          </a:p>
        </p:txBody>
      </p:sp>
      <p:sp>
        <p:nvSpPr>
          <p:cNvPr id="44" name="Rounded Rectangle 4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MoE reduces selected compute; weights, communication, lookup and state still need accounting.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MTP AND KV</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More capacity and more drafts are not automatic wins</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Alternate FP8 stack bypasses a version check; numerical parity and production suitability remain unverified.</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paired arms; report.md §§5, 7</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B5</a:t>
            </a:r>
          </a:p>
        </p:txBody>
      </p:sp>
      <p:graphicFrame>
        <p:nvGraphicFramePr>
          <p:cNvPr id="9" name="Table 8"/>
          <p:cNvGraphicFramePr>
            <a:graphicFrameLocks noGrp="1"/>
          </p:cNvGraphicFramePr>
          <p:nvPr/>
        </p:nvGraphicFramePr>
        <p:xfrm>
          <a:off x="548640" y="2212848"/>
          <a:ext cx="11064240" cy="3218688"/>
        </p:xfrm>
        <a:graphic>
          <a:graphicData uri="http://schemas.openxmlformats.org/drawingml/2006/table">
            <a:tbl>
              <a:tblPr firstRow="1" bandRow="1">
                <a:tableStyleId>{5C22544A-7EE6-4342-B048-85BDC9FD1C3A}</a:tableStyleId>
              </a:tblPr>
              <a:tblGrid>
                <a:gridCol w="2286000"/>
                <a:gridCol w="5212080"/>
                <a:gridCol w="3566160"/>
              </a:tblGrid>
              <a:tr h="804672">
                <a:tc>
                  <a:txBody>
                    <a:bodyPr/>
                    <a:lstStyle/>
                    <a:p>
                      <a:pPr>
                        <a:defRPr sz="1700" b="1">
                          <a:solidFill>
                            <a:srgbClr val="FFFFFF"/>
                          </a:solidFill>
                          <a:latin typeface="Aptos"/>
                        </a:defRPr>
                      </a:pPr>
                      <a:r>
                        <a:t>GLM option</a:t>
                      </a:r>
                    </a:p>
                  </a:txBody>
                  <a:tcPr marL="146304" marR="109728" marT="45720" marB="45720" anchor="ctr">
                    <a:solidFill>
                      <a:srgbClr val="101F33"/>
                    </a:solidFill>
                  </a:tcPr>
                </a:tc>
                <a:tc>
                  <a:txBody>
                    <a:bodyPr/>
                    <a:lstStyle/>
                    <a:p>
                      <a:pPr>
                        <a:defRPr sz="1700" b="1">
                          <a:solidFill>
                            <a:srgbClr val="FFFFFF"/>
                          </a:solidFill>
                          <a:latin typeface="Aptos"/>
                        </a:defRPr>
                      </a:pPr>
                      <a:r>
                        <a:t>Measured tradeoff</a:t>
                      </a:r>
                    </a:p>
                  </a:txBody>
                  <a:tcPr marL="146304" marR="109728" marT="45720" marB="45720" anchor="ctr">
                    <a:solidFill>
                      <a:srgbClr val="101F33"/>
                    </a:solidFill>
                  </a:tcPr>
                </a:tc>
                <a:tc>
                  <a:txBody>
                    <a:bodyPr/>
                    <a:lstStyle/>
                    <a:p>
                      <a:pPr>
                        <a:defRPr sz="1700" b="1">
                          <a:solidFill>
                            <a:srgbClr val="FFFFFF"/>
                          </a:solidFill>
                          <a:latin typeface="Aptos"/>
                        </a:defRPr>
                      </a:pPr>
                      <a:r>
                        <a:t>Decision supported</a:t>
                      </a:r>
                    </a:p>
                  </a:txBody>
                  <a:tcPr marL="146304" marR="109728" marT="45720" marB="45720" anchor="ctr">
                    <a:solidFill>
                      <a:srgbClr val="101F33"/>
                    </a:solidFill>
                  </a:tcPr>
                </a:tc>
              </a:tr>
              <a:tr h="804672">
                <a:tc>
                  <a:txBody>
                    <a:bodyPr/>
                    <a:lstStyle/>
                    <a:p>
                      <a:pPr>
                        <a:defRPr sz="1700" b="0">
                          <a:solidFill>
                            <a:srgbClr val="172C42"/>
                          </a:solidFill>
                          <a:latin typeface="Aptos"/>
                        </a:defRPr>
                      </a:pPr>
                      <a:r>
                        <a:t>MTP n1 / c1</a:t>
                      </a:r>
                    </a:p>
                  </a:txBody>
                  <a:tcPr marL="146304" marR="109728" marT="45720" marB="45720" anchor="ctr">
                    <a:solidFill>
                      <a:srgbClr val="FFFFFF"/>
                    </a:solidFill>
                  </a:tcPr>
                </a:tc>
                <a:tc>
                  <a:txBody>
                    <a:bodyPr/>
                    <a:lstStyle/>
                    <a:p>
                      <a:pPr>
                        <a:defRPr sz="1700" b="0">
                          <a:solidFill>
                            <a:srgbClr val="172C42"/>
                          </a:solidFill>
                          <a:latin typeface="Aptos"/>
                        </a:defRPr>
                      </a:pPr>
                      <a:r>
                        <a:t>+24% throughput; TPOT 7.06 → 5.05 ms</a:t>
                      </a:r>
                    </a:p>
                  </a:txBody>
                  <a:tcPr marL="146304" marR="109728" marT="45720" marB="45720" anchor="ctr">
                    <a:solidFill>
                      <a:srgbClr val="FFFFFF"/>
                    </a:solidFill>
                  </a:tcPr>
                </a:tc>
                <a:tc>
                  <a:txBody>
                    <a:bodyPr/>
                    <a:lstStyle/>
                    <a:p>
                      <a:pPr>
                        <a:defRPr sz="1700" b="0">
                          <a:solidFill>
                            <a:srgbClr val="172C42"/>
                          </a:solidFill>
                          <a:latin typeface="Aptos"/>
                        </a:defRPr>
                      </a:pPr>
                      <a:r>
                        <a:t>Candidate for light-load testing</a:t>
                      </a:r>
                    </a:p>
                  </a:txBody>
                  <a:tcPr marL="146304" marR="109728" marT="45720" marB="45720" anchor="ctr">
                    <a:solidFill>
                      <a:srgbClr val="FFFFFF"/>
                    </a:solidFill>
                  </a:tcPr>
                </a:tc>
              </a:tr>
              <a:tr h="804672">
                <a:tc>
                  <a:txBody>
                    <a:bodyPr/>
                    <a:lstStyle/>
                    <a:p>
                      <a:pPr>
                        <a:defRPr sz="1700" b="0">
                          <a:solidFill>
                            <a:srgbClr val="172C42"/>
                          </a:solidFill>
                          <a:latin typeface="Aptos"/>
                        </a:defRPr>
                      </a:pPr>
                      <a:r>
                        <a:t>MTP n5 / c64</a:t>
                      </a:r>
                    </a:p>
                  </a:txBody>
                  <a:tcPr marL="146304" marR="109728" marT="45720" marB="45720" anchor="ctr">
                    <a:solidFill>
                      <a:srgbClr val="EAF0F4"/>
                    </a:solidFill>
                  </a:tcPr>
                </a:tc>
                <a:tc>
                  <a:txBody>
                    <a:bodyPr/>
                    <a:lstStyle/>
                    <a:p>
                      <a:pPr>
                        <a:defRPr sz="1700" b="0">
                          <a:solidFill>
                            <a:srgbClr val="172C42"/>
                          </a:solidFill>
                          <a:latin typeface="Aptos"/>
                        </a:defRPr>
                      </a:pPr>
                      <a:r>
                        <a:t>−9% throughput; 99.2% cache occupancy</a:t>
                      </a:r>
                    </a:p>
                  </a:txBody>
                  <a:tcPr marL="146304" marR="109728" marT="45720" marB="45720" anchor="ctr">
                    <a:solidFill>
                      <a:srgbClr val="EAF0F4"/>
                    </a:solidFill>
                  </a:tcPr>
                </a:tc>
                <a:tc>
                  <a:txBody>
                    <a:bodyPr/>
                    <a:lstStyle/>
                    <a:p>
                      <a:pPr>
                        <a:defRPr sz="1700" b="0">
                          <a:solidFill>
                            <a:srgbClr val="172C42"/>
                          </a:solidFill>
                          <a:latin typeface="Aptos"/>
                        </a:defRPr>
                      </a:pPr>
                      <a:r>
                        <a:t>More drafts do not ensure benefit</a:t>
                      </a:r>
                    </a:p>
                  </a:txBody>
                  <a:tcPr marL="146304" marR="109728" marT="45720" marB="45720" anchor="ctr">
                    <a:solidFill>
                      <a:srgbClr val="EAF0F4"/>
                    </a:solidFill>
                  </a:tcPr>
                </a:tc>
              </a:tr>
              <a:tr h="804672">
                <a:tc>
                  <a:txBody>
                    <a:bodyPr/>
                    <a:lstStyle/>
                    <a:p>
                      <a:pPr>
                        <a:defRPr sz="1700" b="0">
                          <a:solidFill>
                            <a:srgbClr val="172C42"/>
                          </a:solidFill>
                          <a:latin typeface="Aptos"/>
                        </a:defRPr>
                      </a:pPr>
                      <a:r>
                        <a:t>Alternate FP8 KV / c64</a:t>
                      </a:r>
                    </a:p>
                  </a:txBody>
                  <a:tcPr marL="146304" marR="109728" marT="45720" marB="45720" anchor="ctr">
                    <a:solidFill>
                      <a:srgbClr val="FFFFFF"/>
                    </a:solidFill>
                  </a:tcPr>
                </a:tc>
                <a:tc>
                  <a:txBody>
                    <a:bodyPr/>
                    <a:lstStyle/>
                    <a:p>
                      <a:pPr>
                        <a:defRPr sz="1700" b="0">
                          <a:solidFill>
                            <a:srgbClr val="172C42"/>
                          </a:solidFill>
                          <a:latin typeface="Aptos"/>
                        </a:defRPr>
                      </a:pPr>
                      <a:r>
                        <a:t>−25% versus paired alternate BF16</a:t>
                      </a:r>
                    </a:p>
                  </a:txBody>
                  <a:tcPr marL="146304" marR="109728" marT="45720" marB="45720" anchor="ctr">
                    <a:solidFill>
                      <a:srgbClr val="FFFFFF"/>
                    </a:solidFill>
                  </a:tcPr>
                </a:tc>
                <a:tc>
                  <a:txBody>
                    <a:bodyPr/>
                    <a:lstStyle/>
                    <a:p>
                      <a:pPr>
                        <a:defRPr sz="1700" b="0">
                          <a:solidFill>
                            <a:srgbClr val="172C42"/>
                          </a:solidFill>
                          <a:latin typeface="Aptos"/>
                        </a:defRPr>
                      </a:pPr>
                      <a:r>
                        <a:t>Price capacity against speed</a:t>
                      </a:r>
                    </a:p>
                  </a:txBody>
                  <a:tcPr marL="146304" marR="109728" marT="45720" marB="45720" anchor="ctr">
                    <a:solidFill>
                      <a:srgbClr val="FFFFFF"/>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Reported FP8 capacity gain = 1.805× in its startup comparison; preserve session boundaries.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DEFENSE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Answer directly, then name the missing experiment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Expanded answers: report.md §9; fix_bug.md §7</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B6</a:t>
            </a:r>
          </a:p>
        </p:txBody>
      </p:sp>
      <p:graphicFrame>
        <p:nvGraphicFramePr>
          <p:cNvPr id="8" name="Table 7"/>
          <p:cNvGraphicFramePr>
            <a:graphicFrameLocks noGrp="1"/>
          </p:cNvGraphicFramePr>
          <p:nvPr/>
        </p:nvGraphicFramePr>
        <p:xfrm>
          <a:off x="548640" y="2212848"/>
          <a:ext cx="11064240" cy="3236976"/>
        </p:xfrm>
        <a:graphic>
          <a:graphicData uri="http://schemas.openxmlformats.org/drawingml/2006/table">
            <a:tbl>
              <a:tblPr firstRow="1" bandRow="1">
                <a:tableStyleId>{5C22544A-7EE6-4342-B048-85BDC9FD1C3A}</a:tableStyleId>
              </a:tblPr>
              <a:tblGrid>
                <a:gridCol w="3063240"/>
                <a:gridCol w="8001000"/>
              </a:tblGrid>
              <a:tr h="539496">
                <a:tc>
                  <a:txBody>
                    <a:bodyPr/>
                    <a:lstStyle/>
                    <a:p>
                      <a:pPr>
                        <a:defRPr sz="1700" b="1">
                          <a:solidFill>
                            <a:srgbClr val="FFFFFF"/>
                          </a:solidFill>
                          <a:latin typeface="Aptos"/>
                        </a:defRPr>
                      </a:pPr>
                      <a:r>
                        <a:t>Question</a:t>
                      </a:r>
                    </a:p>
                  </a:txBody>
                  <a:tcPr marL="146304" marR="109728" marT="45720" marB="45720" anchor="ctr">
                    <a:solidFill>
                      <a:srgbClr val="101F33"/>
                    </a:solidFill>
                  </a:tcPr>
                </a:tc>
                <a:tc>
                  <a:txBody>
                    <a:bodyPr/>
                    <a:lstStyle/>
                    <a:p>
                      <a:pPr>
                        <a:defRPr sz="1700" b="1">
                          <a:solidFill>
                            <a:srgbClr val="FFFFFF"/>
                          </a:solidFill>
                          <a:latin typeface="Aptos"/>
                        </a:defRPr>
                      </a:pPr>
                      <a:r>
                        <a:t>Defensible answer</a:t>
                      </a:r>
                    </a:p>
                  </a:txBody>
                  <a:tcPr marL="146304" marR="109728" marT="45720" marB="45720" anchor="ctr">
                    <a:solidFill>
                      <a:srgbClr val="101F33"/>
                    </a:solidFill>
                  </a:tcPr>
                </a:tc>
              </a:tr>
              <a:tr h="539496">
                <a:tc>
                  <a:txBody>
                    <a:bodyPr/>
                    <a:lstStyle/>
                    <a:p>
                      <a:pPr>
                        <a:defRPr sz="1700" b="0">
                          <a:solidFill>
                            <a:srgbClr val="172C42"/>
                          </a:solidFill>
                          <a:latin typeface="Aptos"/>
                        </a:defRPr>
                      </a:pPr>
                      <a:r>
                        <a:t>Where are error bars?</a:t>
                      </a:r>
                    </a:p>
                  </a:txBody>
                  <a:tcPr marL="146304" marR="109728" marT="45720" marB="45720" anchor="ctr">
                    <a:solidFill>
                      <a:srgbClr val="FFFFFF"/>
                    </a:solidFill>
                  </a:tcPr>
                </a:tc>
                <a:tc>
                  <a:txBody>
                    <a:bodyPr/>
                    <a:lstStyle/>
                    <a:p>
                      <a:pPr>
                        <a:defRPr sz="1700" b="0">
                          <a:solidFill>
                            <a:srgbClr val="172C42"/>
                          </a:solidFill>
                          <a:latin typeface="Aptos"/>
                        </a:defRPr>
                      </a:pPr>
                      <a:r>
                        <a:t>Most cells have one retained run; randomized repeats are pending.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Cheapest in production?</a:t>
                      </a:r>
                    </a:p>
                  </a:txBody>
                  <a:tcPr marL="146304" marR="109728" marT="45720" marB="45720" anchor="ctr">
                    <a:solidFill>
                      <a:srgbClr val="EAF0F4"/>
                    </a:solidFill>
                  </a:tcPr>
                </a:tc>
                <a:tc>
                  <a:txBody>
                    <a:bodyPr/>
                    <a:lstStyle/>
                    <a:p>
                      <a:pPr>
                        <a:defRPr sz="1700" b="0">
                          <a:solidFill>
                            <a:srgbClr val="172C42"/>
                          </a:solidFill>
                          <a:latin typeface="Aptos"/>
                        </a:defRPr>
                      </a:pPr>
                      <a:r>
                        <a:t>Unknown: no quality, real arrival trace, idle-time or GPU-count sweep.</a:t>
                      </a:r>
                    </a:p>
                  </a:txBody>
                  <a:tcPr marL="146304" marR="109728" marT="45720" marB="45720" anchor="ctr">
                    <a:solidFill>
                      <a:srgbClr val="EAF0F4"/>
                    </a:solidFill>
                  </a:tcPr>
                </a:tc>
              </a:tr>
              <a:tr h="539496">
                <a:tc>
                  <a:txBody>
                    <a:bodyPr/>
                    <a:lstStyle/>
                    <a:p>
                      <a:pPr>
                        <a:defRPr sz="1700" b="0">
                          <a:solidFill>
                            <a:srgbClr val="172C42"/>
                          </a:solidFill>
                          <a:latin typeface="Aptos"/>
                        </a:defRPr>
                      </a:pPr>
                      <a:r>
                        <a:t>How fast is prefix caching?</a:t>
                      </a:r>
                    </a:p>
                  </a:txBody>
                  <a:tcPr marL="146304" marR="109728" marT="45720" marB="45720" anchor="ctr">
                    <a:solidFill>
                      <a:srgbClr val="FFFFFF"/>
                    </a:solidFill>
                  </a:tcPr>
                </a:tc>
                <a:tc>
                  <a:txBody>
                    <a:bodyPr/>
                    <a:lstStyle/>
                    <a:p>
                      <a:pPr>
                        <a:defRPr sz="1700" b="0">
                          <a:solidFill>
                            <a:srgbClr val="172C42"/>
                          </a:solidFill>
                          <a:latin typeface="Aptos"/>
                        </a:defRPr>
                      </a:pPr>
                      <a:r>
                        <a:t>Only sharing patterns were measured; a cache-off control is missing.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Why not name the bottleneck?</a:t>
                      </a:r>
                    </a:p>
                  </a:txBody>
                  <a:tcPr marL="146304" marR="109728" marT="45720" marB="45720" anchor="ctr">
                    <a:solidFill>
                      <a:srgbClr val="EAF0F4"/>
                    </a:solidFill>
                  </a:tcPr>
                </a:tc>
                <a:tc>
                  <a:txBody>
                    <a:bodyPr/>
                    <a:lstStyle/>
                    <a:p>
                      <a:pPr>
                        <a:defRPr sz="1700" b="0">
                          <a:solidFill>
                            <a:srgbClr val="172C42"/>
                          </a:solidFill>
                          <a:latin typeface="Aptos"/>
                        </a:defRPr>
                      </a:pPr>
                      <a:r>
                        <a:t>Request metrics do not isolate operators; capture phase-specific traces.</a:t>
                      </a:r>
                    </a:p>
                  </a:txBody>
                  <a:tcPr marL="146304" marR="109728" marT="45720" marB="45720" anchor="ctr">
                    <a:solidFill>
                      <a:srgbClr val="EAF0F4"/>
                    </a:solidFill>
                  </a:tcPr>
                </a:tc>
              </a:tr>
              <a:tr h="539496">
                <a:tc>
                  <a:txBody>
                    <a:bodyPr/>
                    <a:lstStyle/>
                    <a:p>
                      <a:pPr>
                        <a:defRPr sz="1700" b="0">
                          <a:solidFill>
                            <a:srgbClr val="172C42"/>
                          </a:solidFill>
                          <a:latin typeface="Aptos"/>
                        </a:defRPr>
                      </a:pPr>
                      <a:r>
                        <a:t>What could change the ranking?</a:t>
                      </a:r>
                    </a:p>
                  </a:txBody>
                  <a:tcPr marL="146304" marR="109728" marT="45720" marB="45720" anchor="ctr">
                    <a:solidFill>
                      <a:srgbClr val="FFFFFF"/>
                    </a:solidFill>
                  </a:tcPr>
                </a:tc>
                <a:tc>
                  <a:txBody>
                    <a:bodyPr/>
                    <a:lstStyle/>
                    <a:p>
                      <a:pPr>
                        <a:defRPr sz="1700" b="0">
                          <a:solidFill>
                            <a:srgbClr val="172C42"/>
                          </a:solidFill>
                          <a:latin typeface="Aptos"/>
                        </a:defRPr>
                      </a:pPr>
                      <a:r>
                        <a:t>Matched startup/pools, repeats, different workloads and quality.</a:t>
                      </a:r>
                    </a:p>
                  </a:txBody>
                  <a:tcPr marL="146304" marR="109728" marT="45720" marB="45720"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BUGS 2–3</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Read the earliest cause, not the loudest CUDA symptom</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Logs support the failure chain; they do not establish every internal kernel-handle transition.</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fix_bug.md Bugs 2–3; GLM cu130 run6_eager and run7_trtllmfix logs</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B7</a:t>
            </a:r>
          </a:p>
        </p:txBody>
      </p:sp>
      <p:sp>
        <p:nvSpPr>
          <p:cNvPr id="9" name="Rounded Rectangle 8"/>
          <p:cNvSpPr/>
          <p:nvPr/>
        </p:nvSpPr>
        <p:spPr>
          <a:xfrm>
            <a:off x="548640"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23160"/>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SYMPTOM</a:t>
            </a:r>
          </a:p>
        </p:txBody>
      </p:sp>
      <p:sp>
        <p:nvSpPr>
          <p:cNvPr id="12" name="TextBox 11"/>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CUDA invalid argument</a:t>
            </a:r>
          </a:p>
        </p:txBody>
      </p:sp>
      <p:sp>
        <p:nvSpPr>
          <p:cNvPr id="13" name="TextBox 12"/>
          <p:cNvSpPr txBox="1"/>
          <p:nvPr/>
        </p:nvSpPr>
        <p:spPr>
          <a:xfrm>
            <a:off x="731520"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Eager execution did not resolve startup; inspect shared dependencies.</a:t>
            </a:r>
          </a:p>
        </p:txBody>
      </p:sp>
      <p:sp>
        <p:nvSpPr>
          <p:cNvPr id="14" name="Rounded Rectangle 13"/>
          <p:cNvSpPr/>
          <p:nvPr/>
        </p:nvSpPr>
        <p:spPr>
          <a:xfrm>
            <a:off x="4315968"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23160"/>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EARLIER EVIDENCE</a:t>
            </a:r>
          </a:p>
        </p:txBody>
      </p:sp>
      <p:sp>
        <p:nvSpPr>
          <p:cNvPr id="17" name="TextBox 16"/>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Cache write fails</a:t>
            </a:r>
          </a:p>
        </p:txBody>
      </p:sp>
      <p:sp>
        <p:nvSpPr>
          <p:cNvPr id="18" name="TextBox 17"/>
          <p:cNvSpPr txBox="1"/>
          <p:nvPr/>
        </p:nvSpPr>
        <p:spPr>
          <a:xfrm>
            <a:off x="4498848"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TensorRT/DeepGEMM preparation hits a separate filesystem path.</a:t>
            </a:r>
          </a:p>
        </p:txBody>
      </p:sp>
      <p:sp>
        <p:nvSpPr>
          <p:cNvPr id="19" name="Rounded Rectangle 18"/>
          <p:cNvSpPr/>
          <p:nvPr/>
        </p:nvSpPr>
        <p:spPr>
          <a:xfrm>
            <a:off x="8083296"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23160"/>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RESOLUTION</a:t>
            </a:r>
          </a:p>
        </p:txBody>
      </p:sp>
      <p:sp>
        <p:nvSpPr>
          <p:cNvPr id="22" name="TextBox 21"/>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Redirect the caches</a:t>
            </a:r>
          </a:p>
        </p:txBody>
      </p:sp>
      <p:sp>
        <p:nvSpPr>
          <p:cNvPr id="23" name="TextBox 22"/>
          <p:cNvSpPr txBox="1"/>
          <p:nvPr/>
        </p:nvSpPr>
        <p:spPr>
          <a:xfrm>
            <a:off x="8266175"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Redirect backend-specific caches and add write preflight; graph-enabled startup succeeds.</a:t>
            </a:r>
          </a:p>
        </p:txBody>
      </p:sp>
      <p:sp>
        <p:nvSpPr>
          <p:cNvPr id="24" name="Rounded Rectangle 2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 failed intervention narrows the cause; eager execution can still use the same compiler cache.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 8</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Separate the backend change from the dtype change</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Failed layout required 64 positional dimensions; GLM NoPE has zero. Alternate execution does not validate numerical parity.</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c64 JSONs — bf16kv, bf16kv-fi618, fp8kv-fi618; fix_bug.md Bug 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B8</a:t>
            </a:r>
          </a:p>
        </p:txBody>
      </p:sp>
      <p:sp>
        <p:nvSpPr>
          <p:cNvPr id="9" name="TextBox 8"/>
          <p:cNvSpPr txBox="1"/>
          <p:nvPr/>
        </p:nvSpPr>
        <p:spPr>
          <a:xfrm>
            <a:off x="640080" y="2231136"/>
            <a:ext cx="713232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 · concurrency 64</a:t>
            </a:r>
          </a:p>
        </p:txBody>
      </p:sp>
      <p:graphicFrame>
        <p:nvGraphicFramePr>
          <p:cNvPr id="10" name="Chart 9"/>
          <p:cNvGraphicFramePr>
            <a:graphicFrameLocks noGrp="1"/>
          </p:cNvGraphicFramePr>
          <p:nvPr/>
        </p:nvGraphicFramePr>
        <p:xfrm>
          <a:off x="548640" y="2706624"/>
          <a:ext cx="7772400" cy="2450592"/>
        </p:xfrm>
        <a:graphic>
          <a:graphicData uri="http://schemas.openxmlformats.org/drawingml/2006/chart">
            <c:chart xmlns:c="http://schemas.openxmlformats.org/drawingml/2006/chart" r:id="rId3"/>
          </a:graphicData>
        </a:graphic>
      </p:graphicFrame>
      <p:sp>
        <p:nvSpPr>
          <p:cNvPr id="11" name="Rounded Rectangle 10"/>
          <p:cNvSpPr/>
          <p:nvPr/>
        </p:nvSpPr>
        <p:spPr>
          <a:xfrm>
            <a:off x="8549640" y="2331720"/>
            <a:ext cx="3017520"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567928" y="2468879"/>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32519" y="2496312"/>
            <a:ext cx="2651760"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PAIRED COMPARISONS</a:t>
            </a:r>
          </a:p>
        </p:txBody>
      </p:sp>
      <p:sp>
        <p:nvSpPr>
          <p:cNvPr id="14" name="TextBox 13"/>
          <p:cNvSpPr txBox="1"/>
          <p:nvPr/>
        </p:nvSpPr>
        <p:spPr>
          <a:xfrm>
            <a:off x="8732519" y="2953512"/>
            <a:ext cx="2651760"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−22% then −25%</a:t>
            </a:r>
          </a:p>
        </p:txBody>
      </p:sp>
      <p:sp>
        <p:nvSpPr>
          <p:cNvPr id="15" name="TextBox 14"/>
          <p:cNvSpPr txBox="1"/>
          <p:nvPr/>
        </p:nvSpPr>
        <p:spPr>
          <a:xfrm>
            <a:off x="8732519" y="3749039"/>
            <a:ext cx="2651760"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Combined: −41%, not −47%.</a:t>
            </a:r>
          </a:p>
          <a:p>
            <a:pPr>
              <a:spcAft>
                <a:spcPts val="500"/>
              </a:spcAft>
              <a:defRPr sz="1600" b="0">
                <a:solidFill>
                  <a:srgbClr val="586A7C"/>
                </a:solidFill>
                <a:latin typeface="Aptos"/>
              </a:defRPr>
            </a:pPr>
          </a:p>
          <a:p>
            <a:pPr>
              <a:spcAft>
                <a:spcPts val="500"/>
              </a:spcAft>
              <a:defRPr sz="1600" b="0">
                <a:solidFill>
                  <a:srgbClr val="586A7C"/>
                </a:solidFill>
                <a:latin typeface="Aptos"/>
              </a:defRPr>
            </a:pPr>
            <a:r>
              <a:t>0.780 × 0.751 ≈ 0.586</a:t>
            </a:r>
          </a:p>
          <a:p>
            <a:pPr>
              <a:spcAft>
                <a:spcPts val="500"/>
              </a:spcAft>
              <a:defRPr sz="1600" b="0">
                <a:solidFill>
                  <a:srgbClr val="586A7C"/>
                </a:solidFill>
                <a:latin typeface="Aptos"/>
              </a:defRPr>
            </a:pPr>
            <a:r>
              <a:t>of original throughput</a:t>
            </a:r>
          </a:p>
        </p:txBody>
      </p:sp>
      <p:sp>
        <p:nvSpPr>
          <p:cNvPr id="16" name="Rounded Rectangle 1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Geometry, layout, kernels and versions determine whether a dtype has a working execution path.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DeepSeek, GLM and Qwen: architecture and serving comparison</dc:title>
  <dc:subject/>
  <dc:creator>Tan Ngo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